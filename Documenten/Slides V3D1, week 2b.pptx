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6"/>
  </p:notesMasterIdLst>
  <p:sldIdLst>
    <p:sldId id="256" r:id="rId5"/>
    <p:sldId id="332" r:id="rId6"/>
    <p:sldId id="333" r:id="rId7"/>
    <p:sldId id="334" r:id="rId8"/>
    <p:sldId id="360" r:id="rId9"/>
    <p:sldId id="335" r:id="rId10"/>
    <p:sldId id="361" r:id="rId11"/>
    <p:sldId id="362" r:id="rId12"/>
    <p:sldId id="346" r:id="rId13"/>
    <p:sldId id="345" r:id="rId14"/>
    <p:sldId id="349" r:id="rId15"/>
    <p:sldId id="354" r:id="rId16"/>
    <p:sldId id="358" r:id="rId17"/>
    <p:sldId id="353" r:id="rId18"/>
    <p:sldId id="359" r:id="rId19"/>
    <p:sldId id="336" r:id="rId20"/>
    <p:sldId id="351" r:id="rId21"/>
    <p:sldId id="337" r:id="rId22"/>
    <p:sldId id="350" r:id="rId23"/>
    <p:sldId id="338" r:id="rId24"/>
    <p:sldId id="340" r:id="rId25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 autoAdjust="0"/>
    <p:restoredTop sz="66359" autoAdjust="0"/>
  </p:normalViewPr>
  <p:slideViewPr>
    <p:cSldViewPr>
      <p:cViewPr varScale="1">
        <p:scale>
          <a:sx n="112" d="100"/>
          <a:sy n="112" d="100"/>
        </p:scale>
        <p:origin x="12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0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8-9-2016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47D1BA6-4911-4D21-8A8A-D049947BDEE5}" type="datetime1">
              <a:rPr lang="nl-NL" smtClean="0"/>
              <a:t>8-9-2016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F47C-A15E-4E67-ADFB-9D8440CD4D5A}" type="datetime1">
              <a:rPr lang="nl-NL" smtClean="0"/>
              <a:t>8-9-2016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80FB-A740-44BE-9C85-6BF6B55EEC31}" type="datetime1">
              <a:rPr lang="nl-NL" smtClean="0"/>
              <a:t>8-9-2016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E292474-E6E9-4629-882B-ED30518F0E8F}" type="datetime1">
              <a:rPr lang="nl-NL" smtClean="0"/>
              <a:t>8-9-2016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2DAD537-AD64-400C-91DC-195CDE28DC41}" type="datetime1">
              <a:rPr lang="nl-NL" smtClean="0"/>
              <a:t>8-9-2016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7A9-DC7A-4165-A8A6-E1CF078ACCA0}" type="datetime1">
              <a:rPr lang="nl-NL" smtClean="0"/>
              <a:t>8-9-2016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0717-F8EA-44E2-AE72-41FB2BB1D446}" type="datetime1">
              <a:rPr lang="nl-NL" smtClean="0"/>
              <a:t>8-9-2016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F223-B842-450F-9A74-6C0FB4F8082F}" type="datetime1">
              <a:rPr lang="nl-NL" smtClean="0"/>
              <a:t>8-9-2016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9CD317E-DF94-4B7F-A9D5-6F34C108AA9D}" type="datetime1">
              <a:rPr lang="nl-NL" smtClean="0"/>
              <a:t>8-9-2016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9FA5-7E47-4C7A-9DB6-39F72C07352F}" type="datetime1">
              <a:rPr lang="nl-NL" smtClean="0"/>
              <a:t>8-9-2016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442DEBE-2A51-4598-93F2-CCE23073CB84}" type="datetime1">
              <a:rPr lang="nl-NL" smtClean="0"/>
              <a:t>8-9-2016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7810130-DBB6-4179-85A8-B40CF45D4910}" type="datetime1">
              <a:rPr lang="nl-NL" smtClean="0"/>
              <a:t>8-9-2016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dirty="0" smtClean="0"/>
              <a:t>WEEK 2b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dirty="0" smtClean="0"/>
              <a:t>Textures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37" name="Rectangle 13" descr="Large confetti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pattFill prst="lgConfetti">
                  <a:fgClr>
                    <a:schemeClr val="accent1"/>
                  </a:fgClr>
                  <a:bgClr>
                    <a:schemeClr val="folHlink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dirty="0" smtClean="0"/>
              <a:t>Textures</a:t>
            </a:r>
            <a:endParaRPr lang="en-US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330578E-24B0-4122-8030-05CDC530B880}" type="slidenum">
              <a:rPr lang="nl-NL"/>
              <a:pPr/>
              <a:t>2</a:t>
            </a:fld>
            <a:endParaRPr lang="nl-NL" dirty="0"/>
          </a:p>
        </p:txBody>
      </p:sp>
      <p:sp>
        <p:nvSpPr>
          <p:cNvPr id="205826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Texture is a picture that is mapped on an object</a:t>
            </a:r>
          </a:p>
          <a:p>
            <a:r>
              <a:rPr lang="en-US" dirty="0" smtClean="0"/>
              <a:t>Texture pixels are called </a:t>
            </a:r>
            <a:r>
              <a:rPr lang="en-US" dirty="0" err="1" smtClean="0"/>
              <a:t>texels</a:t>
            </a:r>
            <a:endParaRPr lang="en-US" dirty="0" smtClean="0"/>
          </a:p>
          <a:p>
            <a:r>
              <a:rPr lang="en-US" dirty="0"/>
              <a:t>Width and height in </a:t>
            </a:r>
            <a:r>
              <a:rPr lang="en-US" dirty="0" err="1" smtClean="0"/>
              <a:t>texels</a:t>
            </a:r>
            <a:r>
              <a:rPr lang="en-US" dirty="0" smtClean="0"/>
              <a:t> </a:t>
            </a:r>
            <a:r>
              <a:rPr lang="en-US" dirty="0"/>
              <a:t>have to be power of 2 </a:t>
            </a:r>
          </a:p>
          <a:p>
            <a:r>
              <a:rPr lang="en-US" dirty="0" smtClean="0"/>
              <a:t>Textures have (</a:t>
            </a:r>
            <a:r>
              <a:rPr lang="en-US" dirty="0" err="1" smtClean="0"/>
              <a:t>u,v</a:t>
            </a:r>
            <a:r>
              <a:rPr lang="en-US" dirty="0" smtClean="0"/>
              <a:t>) </a:t>
            </a:r>
            <a:r>
              <a:rPr lang="en-US" dirty="0"/>
              <a:t>coordinates that run from 0 to 1 both </a:t>
            </a:r>
            <a:r>
              <a:rPr lang="en-US" dirty="0" smtClean="0"/>
              <a:t>horizontally </a:t>
            </a:r>
            <a:r>
              <a:rPr lang="en-US" dirty="0"/>
              <a:t>and </a:t>
            </a:r>
            <a:r>
              <a:rPr lang="en-US" dirty="0" smtClean="0"/>
              <a:t>vertically</a:t>
            </a:r>
          </a:p>
          <a:p>
            <a:pPr lvl="1"/>
            <a:r>
              <a:rPr lang="en-US" dirty="0" smtClean="0"/>
              <a:t>Also for non-square textures</a:t>
            </a:r>
            <a:endParaRPr lang="en-US" dirty="0"/>
          </a:p>
        </p:txBody>
      </p:sp>
      <p:grpSp>
        <p:nvGrpSpPr>
          <p:cNvPr id="3" name="Groep 2"/>
          <p:cNvGrpSpPr/>
          <p:nvPr/>
        </p:nvGrpSpPr>
        <p:grpSpPr>
          <a:xfrm>
            <a:off x="107061" y="4633456"/>
            <a:ext cx="5334000" cy="2133600"/>
            <a:chOff x="107061" y="4633456"/>
            <a:chExt cx="5334000" cy="2133600"/>
          </a:xfrm>
        </p:grpSpPr>
        <p:sp>
          <p:nvSpPr>
            <p:cNvPr id="205834" name="Text Box 10"/>
            <p:cNvSpPr txBox="1">
              <a:spLocks noChangeArrowheads="1"/>
            </p:cNvSpPr>
            <p:nvPr/>
          </p:nvSpPr>
          <p:spPr bwMode="auto">
            <a:xfrm>
              <a:off x="4183761" y="6204280"/>
              <a:ext cx="228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dirty="0"/>
                <a:t>1</a:t>
              </a:r>
            </a:p>
          </p:txBody>
        </p:sp>
        <p:pic>
          <p:nvPicPr>
            <p:cNvPr id="205827" name="Picture 3" descr="cloud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861" y="5319256"/>
              <a:ext cx="3771900" cy="137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828" name="Line 4"/>
            <p:cNvSpPr>
              <a:spLocks noChangeShapeType="1"/>
            </p:cNvSpPr>
            <p:nvPr/>
          </p:nvSpPr>
          <p:spPr bwMode="auto">
            <a:xfrm>
              <a:off x="411861" y="6690856"/>
              <a:ext cx="4800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29" name="Line 5"/>
            <p:cNvSpPr>
              <a:spLocks noChangeShapeType="1"/>
            </p:cNvSpPr>
            <p:nvPr/>
          </p:nvSpPr>
          <p:spPr bwMode="auto">
            <a:xfrm flipV="1">
              <a:off x="411861" y="5014456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30" name="Text Box 6"/>
            <p:cNvSpPr txBox="1">
              <a:spLocks noChangeArrowheads="1"/>
            </p:cNvSpPr>
            <p:nvPr/>
          </p:nvSpPr>
          <p:spPr bwMode="auto">
            <a:xfrm flipH="1">
              <a:off x="5212461" y="6386056"/>
              <a:ext cx="2286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dirty="0"/>
                <a:t>u</a:t>
              </a:r>
            </a:p>
          </p:txBody>
        </p:sp>
        <p:sp>
          <p:nvSpPr>
            <p:cNvPr id="205831" name="Text Box 7"/>
            <p:cNvSpPr txBox="1">
              <a:spLocks noChangeArrowheads="1"/>
            </p:cNvSpPr>
            <p:nvPr/>
          </p:nvSpPr>
          <p:spPr bwMode="auto">
            <a:xfrm>
              <a:off x="335661" y="4633456"/>
              <a:ext cx="2286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dirty="0" smtClean="0"/>
                <a:t>v</a:t>
              </a:r>
              <a:endParaRPr lang="en-GB" dirty="0"/>
            </a:p>
          </p:txBody>
        </p:sp>
        <p:sp>
          <p:nvSpPr>
            <p:cNvPr id="205832" name="Line 8"/>
            <p:cNvSpPr>
              <a:spLocks noChangeShapeType="1"/>
            </p:cNvSpPr>
            <p:nvPr/>
          </p:nvSpPr>
          <p:spPr bwMode="auto">
            <a:xfrm>
              <a:off x="4145661" y="6614656"/>
              <a:ext cx="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33" name="Line 9"/>
            <p:cNvSpPr>
              <a:spLocks noChangeShapeType="1"/>
            </p:cNvSpPr>
            <p:nvPr/>
          </p:nvSpPr>
          <p:spPr bwMode="auto">
            <a:xfrm>
              <a:off x="335661" y="5319256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35" name="Text Box 11"/>
            <p:cNvSpPr txBox="1">
              <a:spLocks noChangeArrowheads="1"/>
            </p:cNvSpPr>
            <p:nvPr/>
          </p:nvSpPr>
          <p:spPr bwMode="auto">
            <a:xfrm>
              <a:off x="107061" y="5090656"/>
              <a:ext cx="228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/>
                <a:t>1</a:t>
              </a:r>
            </a:p>
          </p:txBody>
        </p:sp>
        <p:sp>
          <p:nvSpPr>
            <p:cNvPr id="205836" name="Text Box 12"/>
            <p:cNvSpPr txBox="1">
              <a:spLocks noChangeArrowheads="1"/>
            </p:cNvSpPr>
            <p:nvPr/>
          </p:nvSpPr>
          <p:spPr bwMode="auto">
            <a:xfrm>
              <a:off x="424105" y="6321524"/>
              <a:ext cx="62713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 dirty="0"/>
                <a:t>(0,0)</a:t>
              </a:r>
            </a:p>
          </p:txBody>
        </p:sp>
      </p:grpSp>
      <p:pic>
        <p:nvPicPr>
          <p:cNvPr id="9220" name="Picture 4" descr="fig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576" y="4162424"/>
            <a:ext cx="25908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 descr="Large confetti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pattFill prst="lgConfetti">
                  <a:fgClr>
                    <a:schemeClr val="accent1"/>
                  </a:fgClr>
                  <a:bgClr>
                    <a:schemeClr val="folHlink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mtClean="0"/>
              <a:t>Texture mapping (1)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465CBCF-819A-48FF-AF94-13997D67B36D}" type="slidenum">
              <a:rPr lang="nl-NL"/>
              <a:pPr/>
              <a:t>3</a:t>
            </a:fld>
            <a:endParaRPr lang="nl-NL"/>
          </a:p>
        </p:txBody>
      </p:sp>
      <p:sp>
        <p:nvSpPr>
          <p:cNvPr id="206850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Objects are made of polygons</a:t>
            </a:r>
          </a:p>
          <a:p>
            <a:r>
              <a:rPr lang="en-US" dirty="0" smtClean="0"/>
              <a:t>For every polygon vertex, (</a:t>
            </a:r>
            <a:r>
              <a:rPr lang="en-US" dirty="0" err="1" smtClean="0"/>
              <a:t>s,t</a:t>
            </a:r>
            <a:r>
              <a:rPr lang="en-US" dirty="0" smtClean="0"/>
              <a:t>) coordinates are defined, which relate to the (</a:t>
            </a:r>
            <a:r>
              <a:rPr lang="en-US" dirty="0" err="1" smtClean="0"/>
              <a:t>u,v</a:t>
            </a:r>
            <a:r>
              <a:rPr lang="en-US" dirty="0" smtClean="0"/>
              <a:t>) coordinates of the texture</a:t>
            </a:r>
          </a:p>
          <a:p>
            <a:pPr lvl="1"/>
            <a:r>
              <a:rPr lang="en-US" dirty="0" smtClean="0"/>
              <a:t>Mostly no difference is made between (</a:t>
            </a:r>
            <a:r>
              <a:rPr lang="en-US" dirty="0" err="1" smtClean="0"/>
              <a:t>s,t</a:t>
            </a:r>
            <a:r>
              <a:rPr lang="en-US" dirty="0" smtClean="0"/>
              <a:t>) and (</a:t>
            </a:r>
            <a:r>
              <a:rPr lang="en-US" dirty="0" err="1" smtClean="0"/>
              <a:t>u,v</a:t>
            </a:r>
            <a:r>
              <a:rPr lang="en-US" dirty="0" smtClean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43" y="4019550"/>
            <a:ext cx="78676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44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mapping (2)</a:t>
            </a:r>
            <a:endParaRPr lang="en-US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9A2F07F-A097-4A4F-A4E5-ECC69F537A40}" type="slidenum">
              <a:rPr lang="nl-NL"/>
              <a:pPr/>
              <a:t>4</a:t>
            </a:fld>
            <a:endParaRPr lang="nl-NL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/>
          <a:lstStyle/>
          <a:p>
            <a:r>
              <a:rPr lang="en-US" dirty="0" smtClean="0"/>
              <a:t>Example: </a:t>
            </a:r>
          </a:p>
          <a:p>
            <a:pPr lvl="1"/>
            <a:r>
              <a:rPr lang="en-US" dirty="0" smtClean="0"/>
              <a:t>Suppose a model, divided in 10 quads all around</a:t>
            </a:r>
          </a:p>
          <a:p>
            <a:pPr lvl="1"/>
            <a:r>
              <a:rPr lang="en-US" dirty="0" smtClean="0"/>
              <a:t>On every quad, a 0.1 by 0.1 piece of the texture is mapped</a:t>
            </a:r>
          </a:p>
          <a:p>
            <a:endParaRPr lang="en-US" dirty="0"/>
          </a:p>
        </p:txBody>
      </p:sp>
      <p:grpSp>
        <p:nvGrpSpPr>
          <p:cNvPr id="207875" name="Group 3"/>
          <p:cNvGrpSpPr>
            <a:grpSpLocks/>
          </p:cNvGrpSpPr>
          <p:nvPr/>
        </p:nvGrpSpPr>
        <p:grpSpPr bwMode="auto">
          <a:xfrm>
            <a:off x="795504" y="3276600"/>
            <a:ext cx="7929563" cy="3581400"/>
            <a:chOff x="96" y="1466"/>
            <a:chExt cx="5376" cy="2256"/>
          </a:xfrm>
        </p:grpSpPr>
        <p:pic>
          <p:nvPicPr>
            <p:cNvPr id="207876" name="Picture 4" descr="cloud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" y="1640"/>
              <a:ext cx="4895" cy="1813"/>
            </a:xfrm>
            <a:prstGeom prst="rect">
              <a:avLst/>
            </a:prstGeom>
          </p:spPr>
        </p:pic>
        <p:sp>
          <p:nvSpPr>
            <p:cNvPr id="207877" name="Line 5"/>
            <p:cNvSpPr>
              <a:spLocks noChangeShapeType="1"/>
            </p:cNvSpPr>
            <p:nvPr/>
          </p:nvSpPr>
          <p:spPr bwMode="auto">
            <a:xfrm>
              <a:off x="2976" y="1466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878" name="Line 6"/>
            <p:cNvSpPr>
              <a:spLocks noChangeShapeType="1"/>
            </p:cNvSpPr>
            <p:nvPr/>
          </p:nvSpPr>
          <p:spPr bwMode="auto">
            <a:xfrm flipV="1">
              <a:off x="432" y="2426"/>
              <a:ext cx="50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879" name="Line 7"/>
            <p:cNvSpPr>
              <a:spLocks noChangeShapeType="1"/>
            </p:cNvSpPr>
            <p:nvPr/>
          </p:nvSpPr>
          <p:spPr bwMode="auto">
            <a:xfrm flipV="1">
              <a:off x="432" y="2330"/>
              <a:ext cx="50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880" name="Line 8"/>
            <p:cNvSpPr>
              <a:spLocks noChangeShapeType="1"/>
            </p:cNvSpPr>
            <p:nvPr/>
          </p:nvSpPr>
          <p:spPr bwMode="auto">
            <a:xfrm>
              <a:off x="3312" y="1466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881" name="Text Box 9"/>
            <p:cNvSpPr txBox="1">
              <a:spLocks noChangeArrowheads="1"/>
            </p:cNvSpPr>
            <p:nvPr/>
          </p:nvSpPr>
          <p:spPr bwMode="auto">
            <a:xfrm>
              <a:off x="2592" y="343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/>
                <a:t>0.5</a:t>
              </a:r>
            </a:p>
          </p:txBody>
        </p:sp>
        <p:sp>
          <p:nvSpPr>
            <p:cNvPr id="207882" name="Text Box 10"/>
            <p:cNvSpPr txBox="1">
              <a:spLocks noChangeArrowheads="1"/>
            </p:cNvSpPr>
            <p:nvPr/>
          </p:nvSpPr>
          <p:spPr bwMode="auto">
            <a:xfrm>
              <a:off x="3216" y="343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/>
                <a:t>0.6</a:t>
              </a:r>
            </a:p>
          </p:txBody>
        </p:sp>
        <p:sp>
          <p:nvSpPr>
            <p:cNvPr id="207883" name="Text Box 11"/>
            <p:cNvSpPr txBox="1">
              <a:spLocks noChangeArrowheads="1"/>
            </p:cNvSpPr>
            <p:nvPr/>
          </p:nvSpPr>
          <p:spPr bwMode="auto">
            <a:xfrm>
              <a:off x="96" y="209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/>
                <a:t>0.6</a:t>
              </a:r>
            </a:p>
          </p:txBody>
        </p:sp>
        <p:sp>
          <p:nvSpPr>
            <p:cNvPr id="207884" name="Text Box 12"/>
            <p:cNvSpPr txBox="1">
              <a:spLocks noChangeArrowheads="1"/>
            </p:cNvSpPr>
            <p:nvPr/>
          </p:nvSpPr>
          <p:spPr bwMode="auto">
            <a:xfrm>
              <a:off x="96" y="237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GB"/>
                <a:t>0.5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7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116632"/>
            <a:ext cx="8279832" cy="1102568"/>
          </a:xfrm>
        </p:spPr>
        <p:txBody>
          <a:bodyPr>
            <a:noAutofit/>
          </a:bodyPr>
          <a:lstStyle/>
          <a:p>
            <a:r>
              <a:rPr lang="nl-NL" dirty="0" err="1" smtClean="0"/>
              <a:t>Defining</a:t>
            </a:r>
            <a:r>
              <a:rPr lang="nl-NL" dirty="0" smtClean="0"/>
              <a:t> </a:t>
            </a:r>
            <a:r>
              <a:rPr lang="nl-NL" dirty="0" err="1" smtClean="0"/>
              <a:t>texture</a:t>
            </a:r>
            <a:r>
              <a:rPr lang="nl-NL" dirty="0" smtClean="0"/>
              <a:t> </a:t>
            </a:r>
            <a:r>
              <a:rPr lang="nl-NL" dirty="0" err="1" smtClean="0"/>
              <a:t>coordinates</a:t>
            </a:r>
            <a:r>
              <a:rPr lang="nl-NL" dirty="0" smtClean="0"/>
              <a:t> in </a:t>
            </a:r>
            <a:r>
              <a:rPr lang="nl-NL" dirty="0" err="1" smtClean="0"/>
              <a:t>Vizard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5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</a:t>
            </a:r>
            <a:r>
              <a:rPr lang="nl-NL" sz="2200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startLayer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viz.QUADS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viz.texCoord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0.0,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viz.texCoord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(1.0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(10.0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0.0,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viz.texCoord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(1.0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1.0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(10.0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10.0,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viz.texCoord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1.0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(0.0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, 10.0, 0.0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quad =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viz.endLayer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();</a:t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pic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viz.addTexture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'a.jpg</a:t>
            </a:r>
            <a:r>
              <a:rPr lang="nl-NL" sz="2200" dirty="0">
                <a:latin typeface="Courier New" pitchFamily="49" charset="0"/>
                <a:cs typeface="Courier New" pitchFamily="49" charset="0"/>
              </a:rPr>
              <a:t>')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nl-NL" sz="2200" dirty="0" smtClean="0">
                <a:latin typeface="Courier New" pitchFamily="49" charset="0"/>
                <a:cs typeface="Courier New" pitchFamily="49" charset="0"/>
              </a:rPr>
            </a:b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quad.texture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200" dirty="0" err="1" smtClean="0">
                <a:latin typeface="Courier New" pitchFamily="49" charset="0"/>
                <a:cs typeface="Courier New" pitchFamily="49" charset="0"/>
              </a:rPr>
              <a:t>pic</a:t>
            </a:r>
            <a:r>
              <a:rPr lang="nl-NL" sz="2200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nl-NL" sz="22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30" name="Picture 6" descr="http://www.gamedev.net/index.php?app=core&amp;module=attach&amp;section=attach&amp;attach_rel_module=ccs&amp;attach_id=29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326" y="3979524"/>
            <a:ext cx="2857500" cy="28575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18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mapping on a sphere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EFB1D08-01C3-44B4-925A-0199B663E9CF}" type="slidenum">
              <a:rPr lang="nl-NL"/>
              <a:pPr/>
              <a:t>6</a:t>
            </a:fld>
            <a:endParaRPr lang="nl-NL" dirty="0"/>
          </a:p>
        </p:txBody>
      </p:sp>
      <p:pic>
        <p:nvPicPr>
          <p:cNvPr id="2050" name="Picture 2" descr="http://upload.wikimedia.org/wikipedia/commons/0/04/UVMapp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" y="1844824"/>
            <a:ext cx="9135600" cy="479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64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wrapping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7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What to do if the (</a:t>
            </a:r>
            <a:r>
              <a:rPr lang="en-US" dirty="0" err="1" smtClean="0"/>
              <a:t>s,t</a:t>
            </a:r>
            <a:r>
              <a:rPr lang="en-US" dirty="0" smtClean="0"/>
              <a:t>) coordinates on the model are outside of the range [0..1]?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viz.WRAP_S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viz.WRAP_T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Texture can be repeated, clamped or mirrored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Use like: 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texture.wrap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viz.WRAP_S,viz.REPEAT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 descr="http://glprogramming.com/red/images/Image11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974548"/>
            <a:ext cx="3038475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glprogramming.com/red/images/Image11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939844"/>
            <a:ext cx="2943225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Rechte verbindingslijn met pijl 5"/>
          <p:cNvCxnSpPr/>
          <p:nvPr/>
        </p:nvCxnSpPr>
        <p:spPr>
          <a:xfrm flipH="1">
            <a:off x="2555776" y="3933056"/>
            <a:ext cx="136815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/>
          <p:cNvCxnSpPr/>
          <p:nvPr/>
        </p:nvCxnSpPr>
        <p:spPr>
          <a:xfrm>
            <a:off x="5796136" y="3933056"/>
            <a:ext cx="144016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46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Matrix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8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A texture can be transformed with the Texture Matrix</a:t>
            </a:r>
          </a:p>
          <a:p>
            <a:pPr lvl="1"/>
            <a:r>
              <a:rPr lang="en-US" dirty="0" smtClean="0"/>
              <a:t>scaling, translation, rotation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s,t</a:t>
            </a:r>
            <a:r>
              <a:rPr lang="en-US" dirty="0" smtClean="0"/>
              <a:t>) coordinates (on the object) are multiplied with the texture matrix to get (</a:t>
            </a:r>
            <a:r>
              <a:rPr lang="en-US" dirty="0" err="1" smtClean="0"/>
              <a:t>u,v</a:t>
            </a:r>
            <a:r>
              <a:rPr lang="en-US" dirty="0" smtClean="0"/>
              <a:t>) coordinates (in the texture)</a:t>
            </a:r>
          </a:p>
          <a:p>
            <a:r>
              <a:rPr lang="en-US" dirty="0" smtClean="0"/>
              <a:t>Examples:</a:t>
            </a:r>
          </a:p>
          <a:p>
            <a:pPr marL="0" indent="0">
              <a:buNone/>
            </a:pPr>
            <a:r>
              <a:rPr lang="en-US" dirty="0" smtClean="0"/>
              <a:t>   No transform       scale factor 2        rotation 45°</a:t>
            </a:r>
          </a:p>
        </p:txBody>
      </p:sp>
      <p:pic>
        <p:nvPicPr>
          <p:cNvPr id="13314" name="Picture 2" descr="http://www.itu.dk/~eseme03/books/java3D/java3d/images/cooltex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81128"/>
            <a:ext cx="2286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568438"/>
            <a:ext cx="2288680" cy="1716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 descr="http://www.itu.dk/~eseme03/books/java3D/java3d/images/rottex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581128"/>
            <a:ext cx="2286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52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distortion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9</a:t>
            </a:fld>
            <a:endParaRPr lang="nl-NL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541124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A texture is distorted in 2 ways:</a:t>
            </a:r>
          </a:p>
          <a:p>
            <a:pPr lvl="1"/>
            <a:r>
              <a:rPr lang="en-US" dirty="0" smtClean="0"/>
              <a:t>Mapping distortion</a:t>
            </a:r>
          </a:p>
          <a:p>
            <a:pPr lvl="2"/>
            <a:r>
              <a:rPr lang="en-US" dirty="0" smtClean="0"/>
              <a:t>When a texture area is </a:t>
            </a:r>
            <a:br>
              <a:rPr lang="en-US" dirty="0" smtClean="0"/>
            </a:br>
            <a:r>
              <a:rPr lang="en-US" dirty="0" smtClean="0"/>
              <a:t>mapped on a polygon, it </a:t>
            </a:r>
            <a:br>
              <a:rPr lang="en-US" dirty="0" smtClean="0"/>
            </a:br>
            <a:r>
              <a:rPr lang="en-US" dirty="0" smtClean="0"/>
              <a:t>might be distorted to </a:t>
            </a:r>
            <a:br>
              <a:rPr lang="en-US" dirty="0" smtClean="0"/>
            </a:br>
            <a:r>
              <a:rPr lang="en-US" dirty="0" smtClean="0"/>
              <a:t>make it fit</a:t>
            </a:r>
          </a:p>
          <a:p>
            <a:pPr lvl="1"/>
            <a:r>
              <a:rPr lang="en-US" dirty="0" smtClean="0"/>
              <a:t>Perspective distortion</a:t>
            </a:r>
          </a:p>
          <a:p>
            <a:pPr lvl="2"/>
            <a:r>
              <a:rPr lang="en-US" dirty="0" smtClean="0"/>
              <a:t>When the polygon is </a:t>
            </a:r>
            <a:br>
              <a:rPr lang="en-US" dirty="0" smtClean="0"/>
            </a:br>
            <a:r>
              <a:rPr lang="en-US" dirty="0" smtClean="0"/>
              <a:t>shown on the screen, its </a:t>
            </a:r>
            <a:br>
              <a:rPr lang="en-US" dirty="0" smtClean="0"/>
            </a:br>
            <a:r>
              <a:rPr lang="en-US" dirty="0" smtClean="0"/>
              <a:t>texture is distorted </a:t>
            </a:r>
            <a:br>
              <a:rPr lang="en-US" dirty="0" smtClean="0"/>
            </a:br>
            <a:r>
              <a:rPr lang="en-US" dirty="0" smtClean="0"/>
              <a:t>because of the </a:t>
            </a:r>
            <a:br>
              <a:rPr lang="en-US" dirty="0" smtClean="0"/>
            </a:br>
            <a:r>
              <a:rPr lang="en-US" dirty="0" smtClean="0"/>
              <a:t>perspective mapping</a:t>
            </a:r>
            <a:endParaRPr lang="en-US" dirty="0"/>
          </a:p>
        </p:txBody>
      </p:sp>
      <p:pic>
        <p:nvPicPr>
          <p:cNvPr id="3074" name="Picture 2" descr="texfi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40948"/>
            <a:ext cx="4176464" cy="20039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509120"/>
            <a:ext cx="3365748" cy="216369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817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Mapping distortion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10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Texture coordinates are linearly interpolated between vertices (just like the colors we saw before)</a:t>
            </a:r>
            <a:endParaRPr lang="en-US" dirty="0"/>
          </a:p>
        </p:txBody>
      </p:sp>
      <p:pic>
        <p:nvPicPr>
          <p:cNvPr id="1028" name="Picture 4" descr="http://www.cs.berkeley.edu/~ug/slide/pipeline/assignments/as9/textur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14332"/>
            <a:ext cx="7128792" cy="419416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39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filtering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F11F53A-8C5D-4AA2-8C5C-39DAF104E1C1}" type="slidenum">
              <a:rPr lang="nl-NL"/>
              <a:pPr/>
              <a:t>11</a:t>
            </a:fld>
            <a:endParaRPr lang="nl-NL" dirty="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Texture pixels (</a:t>
            </a:r>
            <a:r>
              <a:rPr lang="en-US" dirty="0" err="1" smtClean="0"/>
              <a:t>texels</a:t>
            </a:r>
            <a:r>
              <a:rPr lang="en-US" dirty="0" smtClean="0"/>
              <a:t>) have to be mapped on screen pixels (fragments)</a:t>
            </a:r>
          </a:p>
          <a:p>
            <a:pPr lvl="1"/>
            <a:r>
              <a:rPr lang="en-US" dirty="0" smtClean="0"/>
              <a:t>Magnification </a:t>
            </a:r>
            <a:r>
              <a:rPr lang="en-US" dirty="0"/>
              <a:t>means that the area of the fragment in texture space is smaller than a </a:t>
            </a:r>
            <a:r>
              <a:rPr lang="en-US" dirty="0" err="1" smtClean="0"/>
              <a:t>texel</a:t>
            </a:r>
            <a:endParaRPr lang="en-US" dirty="0" smtClean="0"/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viz.MAG_FILTER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err="1" smtClean="0"/>
              <a:t>Minification</a:t>
            </a:r>
            <a:r>
              <a:rPr lang="en-US" dirty="0" smtClean="0"/>
              <a:t> </a:t>
            </a:r>
            <a:r>
              <a:rPr lang="en-US" dirty="0"/>
              <a:t>means that the area of the fragment in texture space is larger than a </a:t>
            </a:r>
            <a:r>
              <a:rPr lang="en-US" dirty="0" err="1"/>
              <a:t>texel</a:t>
            </a:r>
            <a:endParaRPr lang="en-US" dirty="0" smtClean="0"/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viz.MIN_FILTER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 descr="chap9-1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328" y="5028463"/>
            <a:ext cx="6048672" cy="182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Texture filtering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12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Minification</a:t>
            </a:r>
            <a:r>
              <a:rPr lang="en-US" dirty="0" smtClean="0"/>
              <a:t> and Magnification we can use:</a:t>
            </a:r>
          </a:p>
          <a:p>
            <a:pPr lvl="1"/>
            <a:r>
              <a:rPr lang="en-US" dirty="0" smtClean="0"/>
              <a:t>Nearest neighbor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viz.NEAREST</a:t>
            </a:r>
            <a:r>
              <a:rPr lang="en-US" dirty="0" smtClean="0"/>
              <a:t>): </a:t>
            </a:r>
          </a:p>
          <a:p>
            <a:pPr lvl="2"/>
            <a:r>
              <a:rPr lang="en-US" dirty="0" smtClean="0"/>
              <a:t>Uses the </a:t>
            </a:r>
            <a:r>
              <a:rPr lang="en-US" dirty="0" err="1" smtClean="0"/>
              <a:t>texel</a:t>
            </a:r>
            <a:r>
              <a:rPr lang="en-US" dirty="0" smtClean="0"/>
              <a:t> closest to the pixel center</a:t>
            </a:r>
          </a:p>
          <a:p>
            <a:pPr lvl="2"/>
            <a:r>
              <a:rPr lang="en-US" dirty="0" smtClean="0"/>
              <a:t>Suffers from a</a:t>
            </a:r>
            <a:r>
              <a:rPr lang="en-US" dirty="0" smtClean="0">
                <a:sym typeface="Wingdings" pitchFamily="2" charset="2"/>
              </a:rPr>
              <a:t>liasing and shimmering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Bilinear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viz.LINEAR</a:t>
            </a:r>
            <a:r>
              <a:rPr lang="en-US" dirty="0" smtClean="0">
                <a:sym typeface="Wingdings" pitchFamily="2" charset="2"/>
              </a:rPr>
              <a:t>): </a:t>
            </a:r>
          </a:p>
          <a:p>
            <a:pPr lvl="2"/>
            <a:r>
              <a:rPr lang="en-US" dirty="0" smtClean="0"/>
              <a:t>Uses the 4 </a:t>
            </a:r>
            <a:r>
              <a:rPr lang="en-US" dirty="0" err="1" smtClean="0"/>
              <a:t>texels</a:t>
            </a:r>
            <a:r>
              <a:rPr lang="en-US" dirty="0" smtClean="0"/>
              <a:t> nearest to the pixel center, and takes the weighted average according to distance</a:t>
            </a:r>
          </a:p>
        </p:txBody>
      </p:sp>
    </p:spTree>
    <p:extLst>
      <p:ext uri="{BB962C8B-B14F-4D97-AF65-F5344CB8AC3E}">
        <p14:creationId xmlns:p14="http://schemas.microsoft.com/office/powerpoint/2010/main" val="285213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filtering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Example using LINEAR:</a:t>
            </a:r>
          </a:p>
          <a:p>
            <a:pPr marL="365760" lvl="1" indent="0">
              <a:buNone/>
            </a:pPr>
            <a:r>
              <a:rPr lang="en-US" dirty="0" smtClean="0"/>
              <a:t>     Normal                  Minified                 Magnified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err="1" smtClean="0"/>
              <a:t>Minification</a:t>
            </a:r>
            <a:r>
              <a:rPr lang="en-US" dirty="0" smtClean="0"/>
              <a:t> there are some extra options which involve </a:t>
            </a:r>
            <a:r>
              <a:rPr lang="en-US" dirty="0" err="1" smtClean="0"/>
              <a:t>mipmapping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covered </a:t>
            </a:r>
            <a:r>
              <a:rPr lang="en-US" smtClean="0">
                <a:sym typeface="Wingdings" pitchFamily="2" charset="2"/>
              </a:rPr>
              <a:t>in </a:t>
            </a:r>
            <a:r>
              <a:rPr lang="en-US" smtClean="0">
                <a:sym typeface="Wingdings" pitchFamily="2" charset="2"/>
              </a:rPr>
              <a:t>other </a:t>
            </a:r>
            <a:r>
              <a:rPr lang="en-US" dirty="0" smtClean="0">
                <a:sym typeface="Wingdings" pitchFamily="2" charset="2"/>
              </a:rPr>
              <a:t>lecture</a:t>
            </a:r>
          </a:p>
          <a:p>
            <a:r>
              <a:rPr lang="en-US" dirty="0" smtClean="0">
                <a:sym typeface="Wingdings" pitchFamily="2" charset="2"/>
              </a:rPr>
              <a:t>Texture filtering is defined with method </a:t>
            </a:r>
            <a:r>
              <a:rPr lang="en-US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filter</a:t>
            </a:r>
            <a:r>
              <a:rPr lang="en-US" dirty="0" smtClean="0">
                <a:sym typeface="Wingdings" pitchFamily="2" charset="2"/>
              </a:rPr>
              <a:t>:</a:t>
            </a:r>
          </a:p>
          <a:p>
            <a:pPr lvl="1"/>
            <a:r>
              <a:rPr lang="nl-NL" sz="2000" dirty="0" err="1">
                <a:latin typeface="Courier New" pitchFamily="49" charset="0"/>
                <a:cs typeface="Courier New" pitchFamily="49" charset="0"/>
              </a:rPr>
              <a:t>texture.filter</a:t>
            </a:r>
            <a:r>
              <a:rPr lang="nl-NL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000" dirty="0" err="1">
                <a:latin typeface="Courier New" pitchFamily="49" charset="0"/>
                <a:cs typeface="Courier New" pitchFamily="49" charset="0"/>
              </a:rPr>
              <a:t>viz.MIN_FILTER,viz.NEAREST</a:t>
            </a:r>
            <a:r>
              <a:rPr lang="nl-NL" sz="20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nl-NL" dirty="0"/>
              <a:t/>
            </a:r>
            <a:br>
              <a:rPr lang="nl-NL" dirty="0"/>
            </a:b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564904"/>
            <a:ext cx="7309082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613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Aliasing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Minification</a:t>
            </a:r>
            <a:r>
              <a:rPr lang="en-US" dirty="0" smtClean="0"/>
              <a:t> with NEAREST filtering can suffer from aliasing: </a:t>
            </a:r>
            <a:r>
              <a:rPr lang="en-US" dirty="0" err="1" smtClean="0"/>
              <a:t>texels</a:t>
            </a:r>
            <a:r>
              <a:rPr lang="en-US" dirty="0" smtClean="0"/>
              <a:t> appear to be missing</a:t>
            </a:r>
          </a:p>
          <a:p>
            <a:endParaRPr lang="en-US" dirty="0"/>
          </a:p>
        </p:txBody>
      </p:sp>
      <p:pic>
        <p:nvPicPr>
          <p:cNvPr id="8194" name="Picture 2" descr="slide65.jpg (26587 byte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08920"/>
            <a:ext cx="5976664" cy="39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55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Blocking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Magnification with NEAREST filtering will suffer from blocking: texels appear as visible blocks</a:t>
            </a:r>
          </a:p>
          <a:p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24944"/>
            <a:ext cx="2232248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 descr="Scaled to 150%, Coarse Bresenham or Nearest Neighb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912" y="2924944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54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mode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3D5AE07-3F17-4D80-BB33-0A1E36CFC29B}" type="slidenum">
              <a:rPr lang="nl-NL"/>
              <a:pPr/>
              <a:t>16</a:t>
            </a:fld>
            <a:endParaRPr lang="nl-NL"/>
          </a:p>
        </p:txBody>
      </p:sp>
      <p:sp>
        <p:nvSpPr>
          <p:cNvPr id="215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How to combine the original (</a:t>
            </a:r>
            <a:r>
              <a:rPr lang="en-US" dirty="0" err="1" smtClean="0"/>
              <a:t>untextured</a:t>
            </a:r>
            <a:r>
              <a:rPr lang="en-US" dirty="0" smtClean="0"/>
              <a:t>) color of an object with the texture?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viz.TEXDECAL</a:t>
            </a:r>
            <a:r>
              <a:rPr lang="en-US" dirty="0" smtClean="0"/>
              <a:t>: texture replaces the original color, taking into account the transparency of texture pixels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viz.TEXREPLACE</a:t>
            </a:r>
            <a:r>
              <a:rPr lang="en-US" dirty="0" smtClean="0"/>
              <a:t>: texture replaces the original color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viz.TEXMODULATE</a:t>
            </a:r>
            <a:r>
              <a:rPr lang="en-US" dirty="0" smtClean="0"/>
              <a:t>: mixes original color and texture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viz.TEXBLEND</a:t>
            </a:r>
            <a:r>
              <a:rPr lang="en-US" dirty="0"/>
              <a:t>: </a:t>
            </a:r>
            <a:r>
              <a:rPr lang="en-US" dirty="0" smtClean="0"/>
              <a:t>mixes texture with a specified color (the blend color)</a:t>
            </a:r>
          </a:p>
          <a:p>
            <a:r>
              <a:rPr lang="en-US" dirty="0" smtClean="0"/>
              <a:t>Texture mode can be set to one of these values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object.appearance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058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CF9F066-724C-4141-B953-C33614C8E969}" type="slidenum">
              <a:rPr lang="nl-NL"/>
              <a:pPr/>
              <a:t>17</a:t>
            </a:fld>
            <a:endParaRPr lang="nl-NL"/>
          </a:p>
        </p:txBody>
      </p:sp>
      <p:sp>
        <p:nvSpPr>
          <p:cNvPr id="21401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Formulas</a:t>
            </a: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2">
              <a:spcBef>
                <a:spcPts val="500"/>
              </a:spcBef>
              <a:spcAft>
                <a:spcPts val="500"/>
              </a:spcAft>
            </a:pPr>
            <a:r>
              <a:rPr lang="en-US" b="1" dirty="0" smtClean="0"/>
              <a:t>Mode		Result color		Result transparency</a:t>
            </a:r>
          </a:p>
          <a:p>
            <a:pPr lvl="2">
              <a:spcBef>
                <a:spcPts val="500"/>
              </a:spcBef>
              <a:spcAft>
                <a:spcPts val="500"/>
              </a:spcAft>
            </a:pPr>
            <a:r>
              <a:rPr lang="en-US" b="1" dirty="0" smtClean="0"/>
              <a:t>REPLACE	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				T</a:t>
            </a:r>
            <a:r>
              <a:rPr lang="en-US" b="1" baseline="-25000" dirty="0" smtClean="0"/>
              <a:t>a</a:t>
            </a:r>
            <a:r>
              <a:rPr lang="en-US" b="1" dirty="0" smtClean="0"/>
              <a:t>	</a:t>
            </a:r>
          </a:p>
          <a:p>
            <a:pPr lvl="2">
              <a:spcBef>
                <a:spcPts val="500"/>
              </a:spcBef>
              <a:spcAft>
                <a:spcPts val="500"/>
              </a:spcAft>
            </a:pPr>
            <a:r>
              <a:rPr lang="en-US" b="1" dirty="0" smtClean="0"/>
              <a:t>DECAL		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*(1-T</a:t>
            </a:r>
            <a:r>
              <a:rPr lang="en-US" b="1" baseline="-25000" dirty="0" smtClean="0"/>
              <a:t>a</a:t>
            </a:r>
            <a:r>
              <a:rPr lang="en-US" b="1" dirty="0" smtClean="0"/>
              <a:t>)+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*T</a:t>
            </a:r>
            <a:r>
              <a:rPr lang="en-US" b="1" baseline="-25000" dirty="0" smtClean="0"/>
              <a:t>a</a:t>
            </a:r>
            <a:r>
              <a:rPr lang="en-US" b="1" dirty="0" smtClean="0"/>
              <a:t>		S</a:t>
            </a:r>
            <a:r>
              <a:rPr lang="en-US" b="1" baseline="-25000" dirty="0" smtClean="0"/>
              <a:t>a</a:t>
            </a:r>
            <a:r>
              <a:rPr lang="en-US" b="1" dirty="0" smtClean="0"/>
              <a:t>	</a:t>
            </a:r>
          </a:p>
          <a:p>
            <a:pPr lvl="2">
              <a:spcBef>
                <a:spcPts val="500"/>
              </a:spcBef>
              <a:spcAft>
                <a:spcPts val="500"/>
              </a:spcAft>
            </a:pPr>
            <a:r>
              <a:rPr lang="en-US" b="1" dirty="0" smtClean="0"/>
              <a:t>MOD		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*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			S</a:t>
            </a:r>
            <a:r>
              <a:rPr lang="en-US" b="1" baseline="-25000" dirty="0" smtClean="0"/>
              <a:t>a</a:t>
            </a:r>
            <a:r>
              <a:rPr lang="en-US" b="1" dirty="0" smtClean="0"/>
              <a:t>*T</a:t>
            </a:r>
            <a:r>
              <a:rPr lang="en-US" b="1" baseline="-25000" dirty="0" smtClean="0"/>
              <a:t>a</a:t>
            </a:r>
            <a:r>
              <a:rPr lang="en-US" b="1" dirty="0" smtClean="0"/>
              <a:t>	</a:t>
            </a:r>
          </a:p>
          <a:p>
            <a:pPr lvl="2">
              <a:spcBef>
                <a:spcPts val="500"/>
              </a:spcBef>
              <a:spcAft>
                <a:spcPts val="500"/>
              </a:spcAft>
            </a:pPr>
            <a:r>
              <a:rPr lang="en-US" b="1" dirty="0" smtClean="0"/>
              <a:t>BLEND		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*(1-T</a:t>
            </a:r>
            <a:r>
              <a:rPr lang="en-US" b="1" baseline="-25000" dirty="0" smtClean="0"/>
              <a:t>rgb</a:t>
            </a:r>
            <a:r>
              <a:rPr lang="en-US" b="1" dirty="0" smtClean="0"/>
              <a:t>)+</a:t>
            </a:r>
            <a:r>
              <a:rPr lang="en-US" b="1" dirty="0" err="1" smtClean="0"/>
              <a:t>B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*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rgb</a:t>
            </a:r>
            <a:r>
              <a:rPr lang="en-US" b="1" dirty="0" smtClean="0"/>
              <a:t>		S</a:t>
            </a:r>
            <a:r>
              <a:rPr lang="en-US" b="1" baseline="-25000" dirty="0" smtClean="0"/>
              <a:t>a</a:t>
            </a:r>
            <a:r>
              <a:rPr lang="en-US" b="1" dirty="0" smtClean="0"/>
              <a:t>*T</a:t>
            </a:r>
            <a:r>
              <a:rPr lang="en-US" b="1" baseline="-25000" dirty="0" smtClean="0"/>
              <a:t>a</a:t>
            </a:r>
            <a:r>
              <a:rPr lang="en-US" b="1" dirty="0" smtClean="0"/>
              <a:t>	</a:t>
            </a:r>
            <a:endParaRPr lang="en-US" dirty="0" smtClean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err="1" smtClean="0"/>
              <a:t>S</a:t>
            </a:r>
            <a:r>
              <a:rPr lang="en-US" sz="1600" b="1" baseline="-25000" dirty="0" err="1" smtClean="0"/>
              <a:t>rgb</a:t>
            </a:r>
            <a:r>
              <a:rPr lang="en-US" sz="1600" b="1" dirty="0" smtClean="0"/>
              <a:t> is the color of the shape being texture mapped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smtClean="0"/>
              <a:t>S</a:t>
            </a:r>
            <a:r>
              <a:rPr lang="en-US" sz="1600" b="1" baseline="-25000" dirty="0" smtClean="0"/>
              <a:t>a</a:t>
            </a:r>
            <a:r>
              <a:rPr lang="en-US" sz="1600" b="1" dirty="0" smtClean="0"/>
              <a:t> is the alpha of the shape being texture mapped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err="1" smtClean="0"/>
              <a:t>T</a:t>
            </a:r>
            <a:r>
              <a:rPr lang="en-US" sz="1600" b="1" baseline="-25000" dirty="0" err="1" smtClean="0"/>
              <a:t>rgb</a:t>
            </a:r>
            <a:r>
              <a:rPr lang="en-US" sz="1600" b="1" dirty="0" smtClean="0"/>
              <a:t> is the texture pixel color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smtClean="0"/>
              <a:t>T</a:t>
            </a:r>
            <a:r>
              <a:rPr lang="en-US" sz="1600" b="1" baseline="-25000" dirty="0" smtClean="0"/>
              <a:t>a</a:t>
            </a:r>
            <a:r>
              <a:rPr lang="en-US" sz="1600" b="1" dirty="0" smtClean="0"/>
              <a:t> is the texture pixel alpha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err="1" smtClean="0"/>
              <a:t>B</a:t>
            </a:r>
            <a:r>
              <a:rPr lang="en-US" sz="1600" b="1" baseline="-25000" dirty="0" err="1" smtClean="0"/>
              <a:t>rgb</a:t>
            </a:r>
            <a:r>
              <a:rPr lang="en-US" sz="1600" b="1" dirty="0" smtClean="0"/>
              <a:t> is the shape blend color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b="1" dirty="0" smtClean="0"/>
              <a:t>B</a:t>
            </a:r>
            <a:r>
              <a:rPr lang="en-US" sz="1600" b="1" baseline="-25000" dirty="0" smtClean="0"/>
              <a:t>a</a:t>
            </a:r>
            <a:r>
              <a:rPr lang="en-US" sz="1600" b="1" dirty="0" smtClean="0"/>
              <a:t> is the shape blend alpha</a:t>
            </a:r>
            <a:endParaRPr lang="en-US" dirty="0"/>
          </a:p>
        </p:txBody>
      </p:sp>
      <p:sp>
        <p:nvSpPr>
          <p:cNvPr id="214020" name="Line 4"/>
          <p:cNvSpPr>
            <a:spLocks noChangeShapeType="1"/>
          </p:cNvSpPr>
          <p:nvPr/>
        </p:nvSpPr>
        <p:spPr bwMode="auto">
          <a:xfrm>
            <a:off x="2779440" y="16288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14021" name="Line 5"/>
          <p:cNvSpPr>
            <a:spLocks noChangeShapeType="1"/>
          </p:cNvSpPr>
          <p:nvPr/>
        </p:nvSpPr>
        <p:spPr bwMode="auto">
          <a:xfrm>
            <a:off x="6132240" y="16288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14022" name="Line 6"/>
          <p:cNvSpPr>
            <a:spLocks noChangeShapeType="1"/>
          </p:cNvSpPr>
          <p:nvPr/>
        </p:nvSpPr>
        <p:spPr bwMode="auto">
          <a:xfrm>
            <a:off x="1331640" y="2009800"/>
            <a:ext cx="72728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14023" name="Line 7"/>
          <p:cNvSpPr>
            <a:spLocks noChangeShapeType="1"/>
          </p:cNvSpPr>
          <p:nvPr/>
        </p:nvSpPr>
        <p:spPr bwMode="auto">
          <a:xfrm>
            <a:off x="4608240" y="1628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281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</a:t>
            </a:r>
            <a:r>
              <a:rPr lang="en-US" dirty="0"/>
              <a:t>e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8B5A6-D669-4E89-8E7D-9988B577908F}" type="slidenum">
              <a:rPr lang="nl-NL"/>
              <a:pPr/>
              <a:t>18</a:t>
            </a:fld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we have this </a:t>
            </a:r>
            <a:r>
              <a:rPr lang="en-US" dirty="0" err="1" smtClean="0"/>
              <a:t>untextured</a:t>
            </a:r>
            <a:r>
              <a:rPr lang="en-US" dirty="0" smtClean="0"/>
              <a:t> scene</a:t>
            </a:r>
            <a:endParaRPr lang="en-US" dirty="0"/>
          </a:p>
        </p:txBody>
      </p:sp>
      <p:pic>
        <p:nvPicPr>
          <p:cNvPr id="2099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20888"/>
            <a:ext cx="7772400" cy="414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49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22C79DC2-62F8-45F6-8251-F290A3F6B464}" type="slidenum">
              <a:rPr lang="nl-NL"/>
              <a:pPr/>
              <a:t>19</a:t>
            </a:fld>
            <a:endParaRPr lang="nl-NL"/>
          </a:p>
        </p:txBody>
      </p:sp>
      <p:sp>
        <p:nvSpPr>
          <p:cNvPr id="21197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REPLACE</a:t>
            </a:r>
            <a:endParaRPr lang="en-US"/>
          </a:p>
        </p:txBody>
      </p:sp>
      <p:pic>
        <p:nvPicPr>
          <p:cNvPr id="2119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1200"/>
            <a:ext cx="7696200" cy="409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83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7561EC-1248-4705-9C38-84B498F8D215}" type="slidenum">
              <a:rPr lang="nl-NL"/>
              <a:pPr/>
              <a:t>20</a:t>
            </a:fld>
            <a:endParaRPr lang="nl-NL"/>
          </a:p>
        </p:txBody>
      </p:sp>
      <p:sp>
        <p:nvSpPr>
          <p:cNvPr id="2109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MODULATE</a:t>
            </a:r>
            <a:endParaRPr lang="en-US"/>
          </a:p>
        </p:txBody>
      </p:sp>
      <p:pic>
        <p:nvPicPr>
          <p:cNvPr id="210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39925"/>
            <a:ext cx="7772400" cy="414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71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BED3D2D-AA5E-48B3-AAC2-A6AD2EB4DE98}" type="slidenum">
              <a:rPr lang="nl-NL"/>
              <a:pPr/>
              <a:t>21</a:t>
            </a:fld>
            <a:endParaRPr lang="nl-NL"/>
          </a:p>
        </p:txBody>
      </p:sp>
      <p:sp>
        <p:nvSpPr>
          <p:cNvPr id="21299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BLEND</a:t>
            </a:r>
            <a:endParaRPr lang="en-US"/>
          </a:p>
        </p:txBody>
      </p:sp>
      <p:pic>
        <p:nvPicPr>
          <p:cNvPr id="212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0"/>
            <a:ext cx="7772400" cy="414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893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C82EAE-AA5E-4E9B-84D4-BDB5F20D5E74}"/>
</file>

<file path=customXml/itemProps2.xml><?xml version="1.0" encoding="utf-8"?>
<ds:datastoreItem xmlns:ds="http://schemas.openxmlformats.org/officeDocument/2006/customXml" ds:itemID="{785CA055-9259-452A-ACC5-B8524EF6FCA2}"/>
</file>

<file path=customXml/itemProps3.xml><?xml version="1.0" encoding="utf-8"?>
<ds:datastoreItem xmlns:ds="http://schemas.openxmlformats.org/officeDocument/2006/customXml" ds:itemID="{9F40A724-6F65-47CF-8C8A-9D9515DCC69B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7995</TotalTime>
  <Words>548</Words>
  <Application>Microsoft Office PowerPoint</Application>
  <PresentationFormat>On-screen Show (4:3)</PresentationFormat>
  <Paragraphs>123</Paragraphs>
  <Slides>21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Courier New</vt:lpstr>
      <vt:lpstr>Tw Cen MT</vt:lpstr>
      <vt:lpstr>Wingdings</vt:lpstr>
      <vt:lpstr>Wingdings 2</vt:lpstr>
      <vt:lpstr>Mediaan</vt:lpstr>
      <vt:lpstr>V3D1 WEEK 2b</vt:lpstr>
      <vt:lpstr>Textures</vt:lpstr>
      <vt:lpstr>Texture mapping (1)</vt:lpstr>
      <vt:lpstr>Texture mapping (2)</vt:lpstr>
      <vt:lpstr>Defining texture coordinates in Vizard</vt:lpstr>
      <vt:lpstr>Texture mapping on a sphere</vt:lpstr>
      <vt:lpstr>Texture wrapping</vt:lpstr>
      <vt:lpstr>Texture Matrix</vt:lpstr>
      <vt:lpstr>Texture distortion</vt:lpstr>
      <vt:lpstr>Mapping distortion</vt:lpstr>
      <vt:lpstr>Texture filtering</vt:lpstr>
      <vt:lpstr>Texture filtering</vt:lpstr>
      <vt:lpstr>Texture filtering</vt:lpstr>
      <vt:lpstr>Aliasing</vt:lpstr>
      <vt:lpstr>Blocking</vt:lpstr>
      <vt:lpstr>Texture mode</vt:lpstr>
      <vt:lpstr>Formulas</vt:lpstr>
      <vt:lpstr>Example</vt:lpstr>
      <vt:lpstr>REPLACE</vt:lpstr>
      <vt:lpstr>MODULATE</vt:lpstr>
      <vt:lpstr>BLEND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3b</dc:title>
  <dc:creator>Peter Boots</dc:creator>
  <cp:lastModifiedBy>Boots,Peter P.J.H.M.</cp:lastModifiedBy>
  <cp:revision>135</cp:revision>
  <dcterms:created xsi:type="dcterms:W3CDTF">2011-02-02T18:25:05Z</dcterms:created>
  <dcterms:modified xsi:type="dcterms:W3CDTF">2016-09-08T20:39:06Z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