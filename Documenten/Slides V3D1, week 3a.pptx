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23"/>
  </p:notesMasterIdLst>
  <p:sldIdLst>
    <p:sldId id="256" r:id="rId5"/>
    <p:sldId id="372" r:id="rId6"/>
    <p:sldId id="375" r:id="rId7"/>
    <p:sldId id="379" r:id="rId8"/>
    <p:sldId id="380" r:id="rId9"/>
    <p:sldId id="386" r:id="rId10"/>
    <p:sldId id="381" r:id="rId11"/>
    <p:sldId id="382" r:id="rId12"/>
    <p:sldId id="387" r:id="rId13"/>
    <p:sldId id="383" r:id="rId14"/>
    <p:sldId id="384" r:id="rId15"/>
    <p:sldId id="385" r:id="rId16"/>
    <p:sldId id="389" r:id="rId17"/>
    <p:sldId id="390" r:id="rId18"/>
    <p:sldId id="373" r:id="rId19"/>
    <p:sldId id="374" r:id="rId20"/>
    <p:sldId id="377" r:id="rId21"/>
    <p:sldId id="391" r:id="rId22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FF"/>
    <a:srgbClr val="800080"/>
    <a:srgbClr val="80F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95" autoAdjust="0"/>
    <p:restoredTop sz="66359" autoAdjust="0"/>
  </p:normalViewPr>
  <p:slideViewPr>
    <p:cSldViewPr>
      <p:cViewPr varScale="1">
        <p:scale>
          <a:sx n="112" d="100"/>
          <a:sy n="112" d="100"/>
        </p:scale>
        <p:origin x="136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69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1960E-D3BE-408B-B0C2-5D7777377BDC}" type="datetimeFigureOut">
              <a:rPr lang="nl-NL" smtClean="0"/>
              <a:t>14-9-2016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3FD26-CBD9-45AA-8FCB-49DFD000FEE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593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hoek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hthoek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nl-NL" smtClean="0"/>
              <a:t>Klik om de ondertitelstijl van het model te bewerken</a:t>
            </a:r>
            <a:endParaRPr kumimoji="0" lang="en-US"/>
          </a:p>
        </p:txBody>
      </p:sp>
      <p:sp>
        <p:nvSpPr>
          <p:cNvPr id="28" name="Tijdelijke aanduiding voor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47D1BA6-4911-4D21-8A8A-D049947BDEE5}" type="datetime1">
              <a:rPr lang="nl-NL" smtClean="0"/>
              <a:t>14-9-2016</a:t>
            </a:fld>
            <a:endParaRPr lang="nl-NL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29" name="Tijdelijke aanduiding voor dianumm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9F47C-A15E-4E67-ADFB-9D8440CD4D5A}" type="datetime1">
              <a:rPr lang="nl-NL" smtClean="0"/>
              <a:t>14-9-2016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inhoud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7" name="Rechthoek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A80FB-A740-44BE-9C85-6BF6B55EEC31}" type="datetime1">
              <a:rPr lang="nl-NL" smtClean="0"/>
              <a:t>14-9-2016</a:t>
            </a:fld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E292474-E6E9-4629-882B-ED30518F0E8F}" type="datetime1">
              <a:rPr lang="nl-NL" smtClean="0"/>
              <a:t>14-9-2016</a:t>
            </a:fld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3" name="Tijdelijke aanduiding voor inhoud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2DAD537-AD64-400C-91DC-195CDE28DC41}" type="datetime1">
              <a:rPr lang="nl-NL" smtClean="0"/>
              <a:t>14-9-2016</a:t>
            </a:fld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16" name="Tijdelijke aanduiding voor tekst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15" name="Tijdelijke aanduiding voor tekst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17A9-DC7A-4165-A8A6-E1CF078ACCA0}" type="datetime1">
              <a:rPr lang="nl-NL" smtClean="0"/>
              <a:t>14-9-2016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10717-F8EA-44E2-AE72-41FB2BB1D446}" type="datetime1">
              <a:rPr lang="nl-NL" smtClean="0"/>
              <a:t>14-9-2016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F223-B842-450F-9A74-6C0FB4F8082F}" type="datetime1">
              <a:rPr lang="nl-NL" smtClean="0"/>
              <a:t>14-9-2016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8" name="Rechthoek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hoek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1" name="Rechthoek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89CD317E-DF94-4B7F-A9D5-6F34C108AA9D}" type="datetime1">
              <a:rPr lang="nl-NL" smtClean="0"/>
              <a:t>14-9-2016</a:t>
            </a:fld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nl-NL" smtClean="0"/>
              <a:t>Klik op het pictogram als u een afbeelding wilt toevoegen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89FA5-7E47-4C7A-9DB6-39F72C07352F}" type="datetime1">
              <a:rPr lang="nl-NL" smtClean="0"/>
              <a:t>14-9-2016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442DEBE-2A51-4598-93F2-CCE23073CB84}" type="datetime1">
              <a:rPr lang="nl-NL" smtClean="0"/>
              <a:t>14-9-2016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Rechthoek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titel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3" name="Tijdelijke aanduiding voor tekst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nl-NL" smtClean="0"/>
              <a:t>Klik om de modelstijlen te bewerken</a:t>
            </a:r>
          </a:p>
          <a:p>
            <a:pPr lvl="1" eaLnBrk="1" latinLnBrk="0" hangingPunct="1"/>
            <a:r>
              <a:rPr kumimoji="0" lang="nl-NL" smtClean="0"/>
              <a:t>Tweede niveau</a:t>
            </a:r>
          </a:p>
          <a:p>
            <a:pPr lvl="2" eaLnBrk="1" latinLnBrk="0" hangingPunct="1"/>
            <a:r>
              <a:rPr kumimoji="0" lang="nl-NL" smtClean="0"/>
              <a:t>Derde niveau</a:t>
            </a:r>
          </a:p>
          <a:p>
            <a:pPr lvl="3" eaLnBrk="1" latinLnBrk="0" hangingPunct="1"/>
            <a:r>
              <a:rPr kumimoji="0" lang="nl-NL" smtClean="0"/>
              <a:t>Vierde niveau</a:t>
            </a:r>
          </a:p>
          <a:p>
            <a:pPr lvl="4" eaLnBrk="1" latinLnBrk="0" hangingPunct="1"/>
            <a:r>
              <a:rPr kumimoji="0" lang="nl-NL" smtClean="0"/>
              <a:t>Vijfde niveau</a:t>
            </a:r>
            <a:endParaRPr kumimoji="0" lang="en-US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7810130-DBB6-4179-85A8-B40CF45D4910}" type="datetime1">
              <a:rPr lang="nl-NL" smtClean="0"/>
              <a:t>14-9-2016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nl-NL" smtClean="0"/>
              <a:t>CGO, week 4</a:t>
            </a:r>
            <a:endParaRPr lang="nl-NL"/>
          </a:p>
        </p:txBody>
      </p:sp>
      <p:sp>
        <p:nvSpPr>
          <p:cNvPr id="7" name="Rechthoek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Tijdelijke aanduiding voor dianumm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hyperlink" Target="http://www.dpfiles.com/dpfileswiki/index.php?title=Image:TWGP_13fig06.gi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hyperlink" Target="http://www.dpfiles.com/dpfileswiki/index.php?title=Image:TWGP_13fig11.gi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hyperlink" Target="http://www.dpfiles.com/dpfileswiki/index.php?title=Image:TWGP_13fig19.gi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smtClean="0"/>
              <a:t>V3D1</a:t>
            </a:r>
            <a:br>
              <a:rPr lang="en-US" noProof="0" dirty="0" smtClean="0"/>
            </a:br>
            <a:r>
              <a:rPr lang="en-US" smtClean="0"/>
              <a:t>WEEK </a:t>
            </a:r>
            <a:r>
              <a:rPr lang="en-US" smtClean="0"/>
              <a:t>3A</a:t>
            </a:r>
            <a:endParaRPr lang="en-US" noProof="0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noProof="0" dirty="0" smtClean="0"/>
              <a:t>Physics engine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669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Physics Engines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2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physics engine is a library</a:t>
            </a:r>
          </a:p>
          <a:p>
            <a:r>
              <a:rPr lang="en-US" dirty="0" smtClean="0"/>
              <a:t>Gives physical properties to an object, like</a:t>
            </a:r>
          </a:p>
          <a:p>
            <a:pPr lvl="1"/>
            <a:r>
              <a:rPr lang="en-US" dirty="0" smtClean="0"/>
              <a:t>mass</a:t>
            </a:r>
          </a:p>
          <a:p>
            <a:pPr lvl="1"/>
            <a:r>
              <a:rPr lang="en-US" dirty="0" smtClean="0"/>
              <a:t>friction</a:t>
            </a:r>
          </a:p>
          <a:p>
            <a:pPr lvl="1"/>
            <a:r>
              <a:rPr lang="en-US" dirty="0" smtClean="0"/>
              <a:t>hardness</a:t>
            </a:r>
          </a:p>
          <a:p>
            <a:pPr lvl="1"/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The object will move, according to those properties</a:t>
            </a:r>
          </a:p>
        </p:txBody>
      </p:sp>
    </p:spTree>
    <p:extLst>
      <p:ext uri="{BB962C8B-B14F-4D97-AF65-F5344CB8AC3E}">
        <p14:creationId xmlns:p14="http://schemas.microsoft.com/office/powerpoint/2010/main" val="133319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 physics engine can do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3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Collision detection</a:t>
            </a:r>
          </a:p>
          <a:p>
            <a:r>
              <a:rPr lang="en-US" dirty="0" smtClean="0"/>
              <a:t>Gravity</a:t>
            </a:r>
          </a:p>
          <a:p>
            <a:r>
              <a:rPr lang="en-US" dirty="0" smtClean="0"/>
              <a:t>Forces</a:t>
            </a:r>
          </a:p>
          <a:p>
            <a:r>
              <a:rPr lang="en-US" dirty="0" smtClean="0"/>
              <a:t>Sliding</a:t>
            </a:r>
          </a:p>
          <a:p>
            <a:r>
              <a:rPr lang="en-US" dirty="0" smtClean="0"/>
              <a:t>Deform objects</a:t>
            </a:r>
          </a:p>
          <a:p>
            <a:r>
              <a:rPr lang="en-US" dirty="0" smtClean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34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physical notions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4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4495800"/>
          </a:xfrm>
        </p:spPr>
        <p:txBody>
          <a:bodyPr>
            <a:noAutofit/>
          </a:bodyPr>
          <a:lstStyle/>
          <a:p>
            <a:r>
              <a:rPr lang="en-US" dirty="0" smtClean="0"/>
              <a:t>Mass (m)</a:t>
            </a:r>
          </a:p>
          <a:p>
            <a:pPr lvl="1"/>
            <a:r>
              <a:rPr lang="en-US" dirty="0" smtClean="0"/>
              <a:t>Every object has a mass, measured in (kilo)gram</a:t>
            </a:r>
          </a:p>
          <a:p>
            <a:pPr lvl="1"/>
            <a:r>
              <a:rPr lang="en-US" dirty="0" smtClean="0"/>
              <a:t>Mass is not weight (weight depends on gravity)</a:t>
            </a:r>
          </a:p>
          <a:p>
            <a:r>
              <a:rPr lang="en-US" dirty="0" smtClean="0"/>
              <a:t>Time (t)</a:t>
            </a:r>
          </a:p>
          <a:p>
            <a:pPr lvl="1"/>
            <a:r>
              <a:rPr lang="en-US" dirty="0" smtClean="0"/>
              <a:t>Measured in (</a:t>
            </a:r>
            <a:r>
              <a:rPr lang="en-US" dirty="0" err="1" smtClean="0"/>
              <a:t>milli</a:t>
            </a:r>
            <a:r>
              <a:rPr lang="en-US" dirty="0" smtClean="0"/>
              <a:t>)seconds</a:t>
            </a:r>
          </a:p>
          <a:p>
            <a:pPr lvl="1"/>
            <a:r>
              <a:rPr lang="en-US" dirty="0" smtClean="0"/>
              <a:t>All physics calculations are done once in every frame</a:t>
            </a:r>
          </a:p>
          <a:p>
            <a:r>
              <a:rPr lang="en-US" dirty="0" smtClean="0"/>
              <a:t>Position (p)</a:t>
            </a:r>
          </a:p>
          <a:p>
            <a:pPr lvl="1"/>
            <a:r>
              <a:rPr lang="en-US" dirty="0" smtClean="0"/>
              <a:t>Every object has a certain position</a:t>
            </a:r>
          </a:p>
          <a:p>
            <a:pPr lvl="1"/>
            <a:r>
              <a:rPr lang="en-US" dirty="0" smtClean="0"/>
              <a:t>Which point is used to define position?</a:t>
            </a:r>
          </a:p>
          <a:p>
            <a:pPr lvl="2"/>
            <a:r>
              <a:rPr lang="en-US" dirty="0" smtClean="0"/>
              <a:t>Center of gravity or</a:t>
            </a:r>
          </a:p>
          <a:p>
            <a:pPr lvl="2"/>
            <a:r>
              <a:rPr lang="en-US" dirty="0" smtClean="0"/>
              <a:t>Center of the physics shape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16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Some physical notions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5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Velocity (v)</a:t>
            </a:r>
          </a:p>
          <a:p>
            <a:pPr lvl="1"/>
            <a:r>
              <a:rPr lang="en-US" dirty="0" smtClean="0"/>
              <a:t>Change in position </a:t>
            </a:r>
            <a:br>
              <a:rPr lang="en-US" dirty="0" smtClean="0"/>
            </a:br>
            <a:r>
              <a:rPr lang="en-US" dirty="0" smtClean="0"/>
              <a:t>with respect to time</a:t>
            </a:r>
          </a:p>
          <a:p>
            <a:pPr lvl="2"/>
            <a:r>
              <a:rPr lang="en-US" dirty="0" smtClean="0"/>
              <a:t>Velocity is the derivative of position</a:t>
            </a:r>
          </a:p>
          <a:p>
            <a:pPr lvl="2"/>
            <a:r>
              <a:rPr lang="en-US" dirty="0" smtClean="0"/>
              <a:t>Velocity is a vector </a:t>
            </a:r>
          </a:p>
          <a:p>
            <a:pPr lvl="1"/>
            <a:r>
              <a:rPr lang="en-US" dirty="0" smtClean="0"/>
              <a:t>Measured in m/sec or km/</a:t>
            </a:r>
            <a:r>
              <a:rPr lang="en-US" dirty="0" err="1" smtClean="0"/>
              <a:t>hr</a:t>
            </a: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2050" name="Picture 2" descr="http://www.dpfiles.com/dpfileswiki/images/c/c2/TWGP_13fig05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614" y="1556792"/>
            <a:ext cx="4762500" cy="155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809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Some physical notions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6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Acceleration (a)</a:t>
            </a:r>
          </a:p>
          <a:p>
            <a:pPr lvl="1"/>
            <a:r>
              <a:rPr lang="en-US" dirty="0" smtClean="0"/>
              <a:t>Change in velocity with respect to time</a:t>
            </a:r>
          </a:p>
          <a:p>
            <a:pPr lvl="2"/>
            <a:r>
              <a:rPr lang="en-US" dirty="0" smtClean="0"/>
              <a:t>Acceleration is the derivative of velocity </a:t>
            </a:r>
          </a:p>
          <a:p>
            <a:pPr lvl="2"/>
            <a:r>
              <a:rPr lang="en-US" dirty="0"/>
              <a:t>Acceleration </a:t>
            </a:r>
            <a:r>
              <a:rPr lang="en-US" dirty="0" smtClean="0"/>
              <a:t>is a vector</a:t>
            </a:r>
          </a:p>
          <a:p>
            <a:pPr lvl="2"/>
            <a:r>
              <a:rPr lang="en-US" dirty="0" smtClean="0"/>
              <a:t>Without acceleration, an object will be static, or move with constant velocity</a:t>
            </a:r>
          </a:p>
          <a:p>
            <a:endParaRPr lang="en-US" dirty="0"/>
          </a:p>
        </p:txBody>
      </p:sp>
      <p:pic>
        <p:nvPicPr>
          <p:cNvPr id="5" name="Picture 4" descr="Figure 13.6. Velocity vs. acceleration.">
            <a:hlinkClick r:id="rId2" tooltip="Figure 13.6. Velocity vs. acceleration.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122266"/>
            <a:ext cx="6768752" cy="273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350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Some physical notions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7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495800"/>
          </a:xfrm>
        </p:spPr>
        <p:txBody>
          <a:bodyPr>
            <a:noAutofit/>
          </a:bodyPr>
          <a:lstStyle/>
          <a:p>
            <a:r>
              <a:rPr lang="en-US" dirty="0" smtClean="0"/>
              <a:t>Force (F)</a:t>
            </a:r>
          </a:p>
          <a:p>
            <a:pPr lvl="1"/>
            <a:r>
              <a:rPr lang="en-US" dirty="0" smtClean="0"/>
              <a:t>This is what makes objects move, by accelerating them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F=m*a</a:t>
            </a:r>
            <a:r>
              <a:rPr lang="en-US" dirty="0" smtClean="0">
                <a:cs typeface="Courier New" pitchFamily="49" charset="0"/>
              </a:rPr>
              <a:t> </a:t>
            </a:r>
            <a:r>
              <a:rPr lang="en-US" dirty="0" smtClean="0"/>
              <a:t>or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a=F/m</a:t>
            </a:r>
          </a:p>
          <a:p>
            <a:pPr lvl="2"/>
            <a:r>
              <a:rPr lang="en-US" dirty="0" smtClean="0"/>
              <a:t>The higher the force, the faster the object will accelerate</a:t>
            </a:r>
          </a:p>
          <a:p>
            <a:pPr lvl="2"/>
            <a:r>
              <a:rPr lang="en-US" dirty="0" smtClean="0"/>
              <a:t>The higher the mass, the slower the object will accelerate</a:t>
            </a:r>
          </a:p>
          <a:p>
            <a:pPr lvl="1"/>
            <a:r>
              <a:rPr lang="en-US" dirty="0" smtClean="0">
                <a:cs typeface="Courier New" pitchFamily="49" charset="0"/>
              </a:rPr>
              <a:t>Measured in Newton (N) (= kg*m/sec</a:t>
            </a:r>
            <a:r>
              <a:rPr lang="en-US" baseline="30000" dirty="0" smtClean="0">
                <a:cs typeface="Courier New" pitchFamily="49" charset="0"/>
              </a:rPr>
              <a:t>2</a:t>
            </a:r>
            <a:r>
              <a:rPr lang="en-US" dirty="0" smtClean="0">
                <a:cs typeface="Courier New" pitchFamily="49" charset="0"/>
              </a:rPr>
              <a:t>)</a:t>
            </a:r>
          </a:p>
          <a:p>
            <a:pPr lvl="1"/>
            <a:r>
              <a:rPr lang="en-US" dirty="0" smtClean="0">
                <a:cs typeface="Courier New" pitchFamily="49" charset="0"/>
              </a:rPr>
              <a:t>Force is a vector</a:t>
            </a:r>
          </a:p>
          <a:p>
            <a:pPr lvl="1"/>
            <a:r>
              <a:rPr lang="en-US" dirty="0" smtClean="0">
                <a:cs typeface="Courier New" pitchFamily="49" charset="0"/>
              </a:rPr>
              <a:t>When an object is moving, and there is no force or friction, it will keep moving in the same direction, with the same velocity</a:t>
            </a:r>
          </a:p>
          <a:p>
            <a:pPr lvl="1"/>
            <a:r>
              <a:rPr lang="en-US" dirty="0" smtClean="0">
                <a:cs typeface="Courier New" pitchFamily="49" charset="0"/>
              </a:rPr>
              <a:t>Multiple forces can work on an object, these are added</a:t>
            </a:r>
            <a:endParaRPr lang="en-US" dirty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6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Some physical notions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8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cs typeface="Courier New" pitchFamily="49" charset="0"/>
              </a:rPr>
              <a:t>Momentum (P)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P=m*v</a:t>
            </a:r>
            <a:endParaRPr lang="en-US" dirty="0" smtClean="0"/>
          </a:p>
          <a:p>
            <a:pPr lvl="1"/>
            <a:r>
              <a:rPr lang="en-US" dirty="0" smtClean="0"/>
              <a:t>Momentum is a vector</a:t>
            </a:r>
          </a:p>
          <a:p>
            <a:pPr lvl="1"/>
            <a:r>
              <a:rPr lang="en-US" dirty="0" smtClean="0"/>
              <a:t>Actually, force is the </a:t>
            </a:r>
            <a:br>
              <a:rPr lang="en-US" dirty="0" smtClean="0"/>
            </a:br>
            <a:r>
              <a:rPr lang="en-US" dirty="0" smtClean="0"/>
              <a:t>derivative of momentum</a:t>
            </a:r>
            <a:endParaRPr lang="en-US" dirty="0" smtClean="0">
              <a:cs typeface="Courier New" pitchFamily="49" charset="0"/>
            </a:endParaRPr>
          </a:p>
          <a:p>
            <a:pPr lvl="2"/>
            <a:r>
              <a:rPr lang="en-US" dirty="0" smtClean="0">
                <a:cs typeface="Courier New" pitchFamily="49" charset="0"/>
              </a:rPr>
              <a:t>It takes force to change the momentum of an object</a:t>
            </a:r>
          </a:p>
          <a:p>
            <a:pPr lvl="1"/>
            <a:r>
              <a:rPr lang="en-US" dirty="0" smtClean="0">
                <a:cs typeface="Courier New" pitchFamily="49" charset="0"/>
              </a:rPr>
              <a:t>Preservation of momentum:</a:t>
            </a:r>
          </a:p>
          <a:p>
            <a:pPr lvl="2"/>
            <a:r>
              <a:rPr lang="en-US" dirty="0" smtClean="0">
                <a:cs typeface="Courier New" pitchFamily="49" charset="0"/>
              </a:rPr>
              <a:t>When 2 (or more) </a:t>
            </a:r>
            <a:r>
              <a:rPr lang="en-US" u="sng" dirty="0" smtClean="0">
                <a:cs typeface="Courier New" pitchFamily="49" charset="0"/>
              </a:rPr>
              <a:t>perfectly elastic</a:t>
            </a:r>
            <a:r>
              <a:rPr lang="en-US" dirty="0" smtClean="0">
                <a:cs typeface="Courier New" pitchFamily="49" charset="0"/>
              </a:rPr>
              <a:t> objects collide, their </a:t>
            </a:r>
            <a:br>
              <a:rPr lang="en-US" dirty="0" smtClean="0">
                <a:cs typeface="Courier New" pitchFamily="49" charset="0"/>
              </a:rPr>
            </a:br>
            <a:r>
              <a:rPr lang="en-US" dirty="0" smtClean="0">
                <a:cs typeface="Courier New" pitchFamily="49" charset="0"/>
              </a:rPr>
              <a:t>total momentum will not change</a:t>
            </a:r>
          </a:p>
          <a:p>
            <a:pPr lvl="2"/>
            <a:r>
              <a:rPr lang="en-US" dirty="0" smtClean="0">
                <a:cs typeface="Courier New" pitchFamily="49" charset="0"/>
              </a:rPr>
              <a:t>When an object explodes, all pieces together will have the same momentum</a:t>
            </a:r>
          </a:p>
          <a:p>
            <a:pPr lvl="3"/>
            <a:r>
              <a:rPr lang="en-US" dirty="0" smtClean="0">
                <a:cs typeface="Courier New" pitchFamily="49" charset="0"/>
              </a:rPr>
              <a:t>the COG of all pieces will continue following the same path</a:t>
            </a:r>
            <a:endParaRPr lang="en-US" dirty="0"/>
          </a:p>
        </p:txBody>
      </p:sp>
      <p:pic>
        <p:nvPicPr>
          <p:cNvPr id="3074" name="Picture 2" descr="Figure 13.11. The collision response of two blocks in 1D.">
            <a:hlinkClick r:id="rId2" tooltip="Figure 13.11. The collision response of two blocks in 1D.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873" y="1844824"/>
            <a:ext cx="4508127" cy="210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43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Some physical notions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pPr/>
              <a:t>9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Torque (</a:t>
            </a:r>
            <a:r>
              <a:rPr lang="en-US" dirty="0" smtClean="0">
                <a:sym typeface="Symbol"/>
              </a:rPr>
              <a:t>)</a:t>
            </a:r>
            <a:endParaRPr lang="en-US" dirty="0" smtClean="0"/>
          </a:p>
          <a:p>
            <a:pPr lvl="1"/>
            <a:r>
              <a:rPr lang="en-US" dirty="0" smtClean="0"/>
              <a:t>A force always works on a certain point of the object</a:t>
            </a:r>
          </a:p>
          <a:p>
            <a:pPr lvl="2"/>
            <a:r>
              <a:rPr lang="en-US" dirty="0" smtClean="0"/>
              <a:t>Usually the center of gravity (COG)</a:t>
            </a:r>
          </a:p>
          <a:p>
            <a:pPr lvl="2"/>
            <a:r>
              <a:rPr lang="en-US" dirty="0" smtClean="0"/>
              <a:t>If not the COG (and if the object has rotational freedom), then the object will rotate (torque)</a:t>
            </a:r>
          </a:p>
          <a:p>
            <a:pPr lvl="3"/>
            <a:r>
              <a:rPr lang="en-US" dirty="0" smtClean="0"/>
              <a:t>if it has a fixed axis of rotation (like a hinge on a door), it will rotate around that axis</a:t>
            </a:r>
          </a:p>
          <a:p>
            <a:pPr lvl="3"/>
            <a:r>
              <a:rPr lang="en-US" dirty="0" smtClean="0"/>
              <a:t>otherwise it will rotate around the COG</a:t>
            </a:r>
          </a:p>
          <a:p>
            <a:pPr lvl="1"/>
            <a:r>
              <a:rPr lang="en-US" dirty="0" smtClean="0">
                <a:sym typeface="Symbol"/>
              </a:rPr>
              <a:t> = r x F (x is cross product; Dutch: </a:t>
            </a:r>
            <a:r>
              <a:rPr lang="en-US" dirty="0" err="1" smtClean="0">
                <a:sym typeface="Symbol"/>
              </a:rPr>
              <a:t>uitproduct</a:t>
            </a:r>
            <a:r>
              <a:rPr lang="en-US" dirty="0" smtClean="0">
                <a:sym typeface="Symbol"/>
              </a:rPr>
              <a:t>)</a:t>
            </a:r>
          </a:p>
          <a:p>
            <a:pPr lvl="2"/>
            <a:r>
              <a:rPr lang="en-US" dirty="0" smtClean="0">
                <a:sym typeface="Symbol"/>
              </a:rPr>
              <a:t>r = vector from COG to point of force</a:t>
            </a:r>
          </a:p>
          <a:p>
            <a:pPr lvl="2"/>
            <a:r>
              <a:rPr lang="en-US" dirty="0" smtClean="0">
                <a:sym typeface="Symbol"/>
              </a:rPr>
              <a:t>Result is again a vector</a:t>
            </a:r>
          </a:p>
          <a:p>
            <a:pPr lvl="3"/>
            <a:r>
              <a:rPr lang="en-US" dirty="0" smtClean="0">
                <a:sym typeface="Symbol"/>
              </a:rPr>
              <a:t>magnitude: r*F*sin()( is angle between r and F)</a:t>
            </a:r>
          </a:p>
          <a:p>
            <a:pPr lvl="3"/>
            <a:r>
              <a:rPr lang="en-US" dirty="0" smtClean="0"/>
              <a:t>direction: perpendicular to r and 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37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Some physical notions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10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Gravity</a:t>
            </a:r>
          </a:p>
          <a:p>
            <a:pPr lvl="1"/>
            <a:r>
              <a:rPr lang="en-US" dirty="0" smtClean="0"/>
              <a:t>Force that attracts objects to each other</a:t>
            </a:r>
          </a:p>
          <a:p>
            <a:pPr lvl="1"/>
            <a:r>
              <a:rPr lang="en-US" dirty="0" smtClean="0"/>
              <a:t>Depends on  the mass of these objects</a:t>
            </a:r>
          </a:p>
          <a:p>
            <a:pPr lvl="1"/>
            <a:r>
              <a:rPr lang="en-US" dirty="0" smtClean="0"/>
              <a:t>General formula:</a:t>
            </a:r>
          </a:p>
          <a:p>
            <a:pPr lvl="2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baseline="-25000" dirty="0" err="1" smtClean="0">
                <a:latin typeface="Courier New" pitchFamily="49" charset="0"/>
                <a:cs typeface="Courier New" pitchFamily="49" charset="0"/>
              </a:rPr>
              <a:t>g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G*m</a:t>
            </a:r>
            <a:r>
              <a:rPr lang="en-US" baseline="-25000" dirty="0" smtClean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*m</a:t>
            </a:r>
            <a:r>
              <a:rPr lang="en-US" baseline="-250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/r</a:t>
            </a:r>
            <a:r>
              <a:rPr lang="en-US" baseline="30000" dirty="0" smtClean="0">
                <a:latin typeface="Courier New" pitchFamily="49" charset="0"/>
                <a:cs typeface="Courier New" pitchFamily="49" charset="0"/>
              </a:rPr>
              <a:t>2</a:t>
            </a:r>
          </a:p>
          <a:p>
            <a:pPr lvl="3"/>
            <a:r>
              <a:rPr lang="en-US" dirty="0" smtClean="0">
                <a:latin typeface="Courier New" pitchFamily="49" charset="0"/>
                <a:cs typeface="Courier New" pitchFamily="49" charset="0"/>
              </a:rPr>
              <a:t>G</a:t>
            </a:r>
            <a:r>
              <a:rPr lang="en-US" dirty="0" smtClean="0"/>
              <a:t> is the gravitational constant (6.67428x10</a:t>
            </a:r>
            <a:r>
              <a:rPr lang="en-US" baseline="30000" dirty="0" smtClean="0"/>
              <a:t>-11</a:t>
            </a:r>
            <a:r>
              <a:rPr lang="en-US" dirty="0" smtClean="0"/>
              <a:t> N*(m/kg)</a:t>
            </a:r>
            <a:r>
              <a:rPr lang="en-US" baseline="30000" dirty="0" smtClean="0"/>
              <a:t>2</a:t>
            </a:r>
            <a:r>
              <a:rPr lang="en-US" dirty="0" smtClean="0"/>
              <a:t>)</a:t>
            </a:r>
          </a:p>
          <a:p>
            <a:pPr lvl="3"/>
            <a:r>
              <a:rPr lang="en-US" dirty="0" smtClean="0">
                <a:latin typeface="Courier New" pitchFamily="49" charset="0"/>
                <a:cs typeface="Courier New" pitchFamily="49" charset="0"/>
              </a:rPr>
              <a:t>r</a:t>
            </a:r>
            <a:r>
              <a:rPr lang="en-US" dirty="0" smtClean="0"/>
              <a:t> is the distance between the centers of gravity</a:t>
            </a:r>
          </a:p>
          <a:p>
            <a:pPr lvl="1"/>
            <a:r>
              <a:rPr lang="en-US" dirty="0" smtClean="0">
                <a:cs typeface="Courier New" pitchFamily="49" charset="0"/>
              </a:rPr>
              <a:t>For one object, close to the earth’ surface:</a:t>
            </a:r>
          </a:p>
          <a:p>
            <a:pPr lvl="2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baseline="-25000" dirty="0" err="1" smtClean="0">
                <a:latin typeface="Courier New" pitchFamily="49" charset="0"/>
                <a:cs typeface="Courier New" pitchFamily="49" charset="0"/>
              </a:rPr>
              <a:t>g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m*g</a:t>
            </a:r>
          </a:p>
          <a:p>
            <a:pPr lvl="3"/>
            <a:r>
              <a:rPr lang="en-US" dirty="0" smtClean="0">
                <a:latin typeface="Courier New" pitchFamily="49" charset="0"/>
                <a:cs typeface="Courier New" pitchFamily="49" charset="0"/>
              </a:rPr>
              <a:t>g = 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*(mass of earth)/(radius of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earth)</a:t>
            </a:r>
            <a:r>
              <a:rPr lang="en-US" baseline="30000" dirty="0" smtClean="0">
                <a:latin typeface="Courier New" pitchFamily="49" charset="0"/>
                <a:cs typeface="Courier New" pitchFamily="49" charset="0"/>
              </a:rPr>
              <a:t>2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lvl="3"/>
            <a:r>
              <a:rPr lang="en-US" dirty="0" smtClean="0">
                <a:latin typeface="Courier New" pitchFamily="49" charset="0"/>
                <a:cs typeface="Courier New" pitchFamily="49" charset="0"/>
              </a:rPr>
              <a:t>g</a:t>
            </a:r>
            <a:r>
              <a:rPr lang="en-US" dirty="0" smtClean="0">
                <a:latin typeface="Tw Cen MT" pitchFamily="34" charset="0"/>
                <a:cs typeface="Courier New" pitchFamily="49" charset="0"/>
              </a:rPr>
              <a:t> is the gravitational acceleration = </a:t>
            </a:r>
            <a:r>
              <a:rPr lang="en-US" dirty="0"/>
              <a:t>9.80665 m/s</a:t>
            </a:r>
            <a:r>
              <a:rPr lang="en-US" baseline="30000" dirty="0"/>
              <a:t>2</a:t>
            </a:r>
            <a:endParaRPr lang="en-US" dirty="0" smtClean="0"/>
          </a:p>
          <a:p>
            <a:pPr lvl="3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baseline="-25000" dirty="0" err="1" smtClean="0">
                <a:latin typeface="Courier New" pitchFamily="49" charset="0"/>
                <a:cs typeface="Courier New" pitchFamily="49" charset="0"/>
              </a:rPr>
              <a:t>g</a:t>
            </a:r>
            <a:r>
              <a:rPr lang="en-US" dirty="0" smtClean="0"/>
              <a:t> points downwards, acts on COG</a:t>
            </a:r>
            <a:endParaRPr lang="en-US" dirty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799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Some physical notions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11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4495800"/>
          </a:xfrm>
        </p:spPr>
        <p:txBody>
          <a:bodyPr>
            <a:noAutofit/>
          </a:bodyPr>
          <a:lstStyle/>
          <a:p>
            <a:r>
              <a:rPr lang="en-US" dirty="0" smtClean="0"/>
              <a:t>Friction</a:t>
            </a:r>
          </a:p>
          <a:p>
            <a:pPr lvl="1"/>
            <a:r>
              <a:rPr lang="en-US" dirty="0" smtClean="0"/>
              <a:t>Consumes ‘useless’ energy, slows down objects</a:t>
            </a:r>
          </a:p>
          <a:p>
            <a:pPr lvl="1"/>
            <a:r>
              <a:rPr lang="en-US" dirty="0" smtClean="0"/>
              <a:t>Usually has 2 forms:</a:t>
            </a:r>
          </a:p>
          <a:p>
            <a:pPr lvl="2"/>
            <a:r>
              <a:rPr lang="en-US" dirty="0" smtClean="0"/>
              <a:t>A certain force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baseline="-25000" dirty="0" err="1" smtClean="0">
                <a:latin typeface="Courier New" pitchFamily="49" charset="0"/>
                <a:cs typeface="Courier New" pitchFamily="49" charset="0"/>
              </a:rPr>
              <a:t>fst</a:t>
            </a:r>
            <a:r>
              <a:rPr lang="en-US" dirty="0" smtClean="0"/>
              <a:t> is needed before an object starts moving</a:t>
            </a:r>
          </a:p>
          <a:p>
            <a:pPr lvl="2"/>
            <a:r>
              <a:rPr lang="en-US" dirty="0" smtClean="0"/>
              <a:t>A certain force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baseline="-25000" dirty="0" err="1" smtClean="0">
                <a:latin typeface="Courier New" pitchFamily="49" charset="0"/>
                <a:cs typeface="Courier New" pitchFamily="49" charset="0"/>
              </a:rPr>
              <a:t>fkin</a:t>
            </a:r>
            <a:r>
              <a:rPr lang="en-US" dirty="0" smtClean="0"/>
              <a:t> is needed to keep a moving object moving with the same speed</a:t>
            </a:r>
          </a:p>
          <a:p>
            <a:pPr lvl="1"/>
            <a:r>
              <a:rPr lang="en-US" dirty="0" smtClean="0"/>
              <a:t>For an object on a horizontal plane, we have:</a:t>
            </a:r>
          </a:p>
          <a:p>
            <a:pPr lvl="2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baseline="-25000" dirty="0" err="1" smtClean="0">
                <a:latin typeface="Courier New" pitchFamily="49" charset="0"/>
                <a:cs typeface="Courier New" pitchFamily="49" charset="0"/>
              </a:rPr>
              <a:t>fst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m*g*µ</a:t>
            </a:r>
            <a:r>
              <a:rPr lang="en-US" baseline="-25000" dirty="0" smtClean="0">
                <a:latin typeface="Courier New" pitchFamily="49" charset="0"/>
                <a:cs typeface="Courier New" pitchFamily="49" charset="0"/>
              </a:rPr>
              <a:t>s</a:t>
            </a:r>
            <a:endParaRPr lang="en-US" dirty="0" smtClean="0">
              <a:latin typeface="Tw Cen MT" pitchFamily="34" charset="0"/>
              <a:cs typeface="Courier New" pitchFamily="49" charset="0"/>
            </a:endParaRPr>
          </a:p>
          <a:p>
            <a:pPr lvl="3"/>
            <a:r>
              <a:rPr lang="en-US" dirty="0" smtClean="0">
                <a:latin typeface="Courier New" pitchFamily="49" charset="0"/>
                <a:cs typeface="Courier New" pitchFamily="49" charset="0"/>
              </a:rPr>
              <a:t>µ</a:t>
            </a:r>
            <a:r>
              <a:rPr lang="en-US" baseline="-25000" dirty="0" smtClean="0">
                <a:latin typeface="Courier New" pitchFamily="49" charset="0"/>
                <a:cs typeface="Courier New" pitchFamily="49" charset="0"/>
              </a:rPr>
              <a:t>s</a:t>
            </a:r>
            <a:r>
              <a:rPr lang="en-US" dirty="0" smtClean="0"/>
              <a:t> is </a:t>
            </a:r>
            <a:r>
              <a:rPr lang="en-US" u="sng" dirty="0" smtClean="0"/>
              <a:t>static friction constant</a:t>
            </a:r>
            <a:r>
              <a:rPr lang="en-US" dirty="0" smtClean="0"/>
              <a:t>, depends on object and plane materials </a:t>
            </a:r>
            <a:endParaRPr lang="en-US" baseline="-25000" dirty="0" smtClean="0"/>
          </a:p>
          <a:p>
            <a:pPr lvl="2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baseline="-25000" dirty="0" err="1" smtClean="0">
                <a:latin typeface="Courier New" pitchFamily="49" charset="0"/>
                <a:cs typeface="Courier New" pitchFamily="49" charset="0"/>
              </a:rPr>
              <a:t>fkin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m*g*µ</a:t>
            </a:r>
            <a:r>
              <a:rPr lang="en-US" baseline="-25000" dirty="0" smtClean="0">
                <a:latin typeface="Courier New" pitchFamily="49" charset="0"/>
                <a:cs typeface="Courier New" pitchFamily="49" charset="0"/>
              </a:rPr>
              <a:t>k</a:t>
            </a:r>
          </a:p>
          <a:p>
            <a:pPr lvl="3"/>
            <a:r>
              <a:rPr lang="en-US" dirty="0" smtClean="0">
                <a:latin typeface="Courier New" pitchFamily="49" charset="0"/>
                <a:cs typeface="Courier New" pitchFamily="49" charset="0"/>
              </a:rPr>
              <a:t>µ</a:t>
            </a:r>
            <a:r>
              <a:rPr lang="en-US" baseline="-25000" dirty="0" smtClean="0">
                <a:latin typeface="Courier New" pitchFamily="49" charset="0"/>
                <a:cs typeface="Courier New" pitchFamily="49" charset="0"/>
              </a:rPr>
              <a:t>k</a:t>
            </a:r>
            <a:r>
              <a:rPr lang="en-US" dirty="0" smtClean="0"/>
              <a:t> is </a:t>
            </a:r>
            <a:r>
              <a:rPr lang="en-US" u="sng" dirty="0" smtClean="0"/>
              <a:t>kinetic friction constant</a:t>
            </a:r>
          </a:p>
          <a:p>
            <a:pPr lvl="2"/>
            <a:r>
              <a:rPr lang="en-US" dirty="0" smtClean="0"/>
              <a:t>Sometimes one single friction constant is used: 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(µ</a:t>
            </a:r>
            <a:r>
              <a:rPr lang="en-US" baseline="-25000" dirty="0" smtClean="0">
                <a:latin typeface="Courier New" pitchFamily="49" charset="0"/>
                <a:cs typeface="Courier New" pitchFamily="49" charset="0"/>
              </a:rPr>
              <a:t>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+µ</a:t>
            </a:r>
            <a:r>
              <a:rPr lang="en-US" baseline="-25000" dirty="0" smtClean="0">
                <a:latin typeface="Courier New" pitchFamily="49" charset="0"/>
                <a:cs typeface="Courier New" pitchFamily="49" charset="0"/>
              </a:rPr>
              <a:t>k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)/2</a:t>
            </a:r>
          </a:p>
          <a:p>
            <a:pPr lvl="2"/>
            <a:endParaRPr lang="en-US" u="sng" baseline="-25000" dirty="0" smtClean="0"/>
          </a:p>
          <a:p>
            <a:pPr lvl="2"/>
            <a:endParaRPr lang="en-US" baseline="-25000" dirty="0" smtClean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32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physical notions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12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Friction</a:t>
            </a:r>
          </a:p>
          <a:p>
            <a:pPr lvl="1"/>
            <a:r>
              <a:rPr lang="en-US" dirty="0" smtClean="0"/>
              <a:t>For an object on an inclined plane:</a:t>
            </a:r>
          </a:p>
          <a:p>
            <a:pPr lvl="2"/>
            <a:r>
              <a:rPr lang="en-US" dirty="0" smtClean="0"/>
              <a:t>There is a critical angle for the plane, at which the object will start to slide on its own:</a:t>
            </a:r>
          </a:p>
          <a:p>
            <a:pPr lvl="3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arctan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(µ</a:t>
            </a:r>
            <a:r>
              <a:rPr lang="en-US" baseline="-25000" dirty="0" smtClean="0">
                <a:latin typeface="Courier New" pitchFamily="49" charset="0"/>
                <a:cs typeface="Courier New" pitchFamily="49" charset="0"/>
              </a:rPr>
              <a:t>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2"/>
            <a:r>
              <a:rPr lang="en-US" dirty="0" smtClean="0"/>
              <a:t>When it is sliding, the acceleration is:</a:t>
            </a:r>
          </a:p>
          <a:p>
            <a:pPr lvl="3"/>
            <a:r>
              <a:rPr lang="en-US" dirty="0" smtClean="0">
                <a:latin typeface="Courier New" pitchFamily="49" charset="0"/>
                <a:cs typeface="Courier New" pitchFamily="49" charset="0"/>
              </a:rPr>
              <a:t>g*(sin(ϴ)-µ</a:t>
            </a:r>
            <a:r>
              <a:rPr lang="en-US" baseline="-25000" dirty="0" smtClean="0">
                <a:latin typeface="Courier New" pitchFamily="49" charset="0"/>
                <a:cs typeface="Courier New" pitchFamily="49" charset="0"/>
              </a:rPr>
              <a:t>k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cos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(ϴ))</a:t>
            </a:r>
            <a:endParaRPr lang="en-US" dirty="0"/>
          </a:p>
        </p:txBody>
      </p:sp>
      <p:pic>
        <p:nvPicPr>
          <p:cNvPr id="4098" name="Picture 2" descr="Figure 13.19. The inclined plane problem.">
            <a:hlinkClick r:id="rId2" tooltip="Figure 13.19. The inclined plane problem.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604" y="4459581"/>
            <a:ext cx="4752528" cy="241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327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Possible shape properties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13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Bounciness </a:t>
            </a:r>
          </a:p>
          <a:p>
            <a:pPr lvl="1"/>
            <a:r>
              <a:rPr lang="en-US" dirty="0" smtClean="0"/>
              <a:t>determines how elastic the collisions will be between this material and another</a:t>
            </a:r>
          </a:p>
          <a:p>
            <a:pPr lvl="1"/>
            <a:r>
              <a:rPr lang="en-US" dirty="0" smtClean="0"/>
              <a:t>with higher bounciness, the object will bounce further when it collides</a:t>
            </a:r>
          </a:p>
          <a:p>
            <a:pPr lvl="1"/>
            <a:r>
              <a:rPr lang="en-US" dirty="0" smtClean="0"/>
              <a:t>must be between 0 and 1</a:t>
            </a:r>
          </a:p>
          <a:p>
            <a:r>
              <a:rPr lang="en-US" dirty="0" smtClean="0"/>
              <a:t>Density</a:t>
            </a:r>
          </a:p>
          <a:p>
            <a:pPr lvl="1"/>
            <a:r>
              <a:rPr lang="en-US" dirty="0" smtClean="0"/>
              <a:t>mass per unit of volume</a:t>
            </a:r>
          </a:p>
          <a:p>
            <a:pPr lvl="1"/>
            <a:r>
              <a:rPr lang="en-US" dirty="0" smtClean="0"/>
              <a:t>combined with the volume determines the mass</a:t>
            </a:r>
          </a:p>
          <a:p>
            <a:pPr lvl="1"/>
            <a:r>
              <a:rPr lang="en-US" dirty="0" smtClean="0"/>
              <a:t>must be &gt;= 0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83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Possible shape properties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14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mtClean="0"/>
              <a:t>Friction</a:t>
            </a:r>
          </a:p>
          <a:p>
            <a:pPr lvl="1"/>
            <a:r>
              <a:rPr lang="en-US" smtClean="0"/>
              <a:t>simple friction constant</a:t>
            </a:r>
          </a:p>
          <a:p>
            <a:pPr lvl="1"/>
            <a:r>
              <a:rPr lang="en-US" smtClean="0"/>
              <a:t>must be between 0 and 1</a:t>
            </a:r>
          </a:p>
          <a:p>
            <a:r>
              <a:rPr lang="en-US" smtClean="0"/>
              <a:t>Hardness</a:t>
            </a:r>
          </a:p>
          <a:p>
            <a:pPr lvl="1"/>
            <a:r>
              <a:rPr lang="en-US" smtClean="0"/>
              <a:t>determines how far objects can interpenetrate</a:t>
            </a:r>
          </a:p>
          <a:p>
            <a:pPr lvl="1"/>
            <a:r>
              <a:rPr lang="en-US" smtClean="0"/>
              <a:t>must be between 0 and 1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04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Collision detection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15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One of the things a physics engine will do is </a:t>
            </a:r>
            <a:r>
              <a:rPr lang="en-US" u="sng" dirty="0" smtClean="0"/>
              <a:t>collision detection</a:t>
            </a:r>
          </a:p>
          <a:p>
            <a:r>
              <a:rPr lang="en-US" dirty="0" smtClean="0"/>
              <a:t>Continuously, all pairs of object will be checked to see if they collide</a:t>
            </a:r>
          </a:p>
          <a:p>
            <a:pPr lvl="1"/>
            <a:r>
              <a:rPr lang="en-US" dirty="0" smtClean="0"/>
              <a:t>Usually both collision </a:t>
            </a:r>
            <a:r>
              <a:rPr lang="en-US" u="sng" dirty="0" smtClean="0"/>
              <a:t>entry</a:t>
            </a:r>
            <a:r>
              <a:rPr lang="en-US" dirty="0" smtClean="0"/>
              <a:t> and </a:t>
            </a:r>
            <a:r>
              <a:rPr lang="en-US" u="sng" dirty="0" smtClean="0"/>
              <a:t>exit</a:t>
            </a:r>
            <a:r>
              <a:rPr lang="en-US" dirty="0" smtClean="0"/>
              <a:t> is detected</a:t>
            </a:r>
          </a:p>
          <a:p>
            <a:r>
              <a:rPr lang="en-US" dirty="0" smtClean="0"/>
              <a:t>This takes a lot of time, because:</a:t>
            </a:r>
          </a:p>
          <a:p>
            <a:pPr lvl="1"/>
            <a:r>
              <a:rPr lang="en-US" dirty="0" smtClean="0"/>
              <a:t>objects can have complicated shapes</a:t>
            </a:r>
          </a:p>
          <a:p>
            <a:pPr lvl="1"/>
            <a:r>
              <a:rPr lang="en-US" dirty="0" smtClean="0"/>
              <a:t>there can be many objects</a:t>
            </a:r>
          </a:p>
          <a:p>
            <a:pPr lvl="2"/>
            <a:r>
              <a:rPr lang="en-US" dirty="0" smtClean="0"/>
              <a:t>If there are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dirty="0" smtClean="0"/>
              <a:t> objects, then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n*(n-1)/2</a:t>
            </a:r>
            <a:r>
              <a:rPr lang="en-US" dirty="0" smtClean="0">
                <a:latin typeface="Tw Cen MT" pitchFamily="34" charset="0"/>
                <a:cs typeface="Courier New" pitchFamily="49" charset="0"/>
              </a:rPr>
              <a:t> </a:t>
            </a:r>
            <a:r>
              <a:rPr lang="en-US" dirty="0" smtClean="0"/>
              <a:t>pairs of objects have to be checked</a:t>
            </a:r>
          </a:p>
        </p:txBody>
      </p:sp>
    </p:spTree>
    <p:extLst>
      <p:ext uri="{BB962C8B-B14F-4D97-AF65-F5344CB8AC3E}">
        <p14:creationId xmlns:p14="http://schemas.microsoft.com/office/powerpoint/2010/main" val="4045475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Collision detection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16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To simplify the collision detection calculations:</a:t>
            </a:r>
          </a:p>
          <a:p>
            <a:pPr lvl="1"/>
            <a:r>
              <a:rPr lang="en-US" dirty="0" smtClean="0"/>
              <a:t>Objects are given a </a:t>
            </a:r>
            <a:br>
              <a:rPr lang="en-US" dirty="0" smtClean="0"/>
            </a:br>
            <a:r>
              <a:rPr lang="en-US" dirty="0" smtClean="0"/>
              <a:t>second (simpler) shape: </a:t>
            </a:r>
            <a:br>
              <a:rPr lang="en-US" dirty="0" smtClean="0"/>
            </a:br>
            <a:r>
              <a:rPr lang="en-US" u="sng" dirty="0" smtClean="0"/>
              <a:t>collision area</a:t>
            </a:r>
            <a:r>
              <a:rPr lang="en-US" dirty="0" smtClean="0"/>
              <a:t> or </a:t>
            </a:r>
            <a:r>
              <a:rPr lang="en-US" u="sng" dirty="0" smtClean="0"/>
              <a:t>collision </a:t>
            </a:r>
            <a:br>
              <a:rPr lang="en-US" u="sng" dirty="0" smtClean="0"/>
            </a:br>
            <a:r>
              <a:rPr lang="en-US" u="sng" dirty="0" smtClean="0"/>
              <a:t>geometry</a:t>
            </a:r>
            <a:r>
              <a:rPr lang="en-US" dirty="0" smtClean="0"/>
              <a:t>, which is used </a:t>
            </a:r>
            <a:br>
              <a:rPr lang="en-US" dirty="0" smtClean="0"/>
            </a:br>
            <a:r>
              <a:rPr lang="en-US" dirty="0" smtClean="0"/>
              <a:t>for physics calculation</a:t>
            </a:r>
          </a:p>
          <a:p>
            <a:pPr lvl="2"/>
            <a:r>
              <a:rPr lang="en-US" dirty="0" smtClean="0"/>
              <a:t>box, sphere, cylinder, …</a:t>
            </a:r>
          </a:p>
          <a:p>
            <a:pPr lvl="1"/>
            <a:r>
              <a:rPr lang="en-US" dirty="0" smtClean="0"/>
              <a:t>Only relevant objects are included in calculations</a:t>
            </a:r>
          </a:p>
          <a:p>
            <a:pPr lvl="1"/>
            <a:r>
              <a:rPr lang="en-US" dirty="0" smtClean="0"/>
              <a:t>Objects can be combined into </a:t>
            </a:r>
            <a:r>
              <a:rPr lang="en-US" u="sng" dirty="0" smtClean="0"/>
              <a:t>collision groups</a:t>
            </a:r>
          </a:p>
          <a:p>
            <a:pPr lvl="2"/>
            <a:r>
              <a:rPr lang="en-US" dirty="0" smtClean="0"/>
              <a:t>only objects in the same collision group can collide</a:t>
            </a:r>
          </a:p>
          <a:p>
            <a:pPr lvl="2"/>
            <a:r>
              <a:rPr lang="en-US" dirty="0" smtClean="0"/>
              <a:t>less pairs to be checked</a:t>
            </a:r>
            <a:endParaRPr lang="en-US" dirty="0"/>
          </a:p>
        </p:txBody>
      </p:sp>
      <p:pic>
        <p:nvPicPr>
          <p:cNvPr id="1026" name="Picture 2" descr="http://www.dpfiles.com/dpfileswiki/images/e/e9/TWGP_13fig2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276872"/>
            <a:ext cx="4499992" cy="226799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37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Collision detection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17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Collision geometry can sometimes be a problem</a:t>
            </a:r>
          </a:p>
          <a:p>
            <a:pPr lvl="1"/>
            <a:r>
              <a:rPr lang="en-US" dirty="0" smtClean="0"/>
              <a:t>Consider a table with 4 legs</a:t>
            </a:r>
          </a:p>
          <a:p>
            <a:pPr lvl="1"/>
            <a:r>
              <a:rPr lang="en-US" dirty="0" smtClean="0"/>
              <a:t>If the collision </a:t>
            </a:r>
            <a:r>
              <a:rPr lang="en-US" dirty="0"/>
              <a:t>geometry </a:t>
            </a:r>
            <a:r>
              <a:rPr lang="en-US" dirty="0" smtClean="0"/>
              <a:t>is the bounding box, it will be impossible to move something between the legs</a:t>
            </a:r>
          </a:p>
          <a:p>
            <a:r>
              <a:rPr lang="en-US" dirty="0" smtClean="0"/>
              <a:t>To solve that, collision detection can be done in 2 phases</a:t>
            </a:r>
          </a:p>
          <a:p>
            <a:pPr lvl="1"/>
            <a:r>
              <a:rPr lang="en-US" dirty="0" smtClean="0"/>
              <a:t>broad phase</a:t>
            </a:r>
          </a:p>
          <a:p>
            <a:pPr lvl="2"/>
            <a:r>
              <a:rPr lang="en-US" dirty="0" smtClean="0"/>
              <a:t>use collision </a:t>
            </a:r>
            <a:r>
              <a:rPr lang="en-US" dirty="0"/>
              <a:t>geometry </a:t>
            </a:r>
            <a:r>
              <a:rPr lang="en-US" dirty="0" smtClean="0"/>
              <a:t>to see which objects could collide</a:t>
            </a:r>
          </a:p>
          <a:p>
            <a:pPr lvl="1"/>
            <a:r>
              <a:rPr lang="en-US" dirty="0" smtClean="0"/>
              <a:t>narrow phase</a:t>
            </a:r>
          </a:p>
          <a:p>
            <a:pPr lvl="2"/>
            <a:r>
              <a:rPr lang="en-US" dirty="0" smtClean="0"/>
              <a:t>use the actual geometry to check if these objects really collide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50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Vizard</a:t>
            </a:r>
            <a:r>
              <a:rPr lang="en-US" dirty="0" smtClean="0"/>
              <a:t> specifics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18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783888" cy="4495800"/>
          </a:xfrm>
        </p:spPr>
        <p:txBody>
          <a:bodyPr>
            <a:noAutofit/>
          </a:bodyPr>
          <a:lstStyle/>
          <a:p>
            <a:r>
              <a:rPr lang="en-US" dirty="0" smtClean="0"/>
              <a:t>For any object, we can add a collision geometry:</a:t>
            </a:r>
          </a:p>
          <a:p>
            <a:pPr lvl="1"/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collideBox</a:t>
            </a:r>
            <a:r>
              <a:rPr lang="en-US" dirty="0" smtClean="0"/>
              <a:t>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collideSphere</a:t>
            </a:r>
            <a:r>
              <a:rPr lang="en-US" dirty="0" smtClean="0"/>
              <a:t>,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collideCapsule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 smtClean="0"/>
              <a:t>Create smallest possible box, sphere or cylinder around object</a:t>
            </a:r>
          </a:p>
          <a:p>
            <a:pPr lvl="2"/>
            <a:r>
              <a:rPr lang="en-US" dirty="0" smtClean="0"/>
              <a:t>Takes arguments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friction</a:t>
            </a:r>
            <a:r>
              <a:rPr lang="en-US" dirty="0" smtClean="0"/>
              <a:t>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density</a:t>
            </a:r>
            <a:r>
              <a:rPr lang="en-US" dirty="0" smtClean="0"/>
              <a:t>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hardness</a:t>
            </a:r>
            <a:r>
              <a:rPr lang="en-US" dirty="0" smtClean="0"/>
              <a:t>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bounce</a:t>
            </a:r>
          </a:p>
          <a:p>
            <a:pPr lvl="1"/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collideMesh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 smtClean="0"/>
              <a:t>Uses the exact shape of the object for collisions</a:t>
            </a:r>
          </a:p>
          <a:p>
            <a:pPr lvl="2"/>
            <a:r>
              <a:rPr lang="en-US" dirty="0" smtClean="0"/>
              <a:t>Forces do not work on in this case, so also no gravity</a:t>
            </a:r>
          </a:p>
          <a:p>
            <a:pPr lvl="1"/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collidePlane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 smtClean="0"/>
              <a:t>By default horizontal plane y=0</a:t>
            </a:r>
          </a:p>
          <a:p>
            <a:pPr lvl="2"/>
            <a:r>
              <a:rPr lang="en-US" dirty="0" smtClean="0"/>
              <a:t>Can be changed into any plane </a:t>
            </a:r>
            <a:r>
              <a:rPr lang="en-US" dirty="0" err="1" smtClean="0"/>
              <a:t>ax+by+cz</a:t>
            </a:r>
            <a:r>
              <a:rPr lang="en-US" dirty="0" smtClean="0"/>
              <a:t>=d:</a:t>
            </a:r>
            <a:r>
              <a:rPr lang="nl-NL" dirty="0" smtClean="0"/>
              <a:t/>
            </a:r>
            <a:br>
              <a:rPr lang="nl-NL" dirty="0" smtClean="0"/>
            </a:br>
            <a:r>
              <a:rPr lang="nl-NL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collidePlane</a:t>
            </a:r>
            <a:r>
              <a:rPr lang="nl-NL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a,b,c,d</a:t>
            </a:r>
            <a:r>
              <a:rPr lang="nl-NL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70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an">
  <a:themeElements>
    <a:clrScheme name="Media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FC173E217BAF4E80805EE817A2FB16" ma:contentTypeVersion="0" ma:contentTypeDescription="Create a new document." ma:contentTypeScope="" ma:versionID="5b1d31a4fab7e725f1c741106b634ad7">
  <xsd:schema xmlns:xsd="http://www.w3.org/2001/XMLSchema" xmlns:xs="http://www.w3.org/2001/XMLSchema" xmlns:p="http://schemas.microsoft.com/office/2006/metadata/properties" xmlns:ns2="252BDB0A-93DC-4662-B430-FE66A79436E9" targetNamespace="http://schemas.microsoft.com/office/2006/metadata/properties" ma:root="true" ma:fieldsID="44b0c62110821253a9df2be90f6d531b" ns2:_="">
    <xsd:import namespace="252BDB0A-93DC-4662-B430-FE66A79436E9"/>
    <xsd:element name="properties">
      <xsd:complexType>
        <xsd:sequence>
          <xsd:element name="documentManagement">
            <xsd:complexType>
              <xsd:all>
                <xsd:element ref="ns2:Categorie" minOccurs="0"/>
                <xsd:element ref="ns2:Va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BDB0A-93DC-4662-B430-FE66A79436E9" elementFormDefault="qualified">
    <xsd:import namespace="http://schemas.microsoft.com/office/2006/documentManagement/types"/>
    <xsd:import namespace="http://schemas.microsoft.com/office/infopath/2007/PartnerControls"/>
    <xsd:element name="Categorie" ma:index="8" nillable="true" ma:displayName="Categorie" ma:default="Periode1" ma:format="Dropdown" ma:internalName="Categorie">
      <xsd:simpleType>
        <xsd:restriction base="dms:Choice">
          <xsd:enumeration value="Periode1"/>
          <xsd:enumeration value="Periode2"/>
          <xsd:enumeration value="Algemeen"/>
          <xsd:enumeration value="Cursus UvT"/>
        </xsd:restriction>
      </xsd:simpleType>
    </xsd:element>
    <xsd:element name="Vak" ma:index="9" nillable="true" ma:displayName="Vak" ma:default="V3D1" ma:format="Dropdown" ma:internalName="Vak">
      <xsd:simpleType>
        <xsd:restriction base="dms:Choice">
          <xsd:enumeration value="V3D1"/>
          <xsd:enumeration value="VED1"/>
          <xsd:enumeration value="VCC1"/>
          <xsd:enumeration value="VPT1"/>
          <xsd:enumeration value="VIS2"/>
          <xsd:enumeration value="VPT2"/>
          <xsd:enumeration value="VRS2"/>
          <xsd:enumeration value="VEX2"/>
          <xsd:enumeration value="VUI2"/>
          <xsd:enumeration value="VUX2"/>
          <xsd:enumeration value="Cursu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Categorie xmlns="252BDB0A-93DC-4662-B430-FE66A79436E9">Periode1</Categorie>
    <Vak xmlns="252BDB0A-93DC-4662-B430-FE66A79436E9">V3D1</Vak>
  </documentManagement>
</p:properties>
</file>

<file path=customXml/itemProps1.xml><?xml version="1.0" encoding="utf-8"?>
<ds:datastoreItem xmlns:ds="http://schemas.openxmlformats.org/officeDocument/2006/customXml" ds:itemID="{9318707C-9BFD-4DE6-B252-0BA52F387255}"/>
</file>

<file path=customXml/itemProps2.xml><?xml version="1.0" encoding="utf-8"?>
<ds:datastoreItem xmlns:ds="http://schemas.openxmlformats.org/officeDocument/2006/customXml" ds:itemID="{9F40A724-6F65-47CF-8C8A-9D9515DCC69B}"/>
</file>

<file path=customXml/itemProps3.xml><?xml version="1.0" encoding="utf-8"?>
<ds:datastoreItem xmlns:ds="http://schemas.openxmlformats.org/officeDocument/2006/customXml" ds:itemID="{785CA055-9259-452A-ACC5-B8524EF6FCA2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26943</TotalTime>
  <Words>943</Words>
  <Application>Microsoft Office PowerPoint</Application>
  <PresentationFormat>On-screen Show (4:3)</PresentationFormat>
  <Paragraphs>175</Paragraphs>
  <Slides>18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Calibri</vt:lpstr>
      <vt:lpstr>Courier New</vt:lpstr>
      <vt:lpstr>Symbol</vt:lpstr>
      <vt:lpstr>Tw Cen MT</vt:lpstr>
      <vt:lpstr>Wingdings</vt:lpstr>
      <vt:lpstr>Wingdings 2</vt:lpstr>
      <vt:lpstr>Mediaan</vt:lpstr>
      <vt:lpstr>V3D1 WEEK 3A</vt:lpstr>
      <vt:lpstr>Physics Engines</vt:lpstr>
      <vt:lpstr>What a physics engine can do</vt:lpstr>
      <vt:lpstr>Some physical notions</vt:lpstr>
      <vt:lpstr>Some physical notions</vt:lpstr>
      <vt:lpstr>Some physical notions</vt:lpstr>
      <vt:lpstr>Some physical notions</vt:lpstr>
      <vt:lpstr>Some physical notions</vt:lpstr>
      <vt:lpstr>Some physical notions</vt:lpstr>
      <vt:lpstr>Some physical notions</vt:lpstr>
      <vt:lpstr>Some physical notions</vt:lpstr>
      <vt:lpstr>Some physical notions</vt:lpstr>
      <vt:lpstr>Possible shape properties</vt:lpstr>
      <vt:lpstr>Possible shape properties</vt:lpstr>
      <vt:lpstr>Collision detection</vt:lpstr>
      <vt:lpstr>Collision detection</vt:lpstr>
      <vt:lpstr>Collision detection</vt:lpstr>
      <vt:lpstr>Vizard specifics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V3D1, week 4b</dc:title>
  <dc:creator>Peter Boots</dc:creator>
  <cp:lastModifiedBy>Boots,Peter P.J.H.M.</cp:lastModifiedBy>
  <cp:revision>203</cp:revision>
  <dcterms:created xsi:type="dcterms:W3CDTF">2011-02-02T18:25:05Z</dcterms:created>
  <dcterms:modified xsi:type="dcterms:W3CDTF">2016-09-14T20:57:15Z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0x0101002BFC173E217BAF4E80805EE817A2FB16</vt:lpwstr>
  </property>
</Properties>
</file>