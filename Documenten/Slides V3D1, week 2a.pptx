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32"/>
  </p:notesMasterIdLst>
  <p:sldIdLst>
    <p:sldId id="256" r:id="rId5"/>
    <p:sldId id="292" r:id="rId6"/>
    <p:sldId id="319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13" r:id="rId16"/>
    <p:sldId id="315" r:id="rId17"/>
    <p:sldId id="316" r:id="rId18"/>
    <p:sldId id="304" r:id="rId19"/>
    <p:sldId id="305" r:id="rId20"/>
    <p:sldId id="306" r:id="rId21"/>
    <p:sldId id="307" r:id="rId22"/>
    <p:sldId id="312" r:id="rId23"/>
    <p:sldId id="308" r:id="rId24"/>
    <p:sldId id="317" r:id="rId25"/>
    <p:sldId id="318" r:id="rId26"/>
    <p:sldId id="320" r:id="rId27"/>
    <p:sldId id="309" r:id="rId28"/>
    <p:sldId id="310" r:id="rId29"/>
    <p:sldId id="311" r:id="rId30"/>
    <p:sldId id="314" r:id="rId31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34" autoAdjust="0"/>
    <p:restoredTop sz="66359" autoAdjust="0"/>
  </p:normalViewPr>
  <p:slideViewPr>
    <p:cSldViewPr>
      <p:cViewPr varScale="1">
        <p:scale>
          <a:sx n="112" d="100"/>
          <a:sy n="112" d="100"/>
        </p:scale>
        <p:origin x="63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6" y="837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1960E-D3BE-408B-B0C2-5D7777377BDC}" type="datetimeFigureOut">
              <a:rPr lang="nl-NL" smtClean="0"/>
              <a:t>7-9-2016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3FD26-CBD9-45AA-8FCB-49DFD000FEE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593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hoek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hthoek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9" name="Ondertitel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nl-NL" smtClean="0"/>
              <a:t>Klik om de ondertitelstijl van het model te bewerken</a:t>
            </a:r>
            <a:endParaRPr kumimoji="0" lang="en-US"/>
          </a:p>
        </p:txBody>
      </p:sp>
      <p:sp>
        <p:nvSpPr>
          <p:cNvPr id="28" name="Tijdelijke aanduiding voor datum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319D643A-8C24-4DD9-B6CB-9353E505AC6A}" type="datetime1">
              <a:rPr lang="nl-NL" smtClean="0"/>
              <a:t>7-9-2016</a:t>
            </a:fld>
            <a:endParaRPr lang="nl-NL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nl-NL" smtClean="0"/>
              <a:t>V3D1, week 3</a:t>
            </a:r>
            <a:endParaRPr lang="nl-NL"/>
          </a:p>
        </p:txBody>
      </p:sp>
      <p:sp>
        <p:nvSpPr>
          <p:cNvPr id="29" name="Tijdelijke aanduiding voor dianumm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4F808-A458-4C5D-ADBC-3563EB26EDAF}" type="datetime1">
              <a:rPr lang="nl-NL" smtClean="0"/>
              <a:t>7-9-2016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V3D1, week 3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inhoud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7" name="Rechthoek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CD80C-D712-4A8B-83BB-F085DD489FF5}" type="datetime1">
              <a:rPr lang="nl-NL" smtClean="0"/>
              <a:t>7-9-2016</a:t>
            </a:fld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NL" smtClean="0"/>
              <a:t>V3D1, week 3</a:t>
            </a:r>
            <a:endParaRPr lang="nl-N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5E839A-C558-4210-B140-EC513B700F6E}" type="datetime1">
              <a:rPr lang="nl-NL" smtClean="0"/>
              <a:t>7-9-2016</a:t>
            </a:fld>
            <a:endParaRPr lang="nl-NL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nl-NL" smtClean="0"/>
              <a:t>V3D1, week 3</a:t>
            </a:r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3" name="Tijdelijke aanduiding voor inhoud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5C3938A-C9B2-4ADB-B1D0-07F28696FC07}" type="datetime1">
              <a:rPr lang="nl-NL" smtClean="0"/>
              <a:t>7-9-2016</a:t>
            </a:fld>
            <a:endParaRPr lang="nl-NL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nl-NL" smtClean="0"/>
              <a:t>V3D1, week 3</a:t>
            </a:r>
            <a:endParaRPr lang="nl-NL"/>
          </a:p>
        </p:txBody>
      </p:sp>
      <p:sp>
        <p:nvSpPr>
          <p:cNvPr id="16" name="Tijdelijke aanduiding voor tekst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15" name="Tijdelijke aanduiding voor tekst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DEEF-C308-42CA-AFB6-0E19728F9906}" type="datetime1">
              <a:rPr lang="nl-NL" smtClean="0"/>
              <a:t>7-9-2016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V3D1, week 3</a:t>
            </a: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F08-61BF-4F59-A6FA-C9892B2535FB}" type="datetime1">
              <a:rPr lang="nl-NL" smtClean="0"/>
              <a:t>7-9-2016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V3D1, week 3</a:t>
            </a:r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84AC-3143-4925-A2C1-24773EDF5C44}" type="datetime1">
              <a:rPr lang="nl-NL" smtClean="0"/>
              <a:t>7-9-2016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V3D1, week 3</a:t>
            </a: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8" name="Rechthoek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hoek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1" name="Rechthoek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F526A153-11FD-4716-94A1-2B8B6DECD9DE}" type="datetime1">
              <a:rPr lang="nl-NL" smtClean="0"/>
              <a:t>7-9-2016</a:t>
            </a:fld>
            <a:endParaRPr lang="nl-NL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nl-NL" smtClean="0"/>
              <a:t>V3D1, week 3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nl-NL" smtClean="0"/>
              <a:t>Klik op het pictogram als u een afbeelding wilt toevoegen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B7A14-6A38-4C9C-934A-D34CFE8C87D2}" type="datetime1">
              <a:rPr lang="nl-NL" smtClean="0"/>
              <a:t>7-9-2016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mtClean="0"/>
              <a:t>V3D1, week 3</a:t>
            </a: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477CFC1B-2544-4BC6-9905-6AB2D5DE2892}" type="datetime1">
              <a:rPr lang="nl-NL" smtClean="0"/>
              <a:t>7-9-2016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nl-NL" smtClean="0"/>
              <a:t>V3D1, week 3</a:t>
            </a:r>
            <a:endParaRPr lang="nl-NL"/>
          </a:p>
        </p:txBody>
      </p:sp>
      <p:sp>
        <p:nvSpPr>
          <p:cNvPr id="7" name="Rechthoek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titel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3" name="Tijdelijke aanduiding voor tekst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nl-NL" smtClean="0"/>
              <a:t>Klik om de modelstijlen te bewerken</a:t>
            </a:r>
          </a:p>
          <a:p>
            <a:pPr lvl="1" eaLnBrk="1" latinLnBrk="0" hangingPunct="1"/>
            <a:r>
              <a:rPr kumimoji="0" lang="nl-NL" smtClean="0"/>
              <a:t>Tweede niveau</a:t>
            </a:r>
          </a:p>
          <a:p>
            <a:pPr lvl="2" eaLnBrk="1" latinLnBrk="0" hangingPunct="1"/>
            <a:r>
              <a:rPr kumimoji="0" lang="nl-NL" smtClean="0"/>
              <a:t>Derde niveau</a:t>
            </a:r>
          </a:p>
          <a:p>
            <a:pPr lvl="3" eaLnBrk="1" latinLnBrk="0" hangingPunct="1"/>
            <a:r>
              <a:rPr kumimoji="0" lang="nl-NL" smtClean="0"/>
              <a:t>Vierde niveau</a:t>
            </a:r>
          </a:p>
          <a:p>
            <a:pPr lvl="4" eaLnBrk="1" latinLnBrk="0" hangingPunct="1"/>
            <a:r>
              <a:rPr kumimoji="0" lang="nl-NL" smtClean="0"/>
              <a:t>Vijfde niveau</a:t>
            </a:r>
            <a:endParaRPr kumimoji="0" lang="en-US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CC2B0DD-C683-4096-9C4F-FF8C8762FA4A}" type="datetime1">
              <a:rPr lang="nl-NL" smtClean="0"/>
              <a:t>7-9-2016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nl-NL" smtClean="0"/>
              <a:t>V3D1, week 3</a:t>
            </a:r>
            <a:endParaRPr lang="nl-NL"/>
          </a:p>
        </p:txBody>
      </p:sp>
      <p:sp>
        <p:nvSpPr>
          <p:cNvPr id="7" name="Rechthoek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hthoek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hthoek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Tijdelijke aanduiding voor dianumm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3E084DE-2573-4C98-9898-6BB97BAE3230}" type="slidenum">
              <a:rPr lang="nl-NL" smtClean="0"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/wikipedia/commons/0/01/Blinn_Vectors.sv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smtClean="0"/>
              <a:t>V3D1</a:t>
            </a:r>
            <a:br>
              <a:rPr lang="en-US" noProof="0" dirty="0" smtClean="0"/>
            </a:br>
            <a:r>
              <a:rPr lang="en-US" dirty="0" smtClean="0"/>
              <a:t>WEEK 2a</a:t>
            </a:r>
            <a:endParaRPr lang="en-US" noProof="0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noProof="0" dirty="0" smtClean="0"/>
              <a:t>Lights, lighting calculations</a:t>
            </a:r>
          </a:p>
          <a:p>
            <a:r>
              <a:rPr lang="en-US" noProof="0" dirty="0" smtClean="0"/>
              <a:t>Colors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669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DA09A5B-9C02-4C07-9638-F7F6F0EC3776}" type="slidenum">
              <a:rPr lang="nl-NL"/>
              <a:pPr/>
              <a:t>2</a:t>
            </a:fld>
            <a:endParaRPr lang="nl-NL"/>
          </a:p>
        </p:txBody>
      </p:sp>
      <p:sp>
        <p:nvSpPr>
          <p:cNvPr id="142338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Light sources and colors </a:t>
            </a:r>
            <a:endParaRPr lang="en-US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28800"/>
            <a:ext cx="7820025" cy="4114800"/>
          </a:xfrm>
        </p:spPr>
        <p:txBody>
          <a:bodyPr/>
          <a:lstStyle/>
          <a:p>
            <a:r>
              <a:rPr lang="en-US" dirty="0" smtClean="0"/>
              <a:t>There are 3 types of light sources:</a:t>
            </a:r>
          </a:p>
          <a:p>
            <a:pPr lvl="1"/>
            <a:r>
              <a:rPr lang="en-US" dirty="0" err="1" smtClean="0"/>
              <a:t>Pointlight</a:t>
            </a:r>
            <a:r>
              <a:rPr lang="en-US" dirty="0" smtClean="0"/>
              <a:t>, spotlight, directional light </a:t>
            </a:r>
          </a:p>
          <a:p>
            <a:r>
              <a:rPr lang="en-US" dirty="0" smtClean="0"/>
              <a:t>Light sources have 3 types of colors</a:t>
            </a:r>
          </a:p>
          <a:p>
            <a:pPr lvl="1"/>
            <a:r>
              <a:rPr lang="en-US" dirty="0" smtClean="0"/>
              <a:t>Diffuse color, specular color, and ambient color</a:t>
            </a:r>
          </a:p>
          <a:p>
            <a:r>
              <a:rPr lang="en-US" dirty="0" smtClean="0"/>
              <a:t>Objects have 4 types of colors:</a:t>
            </a:r>
          </a:p>
          <a:p>
            <a:pPr lvl="1"/>
            <a:r>
              <a:rPr lang="en-US" dirty="0" smtClean="0"/>
              <a:t>Diffuse color, specular color, ambient color and emissive color</a:t>
            </a:r>
          </a:p>
          <a:p>
            <a:r>
              <a:rPr lang="en-US" dirty="0" smtClean="0"/>
              <a:t>The final color is a combination of all the above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27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we define a color?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3</a:t>
            </a:fld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On a screen, colors are a combination of Red, Green and Blue (RGB)</a:t>
            </a:r>
          </a:p>
          <a:p>
            <a:pPr lvl="1"/>
            <a:r>
              <a:rPr lang="en-US" dirty="0" smtClean="0"/>
              <a:t>Each color has a range of 0…1 or from 0…255</a:t>
            </a:r>
          </a:p>
          <a:p>
            <a:pPr lvl="2"/>
            <a:r>
              <a:rPr lang="en-US" dirty="0" err="1" smtClean="0"/>
              <a:t>Vizard</a:t>
            </a:r>
            <a:r>
              <a:rPr lang="en-US" dirty="0" smtClean="0"/>
              <a:t> uses 0…1</a:t>
            </a:r>
          </a:p>
          <a:p>
            <a:pPr lvl="2"/>
            <a:r>
              <a:rPr lang="en-US" dirty="0" smtClean="0"/>
              <a:t>Unity is not completely consistent</a:t>
            </a:r>
          </a:p>
          <a:p>
            <a:pPr lvl="1"/>
            <a:r>
              <a:rPr lang="en-US" dirty="0" smtClean="0"/>
              <a:t>Examples:	</a:t>
            </a:r>
          </a:p>
          <a:p>
            <a:pPr lvl="2"/>
            <a:r>
              <a:rPr lang="en-US" dirty="0" smtClean="0"/>
              <a:t>(0,0,0)</a:t>
            </a:r>
          </a:p>
          <a:p>
            <a:pPr lvl="2"/>
            <a:r>
              <a:rPr lang="en-US" dirty="0" smtClean="0"/>
              <a:t>(1,0,0)</a:t>
            </a:r>
          </a:p>
          <a:p>
            <a:pPr lvl="2"/>
            <a:r>
              <a:rPr lang="en-US" dirty="0" smtClean="0"/>
              <a:t>(1,1,0)</a:t>
            </a:r>
          </a:p>
          <a:p>
            <a:pPr lvl="2"/>
            <a:r>
              <a:rPr lang="en-US" dirty="0" smtClean="0"/>
              <a:t>(1,1,1)</a:t>
            </a:r>
            <a:endParaRPr lang="nl-NL" dirty="0" smtClean="0"/>
          </a:p>
          <a:p>
            <a:pPr lvl="1"/>
            <a:r>
              <a:rPr lang="en-US" dirty="0" smtClean="0"/>
              <a:t>Color editor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3068960"/>
            <a:ext cx="2053676" cy="371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36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83F358ED-CA3E-46A2-A115-2F9B632AAF47}" type="slidenum">
              <a:rPr lang="nl-NL"/>
              <a:pPr/>
              <a:t>4</a:t>
            </a:fld>
            <a:endParaRPr lang="nl-NL"/>
          </a:p>
        </p:txBody>
      </p:sp>
      <p:sp>
        <p:nvSpPr>
          <p:cNvPr id="14438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Pointlight (1)</a:t>
            </a:r>
            <a:endParaRPr lang="en-US"/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28800"/>
            <a:ext cx="7772400" cy="45577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err="1"/>
              <a:t>Pointlight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Light from 1 point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light itself is not visible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No shadow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Light weakens </a:t>
            </a:r>
            <a:r>
              <a:rPr lang="en-US" dirty="0"/>
              <a:t>with distance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Models artificial </a:t>
            </a:r>
            <a:r>
              <a:rPr lang="en-US" dirty="0" smtClean="0"/>
              <a:t>light (light bulb)</a:t>
            </a:r>
            <a:endParaRPr lang="en-US" dirty="0"/>
          </a:p>
        </p:txBody>
      </p:sp>
      <p:sp>
        <p:nvSpPr>
          <p:cNvPr id="144388" name="Rectangle 4"/>
          <p:cNvSpPr>
            <a:spLocks noChangeArrowheads="1"/>
          </p:cNvSpPr>
          <p:nvPr/>
        </p:nvSpPr>
        <p:spPr bwMode="auto">
          <a:xfrm>
            <a:off x="0" y="2390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graphicFrame>
        <p:nvGraphicFramePr>
          <p:cNvPr id="144389" name="Object 5"/>
          <p:cNvGraphicFramePr>
            <a:graphicFrameLocks noChangeAspect="1"/>
          </p:cNvGraphicFramePr>
          <p:nvPr/>
        </p:nvGraphicFramePr>
        <p:xfrm>
          <a:off x="6699250" y="1720850"/>
          <a:ext cx="1847850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4" name="Picture" r:id="rId3" imgW="1752600" imgH="1752600" progId="Word.Picture.8">
                  <p:embed/>
                </p:oleObj>
              </mc:Choice>
              <mc:Fallback>
                <p:oleObj name="Picture" r:id="rId3" imgW="1752600" imgH="17526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2776" t="-7016" r="-2776" b="-7016"/>
                      <a:stretch>
                        <a:fillRect/>
                      </a:stretch>
                    </p:blipFill>
                    <p:spPr bwMode="auto">
                      <a:xfrm>
                        <a:off x="6699250" y="1720850"/>
                        <a:ext cx="1847850" cy="207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815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F51F5930-7AF2-41AF-B2BD-7D40E6AEACC1}" type="slidenum">
              <a:rPr lang="nl-NL"/>
              <a:pPr/>
              <a:t>5</a:t>
            </a:fld>
            <a:endParaRPr lang="nl-NL"/>
          </a:p>
        </p:txBody>
      </p:sp>
      <p:sp>
        <p:nvSpPr>
          <p:cNvPr id="176130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Pointlight (2)</a:t>
            </a:r>
            <a:endParaRPr lang="en-US"/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Properties</a:t>
            </a:r>
          </a:p>
          <a:p>
            <a:pPr lvl="1"/>
            <a:r>
              <a:rPr lang="en-US" dirty="0" smtClean="0"/>
              <a:t>Colors</a:t>
            </a:r>
          </a:p>
          <a:p>
            <a:pPr lvl="2"/>
            <a:r>
              <a:rPr lang="en-US" dirty="0" smtClean="0"/>
              <a:t>Ambient, diffuse, specular</a:t>
            </a:r>
          </a:p>
          <a:p>
            <a:pPr lvl="1"/>
            <a:r>
              <a:rPr lang="en-US" dirty="0" smtClean="0"/>
              <a:t>Position</a:t>
            </a:r>
          </a:p>
          <a:p>
            <a:pPr lvl="1"/>
            <a:r>
              <a:rPr lang="en-US" dirty="0" smtClean="0"/>
              <a:t>Attenuation</a:t>
            </a:r>
          </a:p>
          <a:p>
            <a:pPr lvl="2"/>
            <a:r>
              <a:rPr lang="en-US" dirty="0" smtClean="0"/>
              <a:t>Constant attenuation (</a:t>
            </a:r>
            <a:r>
              <a:rPr lang="en-US" dirty="0" err="1" smtClean="0"/>
              <a:t>ca</a:t>
            </a:r>
            <a:r>
              <a:rPr lang="en-US" dirty="0" smtClean="0"/>
              <a:t>, default 1), </a:t>
            </a:r>
          </a:p>
          <a:p>
            <a:pPr lvl="2"/>
            <a:r>
              <a:rPr lang="en-US" dirty="0" smtClean="0"/>
              <a:t>Linear attenuation (la, default 0), </a:t>
            </a:r>
          </a:p>
          <a:p>
            <a:pPr lvl="2"/>
            <a:r>
              <a:rPr lang="en-US" dirty="0" smtClean="0"/>
              <a:t>Quadratic attenuation (</a:t>
            </a:r>
            <a:r>
              <a:rPr lang="en-US" dirty="0" err="1" smtClean="0"/>
              <a:t>qa</a:t>
            </a:r>
            <a:r>
              <a:rPr lang="en-US" dirty="0" smtClean="0"/>
              <a:t>, default 0) </a:t>
            </a:r>
          </a:p>
          <a:p>
            <a:pPr lvl="2"/>
            <a:r>
              <a:rPr lang="en-US" dirty="0" smtClean="0"/>
              <a:t>light value = 1/(</a:t>
            </a:r>
            <a:r>
              <a:rPr lang="en-US" dirty="0" err="1" smtClean="0"/>
              <a:t>ca</a:t>
            </a:r>
            <a:r>
              <a:rPr lang="en-US" dirty="0" smtClean="0"/>
              <a:t> + la*distance + </a:t>
            </a:r>
            <a:r>
              <a:rPr lang="en-US" dirty="0" err="1" smtClean="0"/>
              <a:t>qa</a:t>
            </a:r>
            <a:r>
              <a:rPr lang="en-US" dirty="0" smtClean="0"/>
              <a:t>*distance</a:t>
            </a:r>
            <a:r>
              <a:rPr lang="en-US" baseline="30000" dirty="0" smtClean="0"/>
              <a:t>2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26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4B3C03A-69C1-4B17-8469-461E03AF6E19}" type="slidenum">
              <a:rPr lang="nl-NL"/>
              <a:pPr/>
              <a:t>6</a:t>
            </a:fld>
            <a:endParaRPr lang="nl-NL"/>
          </a:p>
        </p:txBody>
      </p:sp>
      <p:sp>
        <p:nvSpPr>
          <p:cNvPr id="145410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Pointlight (3)</a:t>
            </a:r>
            <a:endParaRPr lang="en-US"/>
          </a:p>
        </p:txBody>
      </p:sp>
      <p:pic>
        <p:nvPicPr>
          <p:cNvPr id="14541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905000"/>
            <a:ext cx="5486400" cy="4191000"/>
          </a:xfrm>
        </p:spPr>
      </p:pic>
    </p:spTree>
    <p:extLst>
      <p:ext uri="{BB962C8B-B14F-4D97-AF65-F5344CB8AC3E}">
        <p14:creationId xmlns:p14="http://schemas.microsoft.com/office/powerpoint/2010/main" val="289892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6B1FED7A-83EF-426C-9FEF-6A3F80C53334}" type="slidenum">
              <a:rPr lang="nl-NL"/>
              <a:pPr/>
              <a:t>7</a:t>
            </a:fld>
            <a:endParaRPr lang="nl-NL"/>
          </a:p>
        </p:txBody>
      </p:sp>
      <p:sp>
        <p:nvSpPr>
          <p:cNvPr id="146434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Spotlight (1)</a:t>
            </a:r>
            <a:endParaRPr lang="en-US"/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28800"/>
            <a:ext cx="7772400" cy="4191000"/>
          </a:xfrm>
        </p:spPr>
        <p:txBody>
          <a:bodyPr>
            <a:noAutofit/>
          </a:bodyPr>
          <a:lstStyle/>
          <a:p>
            <a:r>
              <a:rPr lang="en-US" dirty="0"/>
              <a:t>Spotlight</a:t>
            </a:r>
          </a:p>
          <a:p>
            <a:pPr lvl="1"/>
            <a:r>
              <a:rPr lang="en-US" dirty="0"/>
              <a:t>As </a:t>
            </a:r>
            <a:r>
              <a:rPr lang="en-US" dirty="0" err="1"/>
              <a:t>pointlight</a:t>
            </a:r>
            <a:r>
              <a:rPr lang="en-US" dirty="0"/>
              <a:t>, but </a:t>
            </a:r>
            <a:br>
              <a:rPr lang="en-US" dirty="0"/>
            </a:br>
            <a:r>
              <a:rPr lang="en-US" dirty="0"/>
              <a:t>only inside certain cone</a:t>
            </a:r>
          </a:p>
          <a:p>
            <a:r>
              <a:rPr lang="en-US" dirty="0"/>
              <a:t>Properties</a:t>
            </a:r>
          </a:p>
          <a:p>
            <a:pPr lvl="2"/>
            <a:r>
              <a:rPr lang="en-US" dirty="0"/>
              <a:t>Same as </a:t>
            </a:r>
            <a:r>
              <a:rPr lang="en-US" dirty="0" err="1"/>
              <a:t>pointlight</a:t>
            </a:r>
            <a:r>
              <a:rPr lang="en-US" dirty="0"/>
              <a:t>, and also</a:t>
            </a:r>
          </a:p>
          <a:p>
            <a:pPr lvl="2"/>
            <a:r>
              <a:rPr lang="en-US" dirty="0" smtClean="0"/>
              <a:t>Direction</a:t>
            </a:r>
            <a:endParaRPr lang="en-US" dirty="0"/>
          </a:p>
          <a:p>
            <a:pPr lvl="2"/>
            <a:r>
              <a:rPr lang="en-US" dirty="0" smtClean="0"/>
              <a:t>Angle between center and side, spread</a:t>
            </a:r>
            <a:endParaRPr lang="en-US" dirty="0"/>
          </a:p>
          <a:p>
            <a:pPr lvl="2"/>
            <a:r>
              <a:rPr lang="en-US" dirty="0" smtClean="0"/>
              <a:t>Difference in intensity between center and side: concentration, spot exponent</a:t>
            </a:r>
            <a:endParaRPr lang="en-US" dirty="0"/>
          </a:p>
          <a:p>
            <a:pPr lvl="1"/>
            <a:r>
              <a:rPr lang="en-US" dirty="0" smtClean="0"/>
              <a:t>A </a:t>
            </a:r>
            <a:r>
              <a:rPr lang="en-US" dirty="0" err="1"/>
              <a:t>pointlight</a:t>
            </a:r>
            <a:r>
              <a:rPr lang="en-US" dirty="0"/>
              <a:t> </a:t>
            </a:r>
            <a:r>
              <a:rPr lang="en-US" dirty="0" smtClean="0"/>
              <a:t>is in fact a spotlight with a spread of 180 and concentration of 0</a:t>
            </a:r>
            <a:endParaRPr lang="en-US" dirty="0"/>
          </a:p>
        </p:txBody>
      </p:sp>
      <p:sp>
        <p:nvSpPr>
          <p:cNvPr id="146436" name="Rectangle 4"/>
          <p:cNvSpPr>
            <a:spLocks noChangeArrowheads="1"/>
          </p:cNvSpPr>
          <p:nvPr/>
        </p:nvSpPr>
        <p:spPr bwMode="auto">
          <a:xfrm>
            <a:off x="0" y="2390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146437" name="Rectangle 5"/>
          <p:cNvSpPr>
            <a:spLocks noChangeArrowheads="1"/>
          </p:cNvSpPr>
          <p:nvPr/>
        </p:nvSpPr>
        <p:spPr bwMode="auto">
          <a:xfrm>
            <a:off x="0" y="2347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graphicFrame>
        <p:nvGraphicFramePr>
          <p:cNvPr id="146438" name="Object 6"/>
          <p:cNvGraphicFramePr>
            <a:graphicFrameLocks noChangeAspect="1"/>
          </p:cNvGraphicFramePr>
          <p:nvPr/>
        </p:nvGraphicFramePr>
        <p:xfrm>
          <a:off x="5626100" y="1604963"/>
          <a:ext cx="3225800" cy="160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9" name="Picture" r:id="rId3" imgW="4123944" imgH="1828800" progId="Word.Picture.8">
                  <p:embed/>
                </p:oleObj>
              </mc:Choice>
              <mc:Fallback>
                <p:oleObj name="Picture" r:id="rId3" imgW="4123944" imgH="18288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2776" t="-7016" r="-2776" b="-7016"/>
                      <a:stretch>
                        <a:fillRect/>
                      </a:stretch>
                    </p:blipFill>
                    <p:spPr bwMode="auto">
                      <a:xfrm>
                        <a:off x="5626100" y="1604963"/>
                        <a:ext cx="3225800" cy="160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026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9F92D4A-6234-4A3B-9CF7-6FCF16E9D8EA}" type="slidenum">
              <a:rPr lang="nl-NL"/>
              <a:pPr/>
              <a:t>8</a:t>
            </a:fld>
            <a:endParaRPr lang="nl-NL"/>
          </a:p>
        </p:txBody>
      </p:sp>
      <p:sp>
        <p:nvSpPr>
          <p:cNvPr id="147458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Spotlight (2)</a:t>
            </a:r>
            <a:endParaRPr lang="en-US"/>
          </a:p>
        </p:txBody>
      </p:sp>
      <p:pic>
        <p:nvPicPr>
          <p:cNvPr id="147459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905000"/>
            <a:ext cx="5486400" cy="4191000"/>
          </a:xfrm>
        </p:spPr>
      </p:pic>
    </p:spTree>
    <p:extLst>
      <p:ext uri="{BB962C8B-B14F-4D97-AF65-F5344CB8AC3E}">
        <p14:creationId xmlns:p14="http://schemas.microsoft.com/office/powerpoint/2010/main" val="320301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A7B557-1794-40F3-BDBA-27F0E4114ECB}" type="slidenum">
              <a:rPr lang="nl-NL"/>
              <a:pPr/>
              <a:t>9</a:t>
            </a:fld>
            <a:endParaRPr lang="nl-NL"/>
          </a:p>
        </p:txBody>
      </p:sp>
      <p:sp>
        <p:nvSpPr>
          <p:cNvPr id="148482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Directional light (1)</a:t>
            </a:r>
            <a:endParaRPr lang="en-US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28800"/>
            <a:ext cx="7772400" cy="4419600"/>
          </a:xfrm>
        </p:spPr>
        <p:txBody>
          <a:bodyPr>
            <a:noAutofit/>
          </a:bodyPr>
          <a:lstStyle/>
          <a:p>
            <a:r>
              <a:rPr lang="en-US" dirty="0"/>
              <a:t>Directional light</a:t>
            </a:r>
          </a:p>
          <a:p>
            <a:pPr lvl="1"/>
            <a:r>
              <a:rPr lang="en-US" dirty="0"/>
              <a:t>From infinitely far </a:t>
            </a:r>
            <a:r>
              <a:rPr lang="en-US" dirty="0" smtClean="0"/>
              <a:t>away, no position</a:t>
            </a:r>
            <a:endParaRPr lang="en-US" dirty="0"/>
          </a:p>
          <a:p>
            <a:pPr lvl="1"/>
            <a:r>
              <a:rPr lang="en-US" dirty="0"/>
              <a:t>No attenuation</a:t>
            </a:r>
          </a:p>
          <a:p>
            <a:pPr lvl="1"/>
            <a:r>
              <a:rPr lang="en-US" dirty="0"/>
              <a:t>Models incoming sunlight</a:t>
            </a:r>
          </a:p>
          <a:p>
            <a:r>
              <a:rPr lang="en-US" dirty="0"/>
              <a:t>Properties</a:t>
            </a:r>
          </a:p>
          <a:p>
            <a:pPr lvl="1"/>
            <a:r>
              <a:rPr lang="en-US" dirty="0"/>
              <a:t>Colors</a:t>
            </a:r>
          </a:p>
          <a:p>
            <a:pPr lvl="1"/>
            <a:r>
              <a:rPr lang="en-US" dirty="0" smtClean="0"/>
              <a:t>Direction</a:t>
            </a:r>
          </a:p>
          <a:p>
            <a:pPr lvl="2"/>
            <a:r>
              <a:rPr lang="en-US" dirty="0" smtClean="0"/>
              <a:t>Direction is defined with w=0:</a:t>
            </a:r>
          </a:p>
          <a:p>
            <a:pPr lvl="3"/>
            <a:r>
              <a:rPr lang="en-US" dirty="0" smtClean="0"/>
              <a:t>(0,1,0,0) means </a:t>
            </a:r>
          </a:p>
          <a:p>
            <a:pPr lvl="4"/>
            <a:r>
              <a:rPr lang="en-US" dirty="0" smtClean="0"/>
              <a:t>light has the direction from (0,1,0) to (0,0,0)</a:t>
            </a:r>
            <a:endParaRPr lang="en-US" dirty="0"/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0" y="2390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0" y="2347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1484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graphicFrame>
        <p:nvGraphicFramePr>
          <p:cNvPr id="1484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3372629"/>
              </p:ext>
            </p:extLst>
          </p:nvPr>
        </p:nvGraphicFramePr>
        <p:xfrm>
          <a:off x="5686425" y="1916832"/>
          <a:ext cx="3457575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3" name="Picture" r:id="rId3" imgW="3276600" imgH="1658112" progId="Word.Picture.8">
                  <p:embed/>
                </p:oleObj>
              </mc:Choice>
              <mc:Fallback>
                <p:oleObj name="Picture" r:id="rId3" imgW="3276600" imgH="1658112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2776" t="-7016" r="-2776" b="-7016"/>
                      <a:stretch>
                        <a:fillRect/>
                      </a:stretch>
                    </p:blipFill>
                    <p:spPr bwMode="auto">
                      <a:xfrm>
                        <a:off x="5686425" y="1916832"/>
                        <a:ext cx="3457575" cy="196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822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A6517A8-DB12-430D-8A9D-045707B5DA9D}" type="slidenum">
              <a:rPr lang="nl-NL"/>
              <a:pPr/>
              <a:t>10</a:t>
            </a:fld>
            <a:endParaRPr lang="nl-NL"/>
          </a:p>
        </p:txBody>
      </p:sp>
      <p:sp>
        <p:nvSpPr>
          <p:cNvPr id="14950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Directional light (2)</a:t>
            </a:r>
            <a:endParaRPr lang="en-US"/>
          </a:p>
        </p:txBody>
      </p:sp>
      <p:pic>
        <p:nvPicPr>
          <p:cNvPr id="14950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905000"/>
            <a:ext cx="5486400" cy="4191000"/>
          </a:xfrm>
        </p:spPr>
      </p:pic>
    </p:spTree>
    <p:extLst>
      <p:ext uri="{BB962C8B-B14F-4D97-AF65-F5344CB8AC3E}">
        <p14:creationId xmlns:p14="http://schemas.microsoft.com/office/powerpoint/2010/main" val="331387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40724213-DFF0-4765-80DF-6D328BEF127D}" type="slidenum">
              <a:rPr lang="nl-NL"/>
              <a:pPr/>
              <a:t>11</a:t>
            </a:fld>
            <a:endParaRPr lang="nl-NL"/>
          </a:p>
        </p:txBody>
      </p:sp>
      <p:sp>
        <p:nvSpPr>
          <p:cNvPr id="178178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Light sources</a:t>
            </a:r>
            <a:endParaRPr lang="en-US" dirty="0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Usually only 8 light sources can exist at one time</a:t>
            </a:r>
          </a:p>
          <a:p>
            <a:pPr lvl="1"/>
            <a:r>
              <a:rPr lang="en-US" dirty="0" smtClean="0"/>
              <a:t>Numbered from 0 to 7</a:t>
            </a:r>
          </a:p>
          <a:p>
            <a:pPr lvl="1"/>
            <a:r>
              <a:rPr lang="en-US" dirty="0" smtClean="0"/>
              <a:t>Properties can be defined for each light source separately as explained before</a:t>
            </a:r>
          </a:p>
          <a:p>
            <a:pPr lvl="1"/>
            <a:r>
              <a:rPr lang="en-US" dirty="0" smtClean="0"/>
              <a:t>Each light source can be </a:t>
            </a:r>
          </a:p>
          <a:p>
            <a:pPr lvl="2"/>
            <a:r>
              <a:rPr lang="en-US" dirty="0" smtClean="0"/>
              <a:t>enabled or disabled (on or off)</a:t>
            </a:r>
          </a:p>
          <a:p>
            <a:pPr lvl="2"/>
            <a:r>
              <a:rPr lang="en-US" dirty="0" smtClean="0"/>
              <a:t>moved and rotated, when applicable</a:t>
            </a:r>
          </a:p>
          <a:p>
            <a:pPr lvl="3"/>
            <a:r>
              <a:rPr lang="en-US" dirty="0" smtClean="0"/>
              <a:t>Directional light can not be moved because it has no position</a:t>
            </a:r>
          </a:p>
          <a:p>
            <a:pPr lvl="3"/>
            <a:r>
              <a:rPr lang="en-US" dirty="0" err="1" smtClean="0"/>
              <a:t>Pointlight</a:t>
            </a:r>
            <a:r>
              <a:rPr lang="en-US" dirty="0" smtClean="0"/>
              <a:t> can not be rotated because it has no direction</a:t>
            </a:r>
          </a:p>
          <a:p>
            <a:r>
              <a:rPr lang="en-US" dirty="0" smtClean="0"/>
              <a:t>Usually, there is a global ambient light (0.2,0.2,0.2)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20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Lights in </a:t>
            </a:r>
            <a:r>
              <a:rPr lang="en-US" dirty="0" err="1" smtClean="0"/>
              <a:t>Vizard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12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4495800"/>
          </a:xfrm>
        </p:spPr>
        <p:txBody>
          <a:bodyPr>
            <a:noAutofit/>
          </a:bodyPr>
          <a:lstStyle/>
          <a:p>
            <a:r>
              <a:rPr lang="en-US" dirty="0" err="1" smtClean="0"/>
              <a:t>Vizard</a:t>
            </a:r>
            <a:r>
              <a:rPr lang="en-US" dirty="0" smtClean="0"/>
              <a:t> has a default headlight at the viewer position</a:t>
            </a:r>
          </a:p>
          <a:p>
            <a:pPr lvl="1"/>
            <a:r>
              <a:rPr lang="en-US" dirty="0" err="1">
                <a:latin typeface="Courier New" pitchFamily="49" charset="0"/>
                <a:cs typeface="Courier New" pitchFamily="49" charset="0"/>
              </a:rPr>
              <a:t>viz.MainView.getHeadLight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dirty="0" err="1" smtClean="0"/>
              <a:t>Vizard</a:t>
            </a:r>
            <a:r>
              <a:rPr lang="en-US" dirty="0" smtClean="0"/>
              <a:t> has a default ambient light (0.2,0.2,0.2)</a:t>
            </a:r>
          </a:p>
          <a:p>
            <a:r>
              <a:rPr lang="en-US" dirty="0" smtClean="0"/>
              <a:t>A new light is by default </a:t>
            </a:r>
            <a:r>
              <a:rPr lang="en-US" u="sng" dirty="0" smtClean="0"/>
              <a:t>directional</a:t>
            </a:r>
            <a:r>
              <a:rPr lang="en-US" dirty="0" smtClean="0"/>
              <a:t>, shining in z-direction</a:t>
            </a:r>
          </a:p>
          <a:p>
            <a:r>
              <a:rPr lang="en-US" dirty="0" smtClean="0"/>
              <a:t>A light can be positioned in 2 ways: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setPosition</a:t>
            </a:r>
            <a:r>
              <a:rPr lang="en-US" dirty="0" smtClean="0"/>
              <a:t>: will move the light to the specified position</a:t>
            </a:r>
          </a:p>
          <a:p>
            <a:pPr lvl="1"/>
            <a:r>
              <a:rPr lang="en-US" dirty="0" smtClean="0">
                <a:latin typeface="Courier New" pitchFamily="49" charset="0"/>
                <a:cs typeface="Courier New" pitchFamily="49" charset="0"/>
              </a:rPr>
              <a:t>position</a:t>
            </a:r>
            <a:r>
              <a:rPr lang="en-US" dirty="0" smtClean="0"/>
              <a:t>: </a:t>
            </a:r>
            <a:r>
              <a:rPr lang="en-US" u="sng" dirty="0" smtClean="0"/>
              <a:t>changes the local origin </a:t>
            </a:r>
            <a:r>
              <a:rPr lang="en-US" dirty="0" smtClean="0"/>
              <a:t>of the light </a:t>
            </a:r>
          </a:p>
          <a:p>
            <a:pPr lvl="2"/>
            <a:r>
              <a:rPr lang="en-US" dirty="0" smtClean="0"/>
              <a:t>here, we also define directional/</a:t>
            </a:r>
            <a:r>
              <a:rPr lang="en-US" dirty="0" err="1" smtClean="0"/>
              <a:t>pointlight</a:t>
            </a:r>
            <a:r>
              <a:rPr lang="en-US" dirty="0" smtClean="0"/>
              <a:t> with 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635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FBF247FC-0B83-4E8D-B68A-75ACAFF45400}" type="slidenum">
              <a:rPr lang="nl-NL"/>
              <a:pPr/>
              <a:t>13</a:t>
            </a:fld>
            <a:endParaRPr lang="nl-NL"/>
          </a:p>
        </p:txBody>
      </p:sp>
      <p:sp>
        <p:nvSpPr>
          <p:cNvPr id="161794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Colors of light sources (1)</a:t>
            </a:r>
            <a:endParaRPr lang="en-U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6096000" cy="4191000"/>
          </a:xfrm>
        </p:spPr>
        <p:txBody>
          <a:bodyPr/>
          <a:lstStyle/>
          <a:p>
            <a:r>
              <a:rPr lang="en-US" dirty="0" smtClean="0"/>
              <a:t>Diffuse color:</a:t>
            </a:r>
          </a:p>
          <a:p>
            <a:pPr lvl="1"/>
            <a:r>
              <a:rPr lang="en-US" dirty="0" smtClean="0"/>
              <a:t>A color that is reflected in all directions on an object</a:t>
            </a:r>
          </a:p>
          <a:p>
            <a:pPr lvl="1"/>
            <a:r>
              <a:rPr lang="en-US" dirty="0" smtClean="0"/>
              <a:t>Give ‘matted' effect</a:t>
            </a:r>
          </a:p>
          <a:p>
            <a:r>
              <a:rPr lang="en-US" dirty="0" smtClean="0"/>
              <a:t>Specular color:</a:t>
            </a:r>
          </a:p>
          <a:p>
            <a:pPr lvl="1"/>
            <a:r>
              <a:rPr lang="en-US" dirty="0" smtClean="0"/>
              <a:t>Color that is mainly reflected on the normal</a:t>
            </a:r>
          </a:p>
          <a:p>
            <a:pPr lvl="1"/>
            <a:r>
              <a:rPr lang="en-US" dirty="0" smtClean="0"/>
              <a:t>Gives a mirroring effect</a:t>
            </a:r>
            <a:endParaRPr lang="en-US" dirty="0"/>
          </a:p>
        </p:txBody>
      </p:sp>
      <p:graphicFrame>
        <p:nvGraphicFramePr>
          <p:cNvPr id="161797" name="Object 5"/>
          <p:cNvGraphicFramePr>
            <a:graphicFrameLocks noChangeAspect="1"/>
          </p:cNvGraphicFramePr>
          <p:nvPr/>
        </p:nvGraphicFramePr>
        <p:xfrm>
          <a:off x="6788150" y="1676400"/>
          <a:ext cx="235585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Bitmapafbeelding" r:id="rId3" imgW="3780952" imgH="3790476" progId="Paint.Picture">
                  <p:embed/>
                </p:oleObj>
              </mc:Choice>
              <mc:Fallback>
                <p:oleObj name="Bitmapafbeelding" r:id="rId3" imgW="3780952" imgH="379047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8150" y="1676400"/>
                        <a:ext cx="2355850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8" name="Object 6"/>
          <p:cNvGraphicFramePr>
            <a:graphicFrameLocks noChangeAspect="1"/>
          </p:cNvGraphicFramePr>
          <p:nvPr/>
        </p:nvGraphicFramePr>
        <p:xfrm>
          <a:off x="6788150" y="4114800"/>
          <a:ext cx="2346325" cy="235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Bitmapafbeelding" r:id="rId5" imgW="3780952" imgH="3790476" progId="Paint.Picture">
                  <p:embed/>
                </p:oleObj>
              </mc:Choice>
              <mc:Fallback>
                <p:oleObj name="Bitmapafbeelding" r:id="rId5" imgW="3780952" imgH="379047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8150" y="4114800"/>
                        <a:ext cx="2346325" cy="235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769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7BD2A2D-B4AC-49F7-9FE5-DBFB3F6083DA}" type="slidenum">
              <a:rPr lang="nl-NL"/>
              <a:pPr/>
              <a:t>14</a:t>
            </a:fld>
            <a:endParaRPr lang="nl-NL"/>
          </a:p>
        </p:txBody>
      </p:sp>
      <p:sp>
        <p:nvSpPr>
          <p:cNvPr id="150530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Colors of light sources (2)</a:t>
            </a: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28800"/>
            <a:ext cx="7772400" cy="5029200"/>
          </a:xfrm>
        </p:spPr>
        <p:txBody>
          <a:bodyPr/>
          <a:lstStyle/>
          <a:p>
            <a:r>
              <a:rPr lang="en-US" dirty="0"/>
              <a:t>Ambient </a:t>
            </a:r>
            <a:r>
              <a:rPr lang="en-US" dirty="0" smtClean="0"/>
              <a:t>color:</a:t>
            </a:r>
            <a:endParaRPr lang="en-US" dirty="0"/>
          </a:p>
          <a:p>
            <a:pPr lvl="1"/>
            <a:r>
              <a:rPr lang="en-US" dirty="0"/>
              <a:t>Models ‘all around' </a:t>
            </a:r>
            <a:r>
              <a:rPr lang="en-US" dirty="0" smtClean="0"/>
              <a:t>daylight; light </a:t>
            </a:r>
            <a:r>
              <a:rPr lang="en-US" dirty="0"/>
              <a:t>that is reflected on other objects</a:t>
            </a:r>
          </a:p>
          <a:p>
            <a:pPr lvl="1"/>
            <a:r>
              <a:rPr lang="en-US" dirty="0"/>
              <a:t>Makes ‘backsides' also visible</a:t>
            </a:r>
          </a:p>
        </p:txBody>
      </p:sp>
      <p:sp>
        <p:nvSpPr>
          <p:cNvPr id="150532" name="Rectangle 4"/>
          <p:cNvSpPr>
            <a:spLocks noChangeArrowheads="1"/>
          </p:cNvSpPr>
          <p:nvPr/>
        </p:nvSpPr>
        <p:spPr bwMode="auto">
          <a:xfrm>
            <a:off x="0" y="2390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150533" name="Rectangle 5"/>
          <p:cNvSpPr>
            <a:spLocks noChangeArrowheads="1"/>
          </p:cNvSpPr>
          <p:nvPr/>
        </p:nvSpPr>
        <p:spPr bwMode="auto">
          <a:xfrm>
            <a:off x="0" y="2347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sp>
        <p:nvSpPr>
          <p:cNvPr id="15053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nl-NL"/>
          </a:p>
        </p:txBody>
      </p:sp>
      <p:graphicFrame>
        <p:nvGraphicFramePr>
          <p:cNvPr id="150535" name="Object 7"/>
          <p:cNvGraphicFramePr>
            <a:graphicFrameLocks noChangeAspect="1"/>
          </p:cNvGraphicFramePr>
          <p:nvPr/>
        </p:nvGraphicFramePr>
        <p:xfrm>
          <a:off x="762000" y="4038600"/>
          <a:ext cx="2487613" cy="250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" name="Bitmapafbeelding" r:id="rId3" imgW="3761905" imgH="3780952" progId="Paint.Picture">
                  <p:embed/>
                </p:oleObj>
              </mc:Choice>
              <mc:Fallback>
                <p:oleObj name="Bitmapafbeelding" r:id="rId3" imgW="3761905" imgH="378095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038600"/>
                        <a:ext cx="2487613" cy="250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624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5095BC9-D6CA-4390-9F0B-26BCCD36B75B}" type="slidenum">
              <a:rPr lang="nl-NL"/>
              <a:pPr/>
              <a:t>15</a:t>
            </a:fld>
            <a:endParaRPr lang="nl-NL"/>
          </a:p>
        </p:txBody>
      </p:sp>
      <p:sp>
        <p:nvSpPr>
          <p:cNvPr id="152578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Material properties</a:t>
            </a:r>
            <a:endParaRPr lang="en-US" dirty="0"/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discussed the </a:t>
            </a:r>
            <a:r>
              <a:rPr lang="en-US" u="sng" dirty="0" smtClean="0"/>
              <a:t>light sources</a:t>
            </a:r>
            <a:r>
              <a:rPr lang="en-US" dirty="0" smtClean="0"/>
              <a:t>, which can be defined and positioned independently of objects</a:t>
            </a:r>
          </a:p>
          <a:p>
            <a:r>
              <a:rPr lang="en-US" dirty="0" smtClean="0"/>
              <a:t>Now we will discuss </a:t>
            </a:r>
            <a:r>
              <a:rPr lang="en-US" u="sng" dirty="0" smtClean="0"/>
              <a:t>colors</a:t>
            </a:r>
            <a:r>
              <a:rPr lang="en-US" dirty="0" smtClean="0"/>
              <a:t> that can be given to an object, sometimes combined in the word ‘material’</a:t>
            </a:r>
          </a:p>
          <a:p>
            <a:pPr lvl="1"/>
            <a:r>
              <a:rPr lang="en-US" dirty="0"/>
              <a:t>Material </a:t>
            </a:r>
            <a:r>
              <a:rPr lang="en-US" dirty="0" smtClean="0"/>
              <a:t>colors can </a:t>
            </a:r>
            <a:r>
              <a:rPr lang="en-US" dirty="0"/>
              <a:t>sometimes be set for front faces and back faces separately</a:t>
            </a:r>
            <a:endParaRPr lang="en-US" dirty="0">
              <a:latin typeface="Courier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84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0831F8C-FCD6-480A-A30C-772A2D51E388}" type="slidenum">
              <a:rPr lang="nl-NL"/>
              <a:pPr/>
              <a:t>16</a:t>
            </a:fld>
            <a:endParaRPr lang="nl-NL"/>
          </a:p>
        </p:txBody>
      </p:sp>
      <p:sp>
        <p:nvSpPr>
          <p:cNvPr id="153602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Diffuse color</a:t>
            </a:r>
            <a:endParaRPr lang="en-US"/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8305800" cy="4191000"/>
          </a:xfrm>
        </p:spPr>
        <p:txBody>
          <a:bodyPr/>
          <a:lstStyle/>
          <a:p>
            <a:r>
              <a:rPr lang="en-US" dirty="0" smtClean="0"/>
              <a:t>Diffuse color, or matted color, or just ‘color’</a:t>
            </a:r>
          </a:p>
          <a:p>
            <a:pPr lvl="1"/>
            <a:r>
              <a:rPr lang="en-US" dirty="0" smtClean="0"/>
              <a:t>The main color of an object</a:t>
            </a:r>
          </a:p>
          <a:p>
            <a:pPr lvl="1"/>
            <a:r>
              <a:rPr lang="en-US" dirty="0" smtClean="0"/>
              <a:t>Matted color, without reflection</a:t>
            </a:r>
          </a:p>
          <a:p>
            <a:pPr lvl="1"/>
            <a:r>
              <a:rPr lang="en-US" dirty="0" smtClean="0"/>
              <a:t>Interacts with diffuse color of a light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96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5427F317-F87F-4A80-A272-347D96FF2199}" type="slidenum">
              <a:rPr lang="nl-NL"/>
              <a:pPr/>
              <a:t>17</a:t>
            </a:fld>
            <a:endParaRPr lang="nl-NL"/>
          </a:p>
        </p:txBody>
      </p:sp>
      <p:sp>
        <p:nvSpPr>
          <p:cNvPr id="15462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Specular color</a:t>
            </a:r>
            <a:endParaRPr lang="en-US"/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28800"/>
            <a:ext cx="8153400" cy="4114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Specular color</a:t>
            </a:r>
          </a:p>
          <a:p>
            <a:pPr lvl="1"/>
            <a:r>
              <a:rPr lang="en-US" dirty="0" smtClean="0"/>
              <a:t>Color of that part of the object that reflects the light source (highlight)</a:t>
            </a:r>
          </a:p>
          <a:p>
            <a:pPr lvl="1"/>
            <a:r>
              <a:rPr lang="en-US" dirty="0"/>
              <a:t>Interacts with specular </a:t>
            </a:r>
            <a:r>
              <a:rPr lang="en-US" dirty="0" smtClean="0"/>
              <a:t>color of a light source</a:t>
            </a:r>
          </a:p>
          <a:p>
            <a:r>
              <a:rPr lang="en-US" dirty="0" smtClean="0"/>
              <a:t>Shininess 0..128</a:t>
            </a:r>
          </a:p>
          <a:p>
            <a:pPr lvl="1"/>
            <a:r>
              <a:rPr lang="en-US" dirty="0" smtClean="0"/>
              <a:t>Factor that defines the level of reflectiveness</a:t>
            </a:r>
          </a:p>
          <a:p>
            <a:pPr lvl="1"/>
            <a:r>
              <a:rPr lang="en-US" dirty="0" smtClean="0"/>
              <a:t>Effect is visible as the size of the highlight</a:t>
            </a:r>
          </a:p>
          <a:p>
            <a:pPr lvl="2"/>
            <a:r>
              <a:rPr lang="en-US" dirty="0" smtClean="0"/>
              <a:t>High Shininess </a:t>
            </a:r>
            <a:r>
              <a:rPr lang="en-US" dirty="0" smtClean="0">
                <a:sym typeface="Symbol" pitchFamily="18" charset="2"/>
              </a:rPr>
              <a:t> small highlight (seems </a:t>
            </a:r>
            <a:r>
              <a:rPr lang="en-US" dirty="0" err="1" smtClean="0">
                <a:sym typeface="Symbol" pitchFamily="18" charset="2"/>
              </a:rPr>
              <a:t>mirrorlike</a:t>
            </a:r>
            <a:r>
              <a:rPr lang="en-US" dirty="0" smtClean="0">
                <a:sym typeface="Symbol" pitchFamily="18" charset="2"/>
              </a:rPr>
              <a:t>)</a:t>
            </a:r>
          </a:p>
          <a:p>
            <a:pPr lvl="2"/>
            <a:r>
              <a:rPr lang="en-US" dirty="0" smtClean="0">
                <a:sym typeface="Symbol" pitchFamily="18" charset="2"/>
              </a:rPr>
              <a:t>Low Shininess  big highlight (seems matted)</a:t>
            </a:r>
            <a:endParaRPr lang="en-US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9182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192DA-32EE-4E2C-85B6-E56E5490354A}" type="slidenum">
              <a:rPr lang="nl-NL"/>
              <a:pPr/>
              <a:t>18</a:t>
            </a:fld>
            <a:endParaRPr lang="nl-NL" dirty="0"/>
          </a:p>
        </p:txBody>
      </p:sp>
      <p:sp>
        <p:nvSpPr>
          <p:cNvPr id="155650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Emissive and ambient color</a:t>
            </a:r>
            <a:endParaRPr lang="en-US" dirty="0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8153400" cy="4191000"/>
          </a:xfrm>
        </p:spPr>
        <p:txBody>
          <a:bodyPr/>
          <a:lstStyle/>
          <a:p>
            <a:r>
              <a:rPr lang="en-US" dirty="0" smtClean="0"/>
              <a:t>Ambient color</a:t>
            </a:r>
          </a:p>
          <a:p>
            <a:pPr lvl="1"/>
            <a:r>
              <a:rPr lang="en-US" dirty="0"/>
              <a:t>Interacts with ambient </a:t>
            </a:r>
            <a:r>
              <a:rPr lang="en-US" dirty="0" smtClean="0"/>
              <a:t>color of a light source</a:t>
            </a:r>
          </a:p>
          <a:p>
            <a:r>
              <a:rPr lang="en-US" dirty="0" smtClean="0"/>
              <a:t>Emissive color</a:t>
            </a:r>
          </a:p>
          <a:p>
            <a:pPr lvl="1"/>
            <a:r>
              <a:rPr lang="en-US" dirty="0" smtClean="0"/>
              <a:t>This color is always visible, also without light source</a:t>
            </a:r>
          </a:p>
          <a:p>
            <a:pPr lvl="1"/>
            <a:r>
              <a:rPr lang="en-US" dirty="0" smtClean="0"/>
              <a:t>Example: fluorescent objects (hands of an alarm clock)</a:t>
            </a:r>
          </a:p>
          <a:p>
            <a:pPr lvl="1"/>
            <a:r>
              <a:rPr lang="en-US" dirty="0"/>
              <a:t>Interacts with no </a:t>
            </a:r>
            <a:r>
              <a:rPr lang="en-US" dirty="0" smtClean="0"/>
              <a:t>light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2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Overview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19</a:t>
            </a:fld>
            <a:endParaRPr lang="nl-NL" dirty="0"/>
          </a:p>
        </p:txBody>
      </p:sp>
      <p:sp>
        <p:nvSpPr>
          <p:cNvPr id="6" name="Tekstvak 5"/>
          <p:cNvSpPr txBox="1"/>
          <p:nvPr/>
        </p:nvSpPr>
        <p:spPr>
          <a:xfrm>
            <a:off x="3588104" y="2852936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smtClean="0"/>
              <a:t>Light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1395804" y="2276872"/>
            <a:ext cx="1112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smtClean="0"/>
              <a:t>Point Light</a:t>
            </a:r>
            <a:endParaRPr lang="nl-NL" dirty="0"/>
          </a:p>
        </p:txBody>
      </p:sp>
      <p:sp>
        <p:nvSpPr>
          <p:cNvPr id="8" name="Tekstvak 7"/>
          <p:cNvSpPr txBox="1"/>
          <p:nvPr/>
        </p:nvSpPr>
        <p:spPr>
          <a:xfrm>
            <a:off x="1395802" y="2852936"/>
            <a:ext cx="1098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smtClean="0"/>
              <a:t>Spot Light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1395804" y="3440048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 smtClean="0"/>
              <a:t>Directional</a:t>
            </a:r>
            <a:r>
              <a:rPr lang="nl-NL" dirty="0" smtClean="0"/>
              <a:t> Light</a:t>
            </a:r>
            <a:endParaRPr lang="nl-NL" dirty="0"/>
          </a:p>
        </p:txBody>
      </p:sp>
      <p:sp>
        <p:nvSpPr>
          <p:cNvPr id="10" name="Tekstvak 9"/>
          <p:cNvSpPr txBox="1"/>
          <p:nvPr/>
        </p:nvSpPr>
        <p:spPr>
          <a:xfrm>
            <a:off x="5172280" y="2852936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 smtClean="0"/>
              <a:t>Specular</a:t>
            </a:r>
            <a:r>
              <a:rPr lang="nl-NL" dirty="0" smtClean="0"/>
              <a:t> </a:t>
            </a:r>
            <a:r>
              <a:rPr lang="nl-NL" dirty="0" err="1" smtClean="0"/>
              <a:t>Color</a:t>
            </a:r>
            <a:endParaRPr lang="nl-NL" dirty="0"/>
          </a:p>
        </p:txBody>
      </p:sp>
      <p:sp>
        <p:nvSpPr>
          <p:cNvPr id="11" name="Tekstvak 10"/>
          <p:cNvSpPr txBox="1"/>
          <p:nvPr/>
        </p:nvSpPr>
        <p:spPr>
          <a:xfrm>
            <a:off x="5203538" y="2276872"/>
            <a:ext cx="13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smtClean="0"/>
              <a:t>Diffuse </a:t>
            </a:r>
            <a:r>
              <a:rPr lang="nl-NL" dirty="0" err="1" smtClean="0"/>
              <a:t>Color</a:t>
            </a:r>
            <a:endParaRPr lang="nl-NL" dirty="0"/>
          </a:p>
        </p:txBody>
      </p:sp>
      <p:sp>
        <p:nvSpPr>
          <p:cNvPr id="12" name="Tekstvak 11"/>
          <p:cNvSpPr txBox="1"/>
          <p:nvPr/>
        </p:nvSpPr>
        <p:spPr>
          <a:xfrm>
            <a:off x="5172280" y="3501008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 smtClean="0"/>
              <a:t>Ambient</a:t>
            </a:r>
            <a:r>
              <a:rPr lang="nl-NL" dirty="0" smtClean="0"/>
              <a:t> </a:t>
            </a:r>
            <a:r>
              <a:rPr lang="nl-NL" dirty="0" err="1" smtClean="0"/>
              <a:t>Color</a:t>
            </a:r>
            <a:endParaRPr lang="nl-NL" dirty="0"/>
          </a:p>
        </p:txBody>
      </p:sp>
      <p:sp>
        <p:nvSpPr>
          <p:cNvPr id="13" name="Tekstvak 12"/>
          <p:cNvSpPr txBox="1"/>
          <p:nvPr/>
        </p:nvSpPr>
        <p:spPr>
          <a:xfrm>
            <a:off x="3588104" y="5134550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smtClean="0"/>
              <a:t>Object</a:t>
            </a:r>
            <a:endParaRPr lang="nl-NL" dirty="0"/>
          </a:p>
        </p:txBody>
      </p:sp>
      <p:sp>
        <p:nvSpPr>
          <p:cNvPr id="14" name="Tekstvak 13"/>
          <p:cNvSpPr txBox="1"/>
          <p:nvPr/>
        </p:nvSpPr>
        <p:spPr>
          <a:xfrm>
            <a:off x="5172280" y="4797152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 smtClean="0"/>
              <a:t>Specular</a:t>
            </a:r>
            <a:r>
              <a:rPr lang="nl-NL" dirty="0" smtClean="0"/>
              <a:t> </a:t>
            </a:r>
            <a:r>
              <a:rPr lang="nl-NL" dirty="0" err="1" smtClean="0"/>
              <a:t>Color</a:t>
            </a:r>
            <a:endParaRPr lang="nl-NL" dirty="0"/>
          </a:p>
        </p:txBody>
      </p:sp>
      <p:sp>
        <p:nvSpPr>
          <p:cNvPr id="15" name="Tekstvak 14"/>
          <p:cNvSpPr txBox="1"/>
          <p:nvPr/>
        </p:nvSpPr>
        <p:spPr>
          <a:xfrm>
            <a:off x="5203538" y="4221088"/>
            <a:ext cx="13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smtClean="0"/>
              <a:t>Diffuse </a:t>
            </a:r>
            <a:r>
              <a:rPr lang="nl-NL" dirty="0" err="1" smtClean="0"/>
              <a:t>Color</a:t>
            </a:r>
            <a:endParaRPr lang="nl-NL" dirty="0"/>
          </a:p>
        </p:txBody>
      </p:sp>
      <p:sp>
        <p:nvSpPr>
          <p:cNvPr id="16" name="Tekstvak 15"/>
          <p:cNvSpPr txBox="1"/>
          <p:nvPr/>
        </p:nvSpPr>
        <p:spPr>
          <a:xfrm>
            <a:off x="5172280" y="5445224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 smtClean="0"/>
              <a:t>Ambient</a:t>
            </a:r>
            <a:r>
              <a:rPr lang="nl-NL" dirty="0" smtClean="0"/>
              <a:t> </a:t>
            </a:r>
            <a:r>
              <a:rPr lang="nl-NL" dirty="0" err="1" smtClean="0"/>
              <a:t>Color</a:t>
            </a:r>
            <a:endParaRPr lang="nl-NL" dirty="0"/>
          </a:p>
        </p:txBody>
      </p:sp>
      <p:sp>
        <p:nvSpPr>
          <p:cNvPr id="17" name="Tekstvak 16"/>
          <p:cNvSpPr txBox="1"/>
          <p:nvPr/>
        </p:nvSpPr>
        <p:spPr>
          <a:xfrm>
            <a:off x="5203538" y="6093296"/>
            <a:ext cx="1470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 smtClean="0"/>
              <a:t>Emissive</a:t>
            </a:r>
            <a:r>
              <a:rPr lang="nl-NL" dirty="0" smtClean="0"/>
              <a:t> </a:t>
            </a:r>
            <a:r>
              <a:rPr lang="nl-NL" dirty="0" err="1" smtClean="0"/>
              <a:t>Color</a:t>
            </a:r>
            <a:endParaRPr lang="nl-NL" dirty="0"/>
          </a:p>
        </p:txBody>
      </p:sp>
      <p:sp>
        <p:nvSpPr>
          <p:cNvPr id="18" name="Tekstvak 17"/>
          <p:cNvSpPr txBox="1"/>
          <p:nvPr/>
        </p:nvSpPr>
        <p:spPr>
          <a:xfrm>
            <a:off x="1427863" y="5134550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 err="1" smtClean="0"/>
              <a:t>Shininess</a:t>
            </a:r>
            <a:endParaRPr lang="nl-NL" dirty="0"/>
          </a:p>
        </p:txBody>
      </p:sp>
      <p:sp>
        <p:nvSpPr>
          <p:cNvPr id="19" name="Rechteraccolade 18"/>
          <p:cNvSpPr/>
          <p:nvPr/>
        </p:nvSpPr>
        <p:spPr>
          <a:xfrm>
            <a:off x="3085689" y="2276872"/>
            <a:ext cx="334183" cy="159346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Linkeraccolade 20"/>
          <p:cNvSpPr/>
          <p:nvPr/>
        </p:nvSpPr>
        <p:spPr>
          <a:xfrm>
            <a:off x="4655056" y="2276872"/>
            <a:ext cx="360040" cy="159346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Linkeraccolade 21"/>
          <p:cNvSpPr/>
          <p:nvPr/>
        </p:nvSpPr>
        <p:spPr>
          <a:xfrm>
            <a:off x="4655056" y="4221088"/>
            <a:ext cx="360040" cy="224154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Rechteraccolade 22"/>
          <p:cNvSpPr/>
          <p:nvPr/>
        </p:nvSpPr>
        <p:spPr>
          <a:xfrm>
            <a:off x="3085689" y="5062542"/>
            <a:ext cx="334183" cy="5267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Vrije vorm 26"/>
          <p:cNvSpPr/>
          <p:nvPr/>
        </p:nvSpPr>
        <p:spPr>
          <a:xfrm>
            <a:off x="6490658" y="2450592"/>
            <a:ext cx="1462514" cy="1975104"/>
          </a:xfrm>
          <a:custGeom>
            <a:avLst/>
            <a:gdLst>
              <a:gd name="connsiteX0" fmla="*/ 158496 w 1110496"/>
              <a:gd name="connsiteY0" fmla="*/ 0 h 1975104"/>
              <a:gd name="connsiteX1" fmla="*/ 1109472 w 1110496"/>
              <a:gd name="connsiteY1" fmla="*/ 1072896 h 1975104"/>
              <a:gd name="connsiteX2" fmla="*/ 0 w 1110496"/>
              <a:gd name="connsiteY2" fmla="*/ 1975104 h 1975104"/>
              <a:gd name="connsiteX0" fmla="*/ 158496 w 1110808"/>
              <a:gd name="connsiteY0" fmla="*/ 0 h 1975104"/>
              <a:gd name="connsiteX1" fmla="*/ 1109472 w 1110808"/>
              <a:gd name="connsiteY1" fmla="*/ 1072896 h 1975104"/>
              <a:gd name="connsiteX2" fmla="*/ 0 w 1110808"/>
              <a:gd name="connsiteY2" fmla="*/ 1975104 h 1975104"/>
              <a:gd name="connsiteX0" fmla="*/ 158496 w 1110808"/>
              <a:gd name="connsiteY0" fmla="*/ 0 h 1975104"/>
              <a:gd name="connsiteX1" fmla="*/ 1109472 w 1110808"/>
              <a:gd name="connsiteY1" fmla="*/ 1072896 h 1975104"/>
              <a:gd name="connsiteX2" fmla="*/ 0 w 1110808"/>
              <a:gd name="connsiteY2" fmla="*/ 1975104 h 1975104"/>
              <a:gd name="connsiteX0" fmla="*/ 60960 w 1109641"/>
              <a:gd name="connsiteY0" fmla="*/ 0 h 1975104"/>
              <a:gd name="connsiteX1" fmla="*/ 1109472 w 1109641"/>
              <a:gd name="connsiteY1" fmla="*/ 1072896 h 1975104"/>
              <a:gd name="connsiteX2" fmla="*/ 0 w 1109641"/>
              <a:gd name="connsiteY2" fmla="*/ 1975104 h 1975104"/>
              <a:gd name="connsiteX0" fmla="*/ 60960 w 1121828"/>
              <a:gd name="connsiteY0" fmla="*/ 0 h 1975104"/>
              <a:gd name="connsiteX1" fmla="*/ 1121664 w 1121828"/>
              <a:gd name="connsiteY1" fmla="*/ 865632 h 1975104"/>
              <a:gd name="connsiteX2" fmla="*/ 0 w 1121828"/>
              <a:gd name="connsiteY2" fmla="*/ 1975104 h 1975104"/>
              <a:gd name="connsiteX0" fmla="*/ 60960 w 1122718"/>
              <a:gd name="connsiteY0" fmla="*/ 0 h 1975104"/>
              <a:gd name="connsiteX1" fmla="*/ 1121664 w 1122718"/>
              <a:gd name="connsiteY1" fmla="*/ 865632 h 1975104"/>
              <a:gd name="connsiteX2" fmla="*/ 0 w 1122718"/>
              <a:gd name="connsiteY2" fmla="*/ 1975104 h 197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2718" h="1975104">
                <a:moveTo>
                  <a:pt x="60960" y="0"/>
                </a:moveTo>
                <a:cubicBezTo>
                  <a:pt x="671576" y="6096"/>
                  <a:pt x="1095248" y="536448"/>
                  <a:pt x="1121664" y="865632"/>
                </a:cubicBezTo>
                <a:cubicBezTo>
                  <a:pt x="1148080" y="1194816"/>
                  <a:pt x="675640" y="1944624"/>
                  <a:pt x="0" y="1975104"/>
                </a:cubicBezTo>
              </a:path>
            </a:pathLst>
          </a:custGeom>
          <a:ln cap="sq">
            <a:solidFill>
              <a:srgbClr val="FF0000"/>
            </a:solidFill>
            <a:prstDash val="solid"/>
            <a:round/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Vrije vorm 27"/>
          <p:cNvSpPr/>
          <p:nvPr/>
        </p:nvSpPr>
        <p:spPr>
          <a:xfrm>
            <a:off x="6876256" y="3041292"/>
            <a:ext cx="1462514" cy="1975104"/>
          </a:xfrm>
          <a:custGeom>
            <a:avLst/>
            <a:gdLst>
              <a:gd name="connsiteX0" fmla="*/ 158496 w 1110496"/>
              <a:gd name="connsiteY0" fmla="*/ 0 h 1975104"/>
              <a:gd name="connsiteX1" fmla="*/ 1109472 w 1110496"/>
              <a:gd name="connsiteY1" fmla="*/ 1072896 h 1975104"/>
              <a:gd name="connsiteX2" fmla="*/ 0 w 1110496"/>
              <a:gd name="connsiteY2" fmla="*/ 1975104 h 1975104"/>
              <a:gd name="connsiteX0" fmla="*/ 158496 w 1110808"/>
              <a:gd name="connsiteY0" fmla="*/ 0 h 1975104"/>
              <a:gd name="connsiteX1" fmla="*/ 1109472 w 1110808"/>
              <a:gd name="connsiteY1" fmla="*/ 1072896 h 1975104"/>
              <a:gd name="connsiteX2" fmla="*/ 0 w 1110808"/>
              <a:gd name="connsiteY2" fmla="*/ 1975104 h 1975104"/>
              <a:gd name="connsiteX0" fmla="*/ 158496 w 1110808"/>
              <a:gd name="connsiteY0" fmla="*/ 0 h 1975104"/>
              <a:gd name="connsiteX1" fmla="*/ 1109472 w 1110808"/>
              <a:gd name="connsiteY1" fmla="*/ 1072896 h 1975104"/>
              <a:gd name="connsiteX2" fmla="*/ 0 w 1110808"/>
              <a:gd name="connsiteY2" fmla="*/ 1975104 h 1975104"/>
              <a:gd name="connsiteX0" fmla="*/ 60960 w 1109641"/>
              <a:gd name="connsiteY0" fmla="*/ 0 h 1975104"/>
              <a:gd name="connsiteX1" fmla="*/ 1109472 w 1109641"/>
              <a:gd name="connsiteY1" fmla="*/ 1072896 h 1975104"/>
              <a:gd name="connsiteX2" fmla="*/ 0 w 1109641"/>
              <a:gd name="connsiteY2" fmla="*/ 1975104 h 1975104"/>
              <a:gd name="connsiteX0" fmla="*/ 60960 w 1121828"/>
              <a:gd name="connsiteY0" fmla="*/ 0 h 1975104"/>
              <a:gd name="connsiteX1" fmla="*/ 1121664 w 1121828"/>
              <a:gd name="connsiteY1" fmla="*/ 865632 h 1975104"/>
              <a:gd name="connsiteX2" fmla="*/ 0 w 1121828"/>
              <a:gd name="connsiteY2" fmla="*/ 1975104 h 1975104"/>
              <a:gd name="connsiteX0" fmla="*/ 60960 w 1122718"/>
              <a:gd name="connsiteY0" fmla="*/ 0 h 1975104"/>
              <a:gd name="connsiteX1" fmla="*/ 1121664 w 1122718"/>
              <a:gd name="connsiteY1" fmla="*/ 865632 h 1975104"/>
              <a:gd name="connsiteX2" fmla="*/ 0 w 1122718"/>
              <a:gd name="connsiteY2" fmla="*/ 1975104 h 197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2718" h="1975104">
                <a:moveTo>
                  <a:pt x="60960" y="0"/>
                </a:moveTo>
                <a:cubicBezTo>
                  <a:pt x="671576" y="6096"/>
                  <a:pt x="1095248" y="536448"/>
                  <a:pt x="1121664" y="865632"/>
                </a:cubicBezTo>
                <a:cubicBezTo>
                  <a:pt x="1148080" y="1194816"/>
                  <a:pt x="675640" y="1944624"/>
                  <a:pt x="0" y="1975104"/>
                </a:cubicBezTo>
              </a:path>
            </a:pathLst>
          </a:custGeom>
          <a:ln>
            <a:solidFill>
              <a:srgbClr val="00B050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Vrije vorm 28"/>
          <p:cNvSpPr/>
          <p:nvPr/>
        </p:nvSpPr>
        <p:spPr>
          <a:xfrm>
            <a:off x="6669742" y="3704706"/>
            <a:ext cx="1462514" cy="1975104"/>
          </a:xfrm>
          <a:custGeom>
            <a:avLst/>
            <a:gdLst>
              <a:gd name="connsiteX0" fmla="*/ 158496 w 1110496"/>
              <a:gd name="connsiteY0" fmla="*/ 0 h 1975104"/>
              <a:gd name="connsiteX1" fmla="*/ 1109472 w 1110496"/>
              <a:gd name="connsiteY1" fmla="*/ 1072896 h 1975104"/>
              <a:gd name="connsiteX2" fmla="*/ 0 w 1110496"/>
              <a:gd name="connsiteY2" fmla="*/ 1975104 h 1975104"/>
              <a:gd name="connsiteX0" fmla="*/ 158496 w 1110808"/>
              <a:gd name="connsiteY0" fmla="*/ 0 h 1975104"/>
              <a:gd name="connsiteX1" fmla="*/ 1109472 w 1110808"/>
              <a:gd name="connsiteY1" fmla="*/ 1072896 h 1975104"/>
              <a:gd name="connsiteX2" fmla="*/ 0 w 1110808"/>
              <a:gd name="connsiteY2" fmla="*/ 1975104 h 1975104"/>
              <a:gd name="connsiteX0" fmla="*/ 158496 w 1110808"/>
              <a:gd name="connsiteY0" fmla="*/ 0 h 1975104"/>
              <a:gd name="connsiteX1" fmla="*/ 1109472 w 1110808"/>
              <a:gd name="connsiteY1" fmla="*/ 1072896 h 1975104"/>
              <a:gd name="connsiteX2" fmla="*/ 0 w 1110808"/>
              <a:gd name="connsiteY2" fmla="*/ 1975104 h 1975104"/>
              <a:gd name="connsiteX0" fmla="*/ 60960 w 1109641"/>
              <a:gd name="connsiteY0" fmla="*/ 0 h 1975104"/>
              <a:gd name="connsiteX1" fmla="*/ 1109472 w 1109641"/>
              <a:gd name="connsiteY1" fmla="*/ 1072896 h 1975104"/>
              <a:gd name="connsiteX2" fmla="*/ 0 w 1109641"/>
              <a:gd name="connsiteY2" fmla="*/ 1975104 h 1975104"/>
              <a:gd name="connsiteX0" fmla="*/ 60960 w 1121828"/>
              <a:gd name="connsiteY0" fmla="*/ 0 h 1975104"/>
              <a:gd name="connsiteX1" fmla="*/ 1121664 w 1121828"/>
              <a:gd name="connsiteY1" fmla="*/ 865632 h 1975104"/>
              <a:gd name="connsiteX2" fmla="*/ 0 w 1121828"/>
              <a:gd name="connsiteY2" fmla="*/ 1975104 h 1975104"/>
              <a:gd name="connsiteX0" fmla="*/ 60960 w 1122718"/>
              <a:gd name="connsiteY0" fmla="*/ 0 h 1975104"/>
              <a:gd name="connsiteX1" fmla="*/ 1121664 w 1122718"/>
              <a:gd name="connsiteY1" fmla="*/ 865632 h 1975104"/>
              <a:gd name="connsiteX2" fmla="*/ 0 w 1122718"/>
              <a:gd name="connsiteY2" fmla="*/ 1975104 h 1975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2718" h="1975104">
                <a:moveTo>
                  <a:pt x="60960" y="0"/>
                </a:moveTo>
                <a:cubicBezTo>
                  <a:pt x="671576" y="6096"/>
                  <a:pt x="1095248" y="536448"/>
                  <a:pt x="1121664" y="865632"/>
                </a:cubicBezTo>
                <a:cubicBezTo>
                  <a:pt x="1148080" y="1194816"/>
                  <a:pt x="675640" y="1944624"/>
                  <a:pt x="0" y="1975104"/>
                </a:cubicBezTo>
              </a:path>
            </a:pathLst>
          </a:custGeom>
          <a:ln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0" name="Tekstvak 29"/>
          <p:cNvSpPr txBox="1"/>
          <p:nvPr/>
        </p:nvSpPr>
        <p:spPr>
          <a:xfrm rot="5400000">
            <a:off x="6501281" y="3798012"/>
            <a:ext cx="2212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400" dirty="0" err="1" smtClean="0">
                <a:latin typeface="Courier New" pitchFamily="49" charset="0"/>
                <a:cs typeface="Courier New" pitchFamily="49" charset="0"/>
              </a:rPr>
              <a:t>Interaction</a:t>
            </a:r>
            <a:endParaRPr lang="nl-NL" sz="2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37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20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order to show the effect of light sources, material colors and shininess, ‘surface </a:t>
            </a:r>
            <a:r>
              <a:rPr lang="en-US" dirty="0" err="1" smtClean="0"/>
              <a:t>normals</a:t>
            </a:r>
            <a:r>
              <a:rPr lang="en-US" dirty="0" smtClean="0"/>
              <a:t>’ are needed</a:t>
            </a:r>
          </a:p>
          <a:p>
            <a:r>
              <a:rPr lang="en-US" dirty="0" smtClean="0"/>
              <a:t>A surface normal (‘normal vector’, or shortly ‘normal’) is a vector that</a:t>
            </a:r>
          </a:p>
          <a:p>
            <a:pPr lvl="1"/>
            <a:r>
              <a:rPr lang="en-US" dirty="0" smtClean="0"/>
              <a:t>is perpendicular to the surface of the object</a:t>
            </a:r>
          </a:p>
          <a:p>
            <a:pPr lvl="1"/>
            <a:r>
              <a:rPr lang="en-US" dirty="0" smtClean="0"/>
              <a:t>is pointing outwards</a:t>
            </a:r>
          </a:p>
          <a:p>
            <a:pPr lvl="1"/>
            <a:r>
              <a:rPr lang="en-US" dirty="0" smtClean="0"/>
              <a:t>has length 1</a:t>
            </a:r>
            <a:endParaRPr 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005064"/>
            <a:ext cx="4752975" cy="2655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8431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</a:t>
            </a:r>
            <a:r>
              <a:rPr lang="en-US" dirty="0" err="1" smtClean="0"/>
              <a:t>normals</a:t>
            </a:r>
            <a:r>
              <a:rPr lang="en-US" dirty="0" smtClean="0"/>
              <a:t> in </a:t>
            </a:r>
            <a:r>
              <a:rPr lang="en-US" dirty="0" err="1" smtClean="0"/>
              <a:t>Vizard</a:t>
            </a:r>
            <a:r>
              <a:rPr lang="en-US" dirty="0" smtClean="0"/>
              <a:t> (1)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21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Use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viz.normal</a:t>
            </a:r>
            <a:r>
              <a:rPr lang="en-US" dirty="0" smtClean="0"/>
              <a:t> before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viz.vertex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viz.startLayer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viz.POLYGON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viz.normal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(0,0,-1)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viz.vertex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(0.5,1,10)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viz.normal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(0,0,-1)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viz.vertex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(1.5,1,10)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viz.normal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(0,0,-1)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viz.vertex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(1.5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,-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1,10)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viz.normal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(0,0,-1)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viz.vertex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(0.5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,-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1,10)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myPoints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viz.endLayer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27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</a:t>
            </a:r>
            <a:r>
              <a:rPr lang="en-US" dirty="0" err="1" smtClean="0"/>
              <a:t>normals</a:t>
            </a:r>
            <a:r>
              <a:rPr lang="en-US" dirty="0" smtClean="0"/>
              <a:t> in </a:t>
            </a:r>
            <a:r>
              <a:rPr lang="en-US" dirty="0" err="1" smtClean="0"/>
              <a:t>Vizard</a:t>
            </a:r>
            <a:r>
              <a:rPr lang="en-US" dirty="0" smtClean="0"/>
              <a:t> (2)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22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If all </a:t>
            </a:r>
            <a:r>
              <a:rPr lang="en-US" dirty="0" err="1" smtClean="0"/>
              <a:t>normals</a:t>
            </a:r>
            <a:r>
              <a:rPr lang="en-US" dirty="0" smtClean="0"/>
              <a:t> in a polygon are the same, use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viz.normal</a:t>
            </a:r>
            <a:r>
              <a:rPr lang="en-US" dirty="0" smtClean="0"/>
              <a:t> only once:</a:t>
            </a:r>
          </a:p>
          <a:p>
            <a:pPr lvl="1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viz.startLayer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viz.POLYGON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viz.normal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(0,0,-1)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viz.vertex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(0.5,1,10)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viz.vertex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(1.5,1,10)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viz.vertex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(1.5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,-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1,10)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viz.vertex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(0.5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,-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1,10)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myPoints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viz.endLayer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24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In Unity, for each object we define a list of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vertices</a:t>
            </a:r>
            <a:r>
              <a:rPr lang="en-US" dirty="0" smtClean="0"/>
              <a:t> (in random order), and a list of indices that define the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triangles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vertices</a:t>
            </a:r>
            <a:r>
              <a:rPr lang="en-US" dirty="0" smtClean="0"/>
              <a:t>: [(0,0,0), (1,0,0), (1,1,0), (0,1,0)]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riangles</a:t>
            </a:r>
            <a:r>
              <a:rPr lang="en-US" dirty="0" smtClean="0"/>
              <a:t>: [0, 1, 2, 0, 2, 3]</a:t>
            </a:r>
          </a:p>
          <a:p>
            <a:pPr lvl="1"/>
            <a:endParaRPr lang="en-US" dirty="0"/>
          </a:p>
          <a:p>
            <a:r>
              <a:rPr lang="en-US" dirty="0"/>
              <a:t>For each vertex in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array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vertices</a:t>
            </a:r>
            <a:r>
              <a:rPr lang="en-US" dirty="0"/>
              <a:t>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we </a:t>
            </a:r>
            <a:r>
              <a:rPr lang="en-US" dirty="0"/>
              <a:t>define the normal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 </a:t>
            </a:r>
            <a:r>
              <a:rPr lang="en-US" dirty="0"/>
              <a:t>array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normals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</a:t>
            </a:r>
            <a:r>
              <a:rPr lang="en-US" dirty="0" err="1" smtClean="0"/>
              <a:t>normals</a:t>
            </a:r>
            <a:r>
              <a:rPr lang="en-US" dirty="0" smtClean="0"/>
              <a:t> in Unity</a:t>
            </a:r>
            <a:endParaRPr lang="nl-N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23</a:t>
            </a:fld>
            <a:endParaRPr lang="nl-NL"/>
          </a:p>
        </p:txBody>
      </p:sp>
      <p:sp>
        <p:nvSpPr>
          <p:cNvPr id="5" name="Oval 4"/>
          <p:cNvSpPr/>
          <p:nvPr/>
        </p:nvSpPr>
        <p:spPr>
          <a:xfrm>
            <a:off x="5892731" y="465584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Oval 6"/>
          <p:cNvSpPr/>
          <p:nvPr/>
        </p:nvSpPr>
        <p:spPr>
          <a:xfrm>
            <a:off x="7476907" y="465584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Oval 7"/>
          <p:cNvSpPr/>
          <p:nvPr/>
        </p:nvSpPr>
        <p:spPr>
          <a:xfrm>
            <a:off x="5892731" y="602399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Oval 8"/>
          <p:cNvSpPr/>
          <p:nvPr/>
        </p:nvSpPr>
        <p:spPr>
          <a:xfrm>
            <a:off x="7476907" y="602399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xtBox 9"/>
          <p:cNvSpPr txBox="1"/>
          <p:nvPr/>
        </p:nvSpPr>
        <p:spPr>
          <a:xfrm>
            <a:off x="5809087" y="610040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</a:t>
            </a:r>
            <a:endParaRPr lang="nl-NL" dirty="0"/>
          </a:p>
        </p:txBody>
      </p:sp>
      <p:sp>
        <p:nvSpPr>
          <p:cNvPr id="11" name="TextBox 10"/>
          <p:cNvSpPr txBox="1"/>
          <p:nvPr/>
        </p:nvSpPr>
        <p:spPr>
          <a:xfrm>
            <a:off x="7393263" y="610040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nl-NL" dirty="0"/>
          </a:p>
        </p:txBody>
      </p:sp>
      <p:sp>
        <p:nvSpPr>
          <p:cNvPr id="12" name="TextBox 11"/>
          <p:cNvSpPr txBox="1"/>
          <p:nvPr/>
        </p:nvSpPr>
        <p:spPr>
          <a:xfrm>
            <a:off x="5809087" y="43446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nl-NL" dirty="0"/>
          </a:p>
        </p:txBody>
      </p:sp>
      <p:sp>
        <p:nvSpPr>
          <p:cNvPr id="13" name="TextBox 12"/>
          <p:cNvSpPr txBox="1"/>
          <p:nvPr/>
        </p:nvSpPr>
        <p:spPr>
          <a:xfrm>
            <a:off x="7393263" y="434464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nl-NL" dirty="0"/>
          </a:p>
        </p:txBody>
      </p:sp>
      <p:sp>
        <p:nvSpPr>
          <p:cNvPr id="15" name="Right Triangle 14"/>
          <p:cNvSpPr/>
          <p:nvPr/>
        </p:nvSpPr>
        <p:spPr>
          <a:xfrm>
            <a:off x="6036747" y="4702535"/>
            <a:ext cx="1512606" cy="1393751"/>
          </a:xfrm>
          <a:custGeom>
            <a:avLst/>
            <a:gdLst>
              <a:gd name="connsiteX0" fmla="*/ 0 w 1440160"/>
              <a:gd name="connsiteY0" fmla="*/ 1385206 h 1385206"/>
              <a:gd name="connsiteX1" fmla="*/ 0 w 1440160"/>
              <a:gd name="connsiteY1" fmla="*/ 0 h 1385206"/>
              <a:gd name="connsiteX2" fmla="*/ 1440160 w 1440160"/>
              <a:gd name="connsiteY2" fmla="*/ 1385206 h 1385206"/>
              <a:gd name="connsiteX3" fmla="*/ 0 w 1440160"/>
              <a:gd name="connsiteY3" fmla="*/ 1385206 h 1385206"/>
              <a:gd name="connsiteX0" fmla="*/ 0 w 1512606"/>
              <a:gd name="connsiteY0" fmla="*/ 1436480 h 1436480"/>
              <a:gd name="connsiteX1" fmla="*/ 1512606 w 1512606"/>
              <a:gd name="connsiteY1" fmla="*/ 0 h 1436480"/>
              <a:gd name="connsiteX2" fmla="*/ 1440160 w 1512606"/>
              <a:gd name="connsiteY2" fmla="*/ 1436480 h 1436480"/>
              <a:gd name="connsiteX3" fmla="*/ 0 w 1512606"/>
              <a:gd name="connsiteY3" fmla="*/ 1436480 h 1436480"/>
              <a:gd name="connsiteX0" fmla="*/ 0 w 1512606"/>
              <a:gd name="connsiteY0" fmla="*/ 1436480 h 1436480"/>
              <a:gd name="connsiteX1" fmla="*/ 1512606 w 1512606"/>
              <a:gd name="connsiteY1" fmla="*/ 0 h 1436480"/>
              <a:gd name="connsiteX2" fmla="*/ 1508527 w 1512606"/>
              <a:gd name="connsiteY2" fmla="*/ 1393751 h 1436480"/>
              <a:gd name="connsiteX3" fmla="*/ 0 w 1512606"/>
              <a:gd name="connsiteY3" fmla="*/ 1436480 h 1436480"/>
              <a:gd name="connsiteX0" fmla="*/ 0 w 1512606"/>
              <a:gd name="connsiteY0" fmla="*/ 1393751 h 1393751"/>
              <a:gd name="connsiteX1" fmla="*/ 1512606 w 1512606"/>
              <a:gd name="connsiteY1" fmla="*/ 0 h 1393751"/>
              <a:gd name="connsiteX2" fmla="*/ 1508527 w 1512606"/>
              <a:gd name="connsiteY2" fmla="*/ 1393751 h 1393751"/>
              <a:gd name="connsiteX3" fmla="*/ 0 w 1512606"/>
              <a:gd name="connsiteY3" fmla="*/ 1393751 h 1393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2606" h="1393751">
                <a:moveTo>
                  <a:pt x="0" y="1393751"/>
                </a:moveTo>
                <a:lnTo>
                  <a:pt x="1512606" y="0"/>
                </a:lnTo>
                <a:cubicBezTo>
                  <a:pt x="1511246" y="464584"/>
                  <a:pt x="1509887" y="929167"/>
                  <a:pt x="1508527" y="1393751"/>
                </a:cubicBezTo>
                <a:lnTo>
                  <a:pt x="0" y="1393751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ight Triangle 14"/>
          <p:cNvSpPr/>
          <p:nvPr/>
        </p:nvSpPr>
        <p:spPr>
          <a:xfrm rot="10800000">
            <a:off x="5964301" y="4706941"/>
            <a:ext cx="1512606" cy="1393751"/>
          </a:xfrm>
          <a:custGeom>
            <a:avLst/>
            <a:gdLst>
              <a:gd name="connsiteX0" fmla="*/ 0 w 1440160"/>
              <a:gd name="connsiteY0" fmla="*/ 1385206 h 1385206"/>
              <a:gd name="connsiteX1" fmla="*/ 0 w 1440160"/>
              <a:gd name="connsiteY1" fmla="*/ 0 h 1385206"/>
              <a:gd name="connsiteX2" fmla="*/ 1440160 w 1440160"/>
              <a:gd name="connsiteY2" fmla="*/ 1385206 h 1385206"/>
              <a:gd name="connsiteX3" fmla="*/ 0 w 1440160"/>
              <a:gd name="connsiteY3" fmla="*/ 1385206 h 1385206"/>
              <a:gd name="connsiteX0" fmla="*/ 0 w 1512606"/>
              <a:gd name="connsiteY0" fmla="*/ 1436480 h 1436480"/>
              <a:gd name="connsiteX1" fmla="*/ 1512606 w 1512606"/>
              <a:gd name="connsiteY1" fmla="*/ 0 h 1436480"/>
              <a:gd name="connsiteX2" fmla="*/ 1440160 w 1512606"/>
              <a:gd name="connsiteY2" fmla="*/ 1436480 h 1436480"/>
              <a:gd name="connsiteX3" fmla="*/ 0 w 1512606"/>
              <a:gd name="connsiteY3" fmla="*/ 1436480 h 1436480"/>
              <a:gd name="connsiteX0" fmla="*/ 0 w 1512606"/>
              <a:gd name="connsiteY0" fmla="*/ 1436480 h 1436480"/>
              <a:gd name="connsiteX1" fmla="*/ 1512606 w 1512606"/>
              <a:gd name="connsiteY1" fmla="*/ 0 h 1436480"/>
              <a:gd name="connsiteX2" fmla="*/ 1508527 w 1512606"/>
              <a:gd name="connsiteY2" fmla="*/ 1393751 h 1436480"/>
              <a:gd name="connsiteX3" fmla="*/ 0 w 1512606"/>
              <a:gd name="connsiteY3" fmla="*/ 1436480 h 1436480"/>
              <a:gd name="connsiteX0" fmla="*/ 0 w 1512606"/>
              <a:gd name="connsiteY0" fmla="*/ 1393751 h 1393751"/>
              <a:gd name="connsiteX1" fmla="*/ 1512606 w 1512606"/>
              <a:gd name="connsiteY1" fmla="*/ 0 h 1393751"/>
              <a:gd name="connsiteX2" fmla="*/ 1508527 w 1512606"/>
              <a:gd name="connsiteY2" fmla="*/ 1393751 h 1393751"/>
              <a:gd name="connsiteX3" fmla="*/ 0 w 1512606"/>
              <a:gd name="connsiteY3" fmla="*/ 1393751 h 1393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2606" h="1393751">
                <a:moveTo>
                  <a:pt x="0" y="1393751"/>
                </a:moveTo>
                <a:lnTo>
                  <a:pt x="1512606" y="0"/>
                </a:lnTo>
                <a:cubicBezTo>
                  <a:pt x="1511246" y="464584"/>
                  <a:pt x="1509887" y="929167"/>
                  <a:pt x="1508527" y="1393751"/>
                </a:cubicBezTo>
                <a:lnTo>
                  <a:pt x="0" y="1393751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ight Brace 17"/>
          <p:cNvSpPr/>
          <p:nvPr/>
        </p:nvSpPr>
        <p:spPr>
          <a:xfrm rot="5400000">
            <a:off x="3749630" y="4149558"/>
            <a:ext cx="241526" cy="864428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ight Brace 18"/>
          <p:cNvSpPr/>
          <p:nvPr/>
        </p:nvSpPr>
        <p:spPr>
          <a:xfrm rot="5400000">
            <a:off x="4787673" y="4149558"/>
            <a:ext cx="241526" cy="864428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870393" y="4727848"/>
            <a:ext cx="3246474" cy="9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908436" y="4726635"/>
            <a:ext cx="1560359" cy="338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46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Lighting calculations: ambient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24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Formula for ambient color:</a:t>
            </a:r>
          </a:p>
          <a:p>
            <a:pPr lvl="1"/>
            <a:r>
              <a:rPr lang="en-US" dirty="0" err="1" smtClean="0"/>
              <a:t>C</a:t>
            </a:r>
            <a:r>
              <a:rPr lang="en-US" baseline="-25000" dirty="0" err="1" smtClean="0"/>
              <a:t>a</a:t>
            </a:r>
            <a:r>
              <a:rPr lang="en-US" dirty="0" smtClean="0"/>
              <a:t> = M</a:t>
            </a:r>
            <a:r>
              <a:rPr lang="en-US" baseline="-25000" dirty="0" smtClean="0"/>
              <a:t>a</a:t>
            </a:r>
            <a:r>
              <a:rPr lang="en-US" dirty="0" smtClean="0"/>
              <a:t> * L</a:t>
            </a:r>
            <a:r>
              <a:rPr lang="en-US" baseline="-25000" dirty="0" smtClean="0"/>
              <a:t>a</a:t>
            </a:r>
            <a:endParaRPr lang="en-US" dirty="0" smtClean="0"/>
          </a:p>
          <a:p>
            <a:pPr lvl="1"/>
            <a:r>
              <a:rPr lang="en-US" dirty="0" smtClean="0"/>
              <a:t>In words: actual ambient color (</a:t>
            </a:r>
            <a:r>
              <a:rPr lang="en-US" dirty="0" err="1" smtClean="0"/>
              <a:t>C</a:t>
            </a:r>
            <a:r>
              <a:rPr lang="en-US" baseline="-25000" dirty="0" err="1" smtClean="0"/>
              <a:t>a</a:t>
            </a:r>
            <a:r>
              <a:rPr lang="en-US" dirty="0" smtClean="0"/>
              <a:t>) is the product of material ambient color (M</a:t>
            </a:r>
            <a:r>
              <a:rPr lang="en-US" baseline="-25000" dirty="0" smtClean="0"/>
              <a:t>a</a:t>
            </a:r>
            <a:r>
              <a:rPr lang="en-US" dirty="0" smtClean="0"/>
              <a:t>) and light source ambient color (L</a:t>
            </a:r>
            <a:r>
              <a:rPr lang="en-US" baseline="-25000" dirty="0" smtClean="0"/>
              <a:t>a</a:t>
            </a:r>
            <a:r>
              <a:rPr lang="en-US" dirty="0"/>
              <a:t>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Consequences:</a:t>
            </a:r>
          </a:p>
          <a:p>
            <a:pPr lvl="1"/>
            <a:r>
              <a:rPr lang="en-US" dirty="0" smtClean="0"/>
              <a:t>Normal is irrelevant</a:t>
            </a:r>
          </a:p>
          <a:p>
            <a:pPr lvl="1"/>
            <a:r>
              <a:rPr lang="en-US" dirty="0" smtClean="0"/>
              <a:t>Position of viewer is irrelevant</a:t>
            </a:r>
          </a:p>
        </p:txBody>
      </p:sp>
    </p:spTree>
    <p:extLst>
      <p:ext uri="{BB962C8B-B14F-4D97-AF65-F5344CB8AC3E}">
        <p14:creationId xmlns:p14="http://schemas.microsoft.com/office/powerpoint/2010/main" val="2238063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Lighting calculations: diffuse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25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Formula for diffuse color:</a:t>
            </a:r>
          </a:p>
          <a:p>
            <a:pPr lvl="1"/>
            <a:r>
              <a:rPr lang="en-US" dirty="0" smtClean="0"/>
              <a:t>C</a:t>
            </a:r>
            <a:r>
              <a:rPr lang="en-US" baseline="-25000" dirty="0" smtClean="0"/>
              <a:t>d</a:t>
            </a:r>
            <a:r>
              <a:rPr lang="en-US" dirty="0" smtClean="0"/>
              <a:t> = </a:t>
            </a:r>
            <a:r>
              <a:rPr lang="en-US" dirty="0" err="1" smtClean="0"/>
              <a:t>M</a:t>
            </a:r>
            <a:r>
              <a:rPr lang="en-US" baseline="-25000" dirty="0" err="1" smtClean="0"/>
              <a:t>d</a:t>
            </a:r>
            <a:r>
              <a:rPr lang="en-US" dirty="0" smtClean="0"/>
              <a:t> * </a:t>
            </a:r>
            <a:r>
              <a:rPr lang="en-US" dirty="0" err="1" smtClean="0"/>
              <a:t>L</a:t>
            </a:r>
            <a:r>
              <a:rPr lang="en-US" baseline="-25000" dirty="0" err="1" smtClean="0"/>
              <a:t>d</a:t>
            </a:r>
            <a:r>
              <a:rPr lang="en-US" dirty="0" smtClean="0"/>
              <a:t> * (</a:t>
            </a:r>
            <a:r>
              <a:rPr lang="en-US" dirty="0" err="1" smtClean="0"/>
              <a:t>n.l</a:t>
            </a:r>
            <a:r>
              <a:rPr lang="en-US" dirty="0" smtClean="0"/>
              <a:t>) </a:t>
            </a:r>
          </a:p>
          <a:p>
            <a:pPr lvl="1"/>
            <a:r>
              <a:rPr lang="en-US" dirty="0" smtClean="0"/>
              <a:t>In words: like ambient color, but </a:t>
            </a:r>
            <a:br>
              <a:rPr lang="en-US" dirty="0" smtClean="0"/>
            </a:br>
            <a:r>
              <a:rPr lang="en-US" dirty="0" smtClean="0"/>
              <a:t>multiplied by the dot product </a:t>
            </a:r>
            <a:br>
              <a:rPr lang="en-US" dirty="0" smtClean="0"/>
            </a:br>
            <a:r>
              <a:rPr lang="en-US" dirty="0" smtClean="0"/>
              <a:t>of the vertex normal n and the vector to the light l</a:t>
            </a:r>
          </a:p>
          <a:p>
            <a:pPr lvl="1"/>
            <a:r>
              <a:rPr lang="en-US" dirty="0" smtClean="0"/>
              <a:t>This also </a:t>
            </a:r>
            <a:r>
              <a:rPr lang="en-US" smtClean="0"/>
              <a:t>has to </a:t>
            </a:r>
            <a:r>
              <a:rPr lang="en-US" dirty="0" smtClean="0"/>
              <a:t>be multiplied by the attenuation factor</a:t>
            </a:r>
          </a:p>
          <a:p>
            <a:r>
              <a:rPr lang="en-US" dirty="0" smtClean="0"/>
              <a:t>Consequences:</a:t>
            </a:r>
          </a:p>
          <a:p>
            <a:pPr lvl="1"/>
            <a:r>
              <a:rPr lang="en-US" dirty="0" smtClean="0"/>
              <a:t>Actual color depends on normal</a:t>
            </a:r>
          </a:p>
          <a:p>
            <a:pPr lvl="2"/>
            <a:r>
              <a:rPr lang="en-US" dirty="0" smtClean="0"/>
              <a:t>Color is brighter when light source </a:t>
            </a:r>
            <a:br>
              <a:rPr lang="en-US" dirty="0" smtClean="0"/>
            </a:br>
            <a:r>
              <a:rPr lang="en-US" dirty="0" smtClean="0"/>
              <a:t>is closer to normal</a:t>
            </a:r>
          </a:p>
          <a:p>
            <a:pPr lvl="1"/>
            <a:r>
              <a:rPr lang="en-US" dirty="0" smtClean="0"/>
              <a:t>Position of viewer is irrelevant</a:t>
            </a:r>
          </a:p>
          <a:p>
            <a:pPr lvl="1"/>
            <a:endParaRPr lang="en-US" dirty="0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7646" y="4581128"/>
            <a:ext cx="3328688" cy="210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3" y="1628800"/>
            <a:ext cx="3635897" cy="1709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538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Lighting calculations: specular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26</a:t>
            </a:fld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Formula for specular color:</a:t>
            </a:r>
          </a:p>
          <a:p>
            <a:pPr lvl="1"/>
            <a:r>
              <a:rPr lang="en-US" dirty="0" smtClean="0"/>
              <a:t>C</a:t>
            </a:r>
            <a:r>
              <a:rPr lang="en-US" baseline="-25000" dirty="0" smtClean="0"/>
              <a:t>s</a:t>
            </a:r>
            <a:r>
              <a:rPr lang="en-US" dirty="0" smtClean="0"/>
              <a:t> = </a:t>
            </a:r>
            <a:r>
              <a:rPr lang="en-US" dirty="0" err="1" smtClean="0"/>
              <a:t>M</a:t>
            </a:r>
            <a:r>
              <a:rPr lang="en-US" baseline="-25000" dirty="0" err="1" smtClean="0"/>
              <a:t>s</a:t>
            </a:r>
            <a:r>
              <a:rPr lang="en-US" dirty="0" smtClean="0"/>
              <a:t> * </a:t>
            </a:r>
            <a:r>
              <a:rPr lang="en-US" dirty="0" err="1" smtClean="0"/>
              <a:t>L</a:t>
            </a:r>
            <a:r>
              <a:rPr lang="en-US" baseline="-25000" dirty="0" err="1" smtClean="0"/>
              <a:t>s</a:t>
            </a:r>
            <a:r>
              <a:rPr lang="en-US" dirty="0" smtClean="0"/>
              <a:t> * (</a:t>
            </a:r>
            <a:r>
              <a:rPr lang="en-US" dirty="0" err="1" smtClean="0"/>
              <a:t>r.v</a:t>
            </a:r>
            <a:r>
              <a:rPr lang="en-US" dirty="0" smtClean="0"/>
              <a:t>)</a:t>
            </a:r>
            <a:r>
              <a:rPr lang="en-US" baseline="30000" dirty="0" err="1" smtClean="0"/>
              <a:t>sh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In words: like ambient color, </a:t>
            </a:r>
            <a:br>
              <a:rPr lang="en-US" dirty="0" smtClean="0"/>
            </a:br>
            <a:r>
              <a:rPr lang="en-US" dirty="0" smtClean="0"/>
              <a:t>but multiplied by the dot</a:t>
            </a:r>
            <a:br>
              <a:rPr lang="en-US" dirty="0" smtClean="0"/>
            </a:br>
            <a:r>
              <a:rPr lang="en-US" dirty="0" smtClean="0"/>
              <a:t>product of the reflected light vector r and the vector to the viewer v, to the power shininess </a:t>
            </a:r>
            <a:r>
              <a:rPr lang="en-US" dirty="0" err="1" smtClean="0"/>
              <a:t>sh</a:t>
            </a:r>
            <a:endParaRPr lang="en-US" dirty="0" smtClean="0"/>
          </a:p>
          <a:p>
            <a:r>
              <a:rPr lang="en-US" dirty="0" smtClean="0"/>
              <a:t>Consequences:</a:t>
            </a:r>
          </a:p>
          <a:p>
            <a:pPr lvl="1"/>
            <a:r>
              <a:rPr lang="en-US" dirty="0" smtClean="0"/>
              <a:t>Actual color depends on normal, </a:t>
            </a:r>
            <a:br>
              <a:rPr lang="en-US" dirty="0" smtClean="0"/>
            </a:br>
            <a:r>
              <a:rPr lang="en-US" dirty="0" smtClean="0"/>
              <a:t>light source position and viewer </a:t>
            </a:r>
            <a:br>
              <a:rPr lang="en-US" dirty="0" smtClean="0"/>
            </a:br>
            <a:r>
              <a:rPr lang="en-US" dirty="0" smtClean="0"/>
              <a:t>position</a:t>
            </a:r>
          </a:p>
          <a:p>
            <a:pPr lvl="2"/>
            <a:r>
              <a:rPr lang="en-US" dirty="0" smtClean="0"/>
              <a:t>Color is brighter when viewer is </a:t>
            </a:r>
            <a:br>
              <a:rPr lang="en-US" dirty="0" smtClean="0"/>
            </a:br>
            <a:r>
              <a:rPr lang="en-US" dirty="0" smtClean="0"/>
              <a:t>closer to reflected </a:t>
            </a:r>
            <a:r>
              <a:rPr lang="en-US" dirty="0" err="1" smtClean="0"/>
              <a:t>lightbeam</a:t>
            </a:r>
            <a:endParaRPr lang="en-US" dirty="0"/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6851" y="4581128"/>
            <a:ext cx="3352245" cy="2122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008" y="1538295"/>
            <a:ext cx="3480992" cy="1746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900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 specular calculation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3E084DE-2573-4C98-9898-6BB97BAE3230}" type="slidenum">
              <a:rPr lang="nl-NL" smtClean="0"/>
              <a:t>27</a:t>
            </a:fld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Alternative formula </a:t>
            </a:r>
            <a:r>
              <a:rPr lang="en-US" dirty="0"/>
              <a:t>for specular color (</a:t>
            </a:r>
            <a:r>
              <a:rPr lang="en-US" dirty="0" err="1" smtClean="0"/>
              <a:t>Blinn</a:t>
            </a:r>
            <a:r>
              <a:rPr lang="en-US" dirty="0" smtClean="0"/>
              <a:t>–</a:t>
            </a:r>
            <a:r>
              <a:rPr lang="en-US" dirty="0" err="1" smtClean="0"/>
              <a:t>Phong</a:t>
            </a:r>
            <a:r>
              <a:rPr lang="en-US" dirty="0" smtClean="0"/>
              <a:t>):</a:t>
            </a:r>
            <a:endParaRPr lang="en-US" dirty="0"/>
          </a:p>
          <a:p>
            <a:pPr lvl="1"/>
            <a:r>
              <a:rPr lang="en-US" dirty="0"/>
              <a:t>C</a:t>
            </a:r>
            <a:r>
              <a:rPr lang="en-US" baseline="-25000" dirty="0"/>
              <a:t>s</a:t>
            </a:r>
            <a:r>
              <a:rPr lang="en-US" dirty="0"/>
              <a:t> = </a:t>
            </a:r>
            <a:r>
              <a:rPr lang="en-US" dirty="0" err="1"/>
              <a:t>M</a:t>
            </a:r>
            <a:r>
              <a:rPr lang="en-US" baseline="-25000" dirty="0" err="1"/>
              <a:t>s</a:t>
            </a:r>
            <a:r>
              <a:rPr lang="en-US" dirty="0"/>
              <a:t> * </a:t>
            </a:r>
            <a:r>
              <a:rPr lang="en-US" dirty="0" err="1"/>
              <a:t>L</a:t>
            </a:r>
            <a:r>
              <a:rPr lang="en-US" baseline="-25000" dirty="0" err="1"/>
              <a:t>s</a:t>
            </a:r>
            <a:r>
              <a:rPr lang="en-US" dirty="0"/>
              <a:t> * </a:t>
            </a:r>
            <a:r>
              <a:rPr lang="en-US" dirty="0" smtClean="0"/>
              <a:t>(</a:t>
            </a:r>
            <a:r>
              <a:rPr lang="en-US" dirty="0" err="1" smtClean="0"/>
              <a:t>n.h</a:t>
            </a:r>
            <a:r>
              <a:rPr lang="en-US" dirty="0" smtClean="0"/>
              <a:t>)</a:t>
            </a:r>
            <a:r>
              <a:rPr lang="en-US" baseline="30000" dirty="0" err="1" smtClean="0"/>
              <a:t>sh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where h is the normalized vector halfway between L and V</a:t>
            </a:r>
          </a:p>
        </p:txBody>
      </p:sp>
      <p:pic>
        <p:nvPicPr>
          <p:cNvPr id="20482" name="Picture 2" descr="File:Blinn Vectors.sv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780928"/>
            <a:ext cx="6192688" cy="4218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186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an">
  <a:themeElements>
    <a:clrScheme name="Media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FC173E217BAF4E80805EE817A2FB16" ma:contentTypeVersion="0" ma:contentTypeDescription="Create a new document." ma:contentTypeScope="" ma:versionID="5b1d31a4fab7e725f1c741106b634ad7">
  <xsd:schema xmlns:xsd="http://www.w3.org/2001/XMLSchema" xmlns:xs="http://www.w3.org/2001/XMLSchema" xmlns:p="http://schemas.microsoft.com/office/2006/metadata/properties" xmlns:ns2="252BDB0A-93DC-4662-B430-FE66A79436E9" targetNamespace="http://schemas.microsoft.com/office/2006/metadata/properties" ma:root="true" ma:fieldsID="44b0c62110821253a9df2be90f6d531b" ns2:_="">
    <xsd:import namespace="252BDB0A-93DC-4662-B430-FE66A79436E9"/>
    <xsd:element name="properties">
      <xsd:complexType>
        <xsd:sequence>
          <xsd:element name="documentManagement">
            <xsd:complexType>
              <xsd:all>
                <xsd:element ref="ns2:Categorie" minOccurs="0"/>
                <xsd:element ref="ns2:Va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BDB0A-93DC-4662-B430-FE66A79436E9" elementFormDefault="qualified">
    <xsd:import namespace="http://schemas.microsoft.com/office/2006/documentManagement/types"/>
    <xsd:import namespace="http://schemas.microsoft.com/office/infopath/2007/PartnerControls"/>
    <xsd:element name="Categorie" ma:index="8" nillable="true" ma:displayName="Categorie" ma:default="Periode1" ma:format="Dropdown" ma:internalName="Categorie">
      <xsd:simpleType>
        <xsd:restriction base="dms:Choice">
          <xsd:enumeration value="Periode1"/>
          <xsd:enumeration value="Periode2"/>
          <xsd:enumeration value="Algemeen"/>
          <xsd:enumeration value="Cursus UvT"/>
        </xsd:restriction>
      </xsd:simpleType>
    </xsd:element>
    <xsd:element name="Vak" ma:index="9" nillable="true" ma:displayName="Vak" ma:default="V3D1" ma:format="Dropdown" ma:internalName="Vak">
      <xsd:simpleType>
        <xsd:restriction base="dms:Choice">
          <xsd:enumeration value="V3D1"/>
          <xsd:enumeration value="VED1"/>
          <xsd:enumeration value="VCC1"/>
          <xsd:enumeration value="VPT1"/>
          <xsd:enumeration value="VIS2"/>
          <xsd:enumeration value="VPT2"/>
          <xsd:enumeration value="VRS2"/>
          <xsd:enumeration value="VEX2"/>
          <xsd:enumeration value="VUI2"/>
          <xsd:enumeration value="VUX2"/>
          <xsd:enumeration value="Cursu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Categorie xmlns="252BDB0A-93DC-4662-B430-FE66A79436E9">Periode1</Categorie>
    <Vak xmlns="252BDB0A-93DC-4662-B430-FE66A79436E9">V3D1</Vak>
  </documentManagement>
</p:properties>
</file>

<file path=customXml/itemProps1.xml><?xml version="1.0" encoding="utf-8"?>
<ds:datastoreItem xmlns:ds="http://schemas.openxmlformats.org/officeDocument/2006/customXml" ds:itemID="{0F2C854F-5BEC-4ECC-94A6-7EE148BE1CED}"/>
</file>

<file path=customXml/itemProps2.xml><?xml version="1.0" encoding="utf-8"?>
<ds:datastoreItem xmlns:ds="http://schemas.openxmlformats.org/officeDocument/2006/customXml" ds:itemID="{9F40A724-6F65-47CF-8C8A-9D9515DCC69B}"/>
</file>

<file path=customXml/itemProps3.xml><?xml version="1.0" encoding="utf-8"?>
<ds:datastoreItem xmlns:ds="http://schemas.openxmlformats.org/officeDocument/2006/customXml" ds:itemID="{785CA055-9259-452A-ACC5-B8524EF6FCA2}"/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10989</TotalTime>
  <Words>996</Words>
  <Application>Microsoft Office PowerPoint</Application>
  <PresentationFormat>On-screen Show (4:3)</PresentationFormat>
  <Paragraphs>208</Paragraphs>
  <Slides>27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Calibri</vt:lpstr>
      <vt:lpstr>Courier</vt:lpstr>
      <vt:lpstr>Courier New</vt:lpstr>
      <vt:lpstr>Symbol</vt:lpstr>
      <vt:lpstr>Tw Cen MT</vt:lpstr>
      <vt:lpstr>Wingdings</vt:lpstr>
      <vt:lpstr>Wingdings 2</vt:lpstr>
      <vt:lpstr>Mediaan</vt:lpstr>
      <vt:lpstr>Picture</vt:lpstr>
      <vt:lpstr>Bitmapafbeelding</vt:lpstr>
      <vt:lpstr>V3D1 WEEK 2a</vt:lpstr>
      <vt:lpstr>Light sources and colors </vt:lpstr>
      <vt:lpstr>How do we define a color?</vt:lpstr>
      <vt:lpstr>Pointlight (1)</vt:lpstr>
      <vt:lpstr>Pointlight (2)</vt:lpstr>
      <vt:lpstr>Pointlight (3)</vt:lpstr>
      <vt:lpstr>Spotlight (1)</vt:lpstr>
      <vt:lpstr>Spotlight (2)</vt:lpstr>
      <vt:lpstr>Directional light (1)</vt:lpstr>
      <vt:lpstr>Directional light (2)</vt:lpstr>
      <vt:lpstr>Light sources</vt:lpstr>
      <vt:lpstr>Lights in Vizard</vt:lpstr>
      <vt:lpstr>Colors of light sources (1)</vt:lpstr>
      <vt:lpstr>Colors of light sources (2)</vt:lpstr>
      <vt:lpstr>Material properties</vt:lpstr>
      <vt:lpstr>Diffuse color</vt:lpstr>
      <vt:lpstr>Specular color</vt:lpstr>
      <vt:lpstr>Emissive and ambient color</vt:lpstr>
      <vt:lpstr>Overview</vt:lpstr>
      <vt:lpstr>Normal</vt:lpstr>
      <vt:lpstr>Defining normals in Vizard (1)</vt:lpstr>
      <vt:lpstr>Defining normals in Vizard (2)</vt:lpstr>
      <vt:lpstr>Defining normals in Unity</vt:lpstr>
      <vt:lpstr>Lighting calculations: ambient</vt:lpstr>
      <vt:lpstr>Lighting calculations: diffuse</vt:lpstr>
      <vt:lpstr>Lighting calculations: specular</vt:lpstr>
      <vt:lpstr>Alternative specular calculation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V3D1, week 2a</dc:title>
  <dc:creator>Peter Boots</dc:creator>
  <cp:lastModifiedBy>Boots,Peter P.J.H.M.</cp:lastModifiedBy>
  <cp:revision>65</cp:revision>
  <dcterms:created xsi:type="dcterms:W3CDTF">2011-02-02T18:25:05Z</dcterms:created>
  <dcterms:modified xsi:type="dcterms:W3CDTF">2016-09-07T19:24:06Z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0x0101002BFC173E217BAF4E80805EE817A2FB16</vt:lpwstr>
  </property>
</Properties>
</file>