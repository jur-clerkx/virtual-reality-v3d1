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21"/>
  </p:notesMasterIdLst>
  <p:sldIdLst>
    <p:sldId id="256" r:id="rId5"/>
    <p:sldId id="424" r:id="rId6"/>
    <p:sldId id="425" r:id="rId7"/>
    <p:sldId id="433" r:id="rId8"/>
    <p:sldId id="426" r:id="rId9"/>
    <p:sldId id="430" r:id="rId10"/>
    <p:sldId id="439" r:id="rId11"/>
    <p:sldId id="431" r:id="rId12"/>
    <p:sldId id="427" r:id="rId13"/>
    <p:sldId id="432" r:id="rId14"/>
    <p:sldId id="428" r:id="rId15"/>
    <p:sldId id="434" r:id="rId16"/>
    <p:sldId id="435" r:id="rId17"/>
    <p:sldId id="436" r:id="rId18"/>
    <p:sldId id="437" r:id="rId19"/>
    <p:sldId id="438" r:id="rId20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FF"/>
    <a:srgbClr val="800080"/>
    <a:srgbClr val="80F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4263" autoAdjust="0"/>
    <p:restoredTop sz="66359" autoAdjust="0"/>
  </p:normalViewPr>
  <p:slideViewPr>
    <p:cSldViewPr>
      <p:cViewPr varScale="1">
        <p:scale>
          <a:sx n="128" d="100"/>
          <a:sy n="128" d="100"/>
        </p:scale>
        <p:origin x="75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42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1960E-D3BE-408B-B0C2-5D7777377BDC}" type="datetimeFigureOut">
              <a:rPr lang="nl-NL" smtClean="0"/>
              <a:t>21-9-2016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3FD26-CBD9-45AA-8FCB-49DFD000FEE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593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hoek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hthoek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nl-NL" smtClean="0"/>
              <a:t>Klik om de ondertitelstijl van het model te bewerken</a:t>
            </a:r>
            <a:endParaRPr kumimoji="0" lang="en-US"/>
          </a:p>
        </p:txBody>
      </p:sp>
      <p:sp>
        <p:nvSpPr>
          <p:cNvPr id="28" name="Tijdelijke aanduiding voor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47D1BA6-4911-4D21-8A8A-D049947BDEE5}" type="datetime1">
              <a:rPr lang="nl-NL" smtClean="0"/>
              <a:t>21-9-2016</a:t>
            </a:fld>
            <a:endParaRPr lang="nl-NL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29" name="Tijdelijke aanduiding voor dianumm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F47C-A15E-4E67-ADFB-9D8440CD4D5A}" type="datetime1">
              <a:rPr lang="nl-NL" smtClean="0"/>
              <a:t>21-9-2016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inhoud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7" name="Rechthoek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A80FB-A740-44BE-9C85-6BF6B55EEC31}" type="datetime1">
              <a:rPr lang="nl-NL" smtClean="0"/>
              <a:t>21-9-2016</a:t>
            </a:fld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E292474-E6E9-4629-882B-ED30518F0E8F}" type="datetime1">
              <a:rPr lang="nl-NL" smtClean="0"/>
              <a:t>21-9-2016</a:t>
            </a:fld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3" name="Tijdelijke aanduiding voor inhoud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2DAD537-AD64-400C-91DC-195CDE28DC41}" type="datetime1">
              <a:rPr lang="nl-NL" smtClean="0"/>
              <a:t>21-9-2016</a:t>
            </a:fld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16" name="Tijdelijke aanduiding voor tekst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15" name="Tijdelijke aanduiding voor tekst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7A9-DC7A-4165-A8A6-E1CF078ACCA0}" type="datetime1">
              <a:rPr lang="nl-NL" smtClean="0"/>
              <a:t>21-9-2016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0717-F8EA-44E2-AE72-41FB2BB1D446}" type="datetime1">
              <a:rPr lang="nl-NL" smtClean="0"/>
              <a:t>21-9-2016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F223-B842-450F-9A74-6C0FB4F8082F}" type="datetime1">
              <a:rPr lang="nl-NL" smtClean="0"/>
              <a:t>21-9-2016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8" name="Rechthoek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hoek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1" name="Rechthoek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89CD317E-DF94-4B7F-A9D5-6F34C108AA9D}" type="datetime1">
              <a:rPr lang="nl-NL" smtClean="0"/>
              <a:t>21-9-2016</a:t>
            </a:fld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nl-NL" smtClean="0"/>
              <a:t>Klik op het pictogram als u een afbeelding wilt toevoegen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9FA5-7E47-4C7A-9DB6-39F72C07352F}" type="datetime1">
              <a:rPr lang="nl-NL" smtClean="0"/>
              <a:t>21-9-2016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442DEBE-2A51-4598-93F2-CCE23073CB84}" type="datetime1">
              <a:rPr lang="nl-NL" smtClean="0"/>
              <a:t>21-9-2016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Rechthoek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titel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3" name="Tijdelijke aanduiding voor tekst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nl-NL" smtClean="0"/>
              <a:t>Klik om de modelstijlen te bewerken</a:t>
            </a:r>
          </a:p>
          <a:p>
            <a:pPr lvl="1" eaLnBrk="1" latinLnBrk="0" hangingPunct="1"/>
            <a:r>
              <a:rPr kumimoji="0" lang="nl-NL" smtClean="0"/>
              <a:t>Tweede niveau</a:t>
            </a:r>
          </a:p>
          <a:p>
            <a:pPr lvl="2" eaLnBrk="1" latinLnBrk="0" hangingPunct="1"/>
            <a:r>
              <a:rPr kumimoji="0" lang="nl-NL" smtClean="0"/>
              <a:t>Derde niveau</a:t>
            </a:r>
          </a:p>
          <a:p>
            <a:pPr lvl="3" eaLnBrk="1" latinLnBrk="0" hangingPunct="1"/>
            <a:r>
              <a:rPr kumimoji="0" lang="nl-NL" smtClean="0"/>
              <a:t>Vierde niveau</a:t>
            </a:r>
          </a:p>
          <a:p>
            <a:pPr lvl="4" eaLnBrk="1" latinLnBrk="0" hangingPunct="1"/>
            <a:r>
              <a:rPr kumimoji="0" lang="nl-NL" smtClean="0"/>
              <a:t>Vijfde niveau</a:t>
            </a:r>
            <a:endParaRPr kumimoji="0" lang="en-US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7810130-DBB6-4179-85A8-B40CF45D4910}" type="datetime1">
              <a:rPr lang="nl-NL" smtClean="0"/>
              <a:t>21-9-2016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Rechthoek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Tijdelijke aanduiding voor dianumm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file:///C:\Software\3DV1\picknamestack\Debug\testpicking.ex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file:///C:\Software\3DV1\RayPickingSample\RayPickingSample\RayPickingSample\bin\x86\Debug\RayPickingSample.ex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smtClean="0"/>
              <a:t>V3D1</a:t>
            </a:r>
            <a:br>
              <a:rPr lang="en-US" noProof="0" dirty="0" smtClean="0"/>
            </a:br>
            <a:r>
              <a:rPr lang="en-US" dirty="0" smtClean="0"/>
              <a:t>WEEK 4a</a:t>
            </a:r>
            <a:endParaRPr lang="en-US" noProof="0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noProof="0" smtClean="0"/>
              <a:t>2D Object </a:t>
            </a:r>
            <a:r>
              <a:rPr lang="en-US" noProof="0" dirty="0" smtClean="0"/>
              <a:t>picking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669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 picking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2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To make our scenes more intuitive, we want users to be able to select objects by simply clicking on them</a:t>
            </a:r>
          </a:p>
          <a:p>
            <a:r>
              <a:rPr lang="en-US" dirty="0" smtClean="0"/>
              <a:t>This is called (</a:t>
            </a:r>
            <a:r>
              <a:rPr lang="en-US" u="sng" dirty="0" smtClean="0"/>
              <a:t>object</a:t>
            </a:r>
            <a:r>
              <a:rPr lang="en-US" dirty="0" smtClean="0"/>
              <a:t>) </a:t>
            </a:r>
            <a:r>
              <a:rPr lang="en-US" u="sng" dirty="0" smtClean="0"/>
              <a:t>picking</a:t>
            </a:r>
            <a:endParaRPr lang="en-US" dirty="0" smtClean="0"/>
          </a:p>
          <a:p>
            <a:r>
              <a:rPr lang="en-US" dirty="0" smtClean="0"/>
              <a:t>The question is:</a:t>
            </a:r>
          </a:p>
          <a:p>
            <a:pPr lvl="1"/>
            <a:r>
              <a:rPr lang="en-US" dirty="0" smtClean="0"/>
              <a:t>How can we determine which object is under the mouse?</a:t>
            </a:r>
          </a:p>
          <a:p>
            <a:r>
              <a:rPr lang="en-US" dirty="0" smtClean="0"/>
              <a:t>In general 3 methods are available:</a:t>
            </a:r>
          </a:p>
          <a:p>
            <a:pPr lvl="1"/>
            <a:r>
              <a:rPr lang="en-US" dirty="0" smtClean="0"/>
              <a:t>Color coding</a:t>
            </a:r>
          </a:p>
          <a:p>
            <a:pPr lvl="1"/>
            <a:r>
              <a:rPr lang="en-US" dirty="0"/>
              <a:t>Name stack</a:t>
            </a:r>
          </a:p>
          <a:p>
            <a:pPr lvl="1"/>
            <a:r>
              <a:rPr lang="en-US" dirty="0" smtClean="0"/>
              <a:t>Ray picking</a:t>
            </a:r>
          </a:p>
        </p:txBody>
      </p:sp>
    </p:spTree>
    <p:extLst>
      <p:ext uri="{BB962C8B-B14F-4D97-AF65-F5344CB8AC3E}">
        <p14:creationId xmlns:p14="http://schemas.microsoft.com/office/powerpoint/2010/main" val="241460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Method 1: Color coding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3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After rendering the scene in the normal way:</a:t>
            </a:r>
          </a:p>
          <a:p>
            <a:pPr lvl="1"/>
            <a:r>
              <a:rPr lang="en-US" dirty="0" smtClean="0"/>
              <a:t>Give every object a unique color</a:t>
            </a:r>
          </a:p>
          <a:p>
            <a:pPr lvl="1"/>
            <a:r>
              <a:rPr lang="en-US" dirty="0" smtClean="0"/>
              <a:t>Turn off lighting, anti-aliasing, texturing</a:t>
            </a:r>
          </a:p>
          <a:p>
            <a:pPr lvl="2"/>
            <a:r>
              <a:rPr lang="en-US" dirty="0" smtClean="0"/>
              <a:t>In this way the original colors will not be changed</a:t>
            </a:r>
          </a:p>
          <a:p>
            <a:pPr lvl="1"/>
            <a:r>
              <a:rPr lang="en-US" dirty="0" smtClean="0"/>
              <a:t>Render all objects again, but only in the </a:t>
            </a:r>
            <a:r>
              <a:rPr lang="en-US" dirty="0" err="1" smtClean="0"/>
              <a:t>backbuffer</a:t>
            </a:r>
            <a:r>
              <a:rPr lang="en-US" dirty="0" smtClean="0"/>
              <a:t> (so it will not be visible)</a:t>
            </a:r>
          </a:p>
          <a:p>
            <a:pPr lvl="1"/>
            <a:r>
              <a:rPr lang="en-US" dirty="0" smtClean="0"/>
              <a:t>Read from the </a:t>
            </a:r>
            <a:r>
              <a:rPr lang="en-US" dirty="0" err="1" smtClean="0"/>
              <a:t>backbuffer</a:t>
            </a:r>
            <a:r>
              <a:rPr lang="en-US" dirty="0" smtClean="0"/>
              <a:t>, exactly the pixel that the user clicked on</a:t>
            </a:r>
          </a:p>
          <a:p>
            <a:pPr lvl="1"/>
            <a:r>
              <a:rPr lang="en-US" dirty="0" smtClean="0"/>
              <a:t>Check the color of that </a:t>
            </a:r>
          </a:p>
          <a:p>
            <a:pPr lvl="2"/>
            <a:r>
              <a:rPr lang="en-US" dirty="0" smtClean="0"/>
              <a:t>This will tell us which is the closest object on that pixel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372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Method 1: Color coding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4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mtClean="0"/>
              <a:t>Visible image: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Color coded image in </a:t>
            </a:r>
            <a:br>
              <a:rPr lang="en-US" smtClean="0"/>
            </a:br>
            <a:r>
              <a:rPr lang="en-US" smtClean="0"/>
              <a:t>backbuffer:</a:t>
            </a:r>
            <a:endParaRPr lang="en-US" dirty="0"/>
          </a:p>
        </p:txBody>
      </p:sp>
      <p:pic>
        <p:nvPicPr>
          <p:cNvPr id="3074" name="Picture 2" descr="http://www.lighthouse3d.com/opengl/picking/snowmenNorma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846" y="1844824"/>
            <a:ext cx="33337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www.lighthouse3d.com/opengl/picking/snowmenColo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846" y="4293096"/>
            <a:ext cx="33337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5341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Method 1: Color coding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5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Simple to implement</a:t>
            </a:r>
          </a:p>
          <a:p>
            <a:pPr lvl="1"/>
            <a:r>
              <a:rPr lang="en-US" dirty="0" smtClean="0"/>
              <a:t>Gives exact results</a:t>
            </a:r>
          </a:p>
          <a:p>
            <a:r>
              <a:rPr lang="en-US" dirty="0" smtClean="0"/>
              <a:t>Disadvantages (depending on the needs):</a:t>
            </a:r>
          </a:p>
          <a:p>
            <a:pPr lvl="1"/>
            <a:r>
              <a:rPr lang="en-US" dirty="0" smtClean="0"/>
              <a:t>You have to click exactly </a:t>
            </a:r>
            <a:r>
              <a:rPr lang="en-US" u="sng" dirty="0" smtClean="0"/>
              <a:t>on</a:t>
            </a:r>
            <a:r>
              <a:rPr lang="en-US" dirty="0" smtClean="0"/>
              <a:t> the object, or it will not be found</a:t>
            </a:r>
          </a:p>
          <a:p>
            <a:pPr lvl="1"/>
            <a:r>
              <a:rPr lang="en-US" dirty="0" smtClean="0"/>
              <a:t>You can only find the closest object, objects hidden behind other objects will not be found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668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2: Name stack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6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After rendering the scene in the normal way:</a:t>
            </a:r>
          </a:p>
          <a:p>
            <a:pPr lvl="1"/>
            <a:r>
              <a:rPr lang="en-US" dirty="0" smtClean="0"/>
              <a:t>Give every object a unique name (usually an </a:t>
            </a:r>
            <a:r>
              <a:rPr lang="en-US" dirty="0" err="1" smtClean="0"/>
              <a:t>int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Define a small viewport around the mouse position (just a few pixels wide and high)</a:t>
            </a:r>
          </a:p>
          <a:p>
            <a:pPr lvl="1"/>
            <a:r>
              <a:rPr lang="en-US" dirty="0" smtClean="0"/>
              <a:t>Render all objects again to the small viewport, in a special mode (select mode)</a:t>
            </a:r>
          </a:p>
          <a:p>
            <a:pPr lvl="1"/>
            <a:r>
              <a:rPr lang="en-US" dirty="0" smtClean="0"/>
              <a:t>Each time when an object is inside the viewport, its name is put in a list, together with its z-distance</a:t>
            </a:r>
          </a:p>
          <a:p>
            <a:pPr lvl="1"/>
            <a:r>
              <a:rPr lang="en-US" dirty="0" smtClean="0"/>
              <a:t>Finally that list is returned to the application</a:t>
            </a:r>
          </a:p>
          <a:p>
            <a:pPr lvl="1"/>
            <a:r>
              <a:rPr lang="en-US" dirty="0" smtClean="0"/>
              <a:t>Application can filter out the required object (usually the one with the smallest z-value)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828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2: Name stack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7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00200"/>
            <a:ext cx="3625111" cy="20753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025" y="3675509"/>
            <a:ext cx="3621792" cy="20753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4869160"/>
            <a:ext cx="1375431" cy="793453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H="1">
            <a:off x="1547664" y="4509120"/>
            <a:ext cx="3672408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2946361" y="4705734"/>
            <a:ext cx="2489735" cy="956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01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2: Name stack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8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hlinkClick r:id="rId2" action="ppaction://program"/>
              </a:rPr>
              <a:t>Example</a:t>
            </a:r>
            <a:endParaRPr lang="en-US" dirty="0" smtClean="0"/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Picking doesn’t have to be exact</a:t>
            </a:r>
          </a:p>
          <a:p>
            <a:pPr lvl="2"/>
            <a:r>
              <a:rPr lang="en-US" dirty="0" smtClean="0"/>
              <a:t>When an objects maps inside the chosen viewport around the mouse position, it will be found</a:t>
            </a:r>
          </a:p>
          <a:p>
            <a:pPr lvl="1"/>
            <a:r>
              <a:rPr lang="en-US" dirty="0" smtClean="0"/>
              <a:t>Picking can be made exact</a:t>
            </a:r>
          </a:p>
          <a:p>
            <a:pPr lvl="2"/>
            <a:r>
              <a:rPr lang="en-US" dirty="0" smtClean="0"/>
              <a:t>Choose a viewport of only 1 pixel</a:t>
            </a:r>
          </a:p>
          <a:p>
            <a:pPr lvl="1"/>
            <a:r>
              <a:rPr lang="en-US" dirty="0" smtClean="0"/>
              <a:t>It is possible to ignore certain objects</a:t>
            </a:r>
          </a:p>
          <a:p>
            <a:pPr lvl="2"/>
            <a:r>
              <a:rPr lang="en-US" dirty="0" smtClean="0"/>
              <a:t>Skip those objects when filtering the list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124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3: Ray </a:t>
            </a:r>
            <a:r>
              <a:rPr lang="en-US" dirty="0"/>
              <a:t>picking (ray casting)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9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mtClean="0"/>
              <a:t>Define the ray from the eye position through the selected pixel into the virtual world</a:t>
            </a:r>
          </a:p>
          <a:p>
            <a:r>
              <a:rPr lang="en-US" smtClean="0"/>
              <a:t>Calculate which objects are hit by this ray</a:t>
            </a:r>
          </a:p>
          <a:p>
            <a:pPr lvl="1"/>
            <a:r>
              <a:rPr lang="en-US" smtClean="0"/>
              <a:t>Check all objects one by one</a:t>
            </a:r>
          </a:p>
          <a:p>
            <a:pPr lvl="1"/>
            <a:r>
              <a:rPr lang="en-US" smtClean="0"/>
              <a:t>To simplify calculation, use bounding geometry</a:t>
            </a:r>
            <a:endParaRPr lang="en-US" dirty="0"/>
          </a:p>
        </p:txBody>
      </p:sp>
      <p:pic>
        <p:nvPicPr>
          <p:cNvPr id="1028" name="Picture 4" descr="http://ghoshehsoft.files.wordpress.com/2010/11/near-far-points.png">
            <a:hlinkClick r:id="rId2" action="ppaction://program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00480"/>
            <a:ext cx="9152022" cy="285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9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3: Ray picking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10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We project a 3D object to a 2D screen by using model, view and projection matrices</a:t>
            </a:r>
          </a:p>
          <a:p>
            <a:pPr lvl="1"/>
            <a:r>
              <a:rPr lang="en-US" dirty="0" smtClean="0"/>
              <a:t>Transforming from model coordinates v to screen coordinates is a matrix multiplication: </a:t>
            </a:r>
            <a:r>
              <a:rPr lang="en-US" dirty="0" err="1" smtClean="0"/>
              <a:t>PVMv</a:t>
            </a:r>
            <a:endParaRPr lang="en-US" dirty="0" smtClean="0"/>
          </a:p>
          <a:p>
            <a:r>
              <a:rPr lang="en-US" dirty="0" smtClean="0"/>
              <a:t>When picking we do the opposite : transform from mouse position m on the screen to world coordinates</a:t>
            </a:r>
          </a:p>
          <a:p>
            <a:pPr lvl="1"/>
            <a:r>
              <a:rPr lang="en-US" dirty="0" smtClean="0"/>
              <a:t>This operation is called </a:t>
            </a:r>
            <a:r>
              <a:rPr lang="en-US" u="sng" dirty="0" err="1" smtClean="0"/>
              <a:t>Unprojection</a:t>
            </a:r>
            <a:endParaRPr lang="en-US" u="sng" dirty="0" smtClean="0"/>
          </a:p>
          <a:p>
            <a:pPr lvl="2"/>
            <a:r>
              <a:rPr lang="en-US" dirty="0" smtClean="0"/>
              <a:t>M</a:t>
            </a:r>
            <a:r>
              <a:rPr lang="en-US" baseline="30000" dirty="0" smtClean="0"/>
              <a:t>-1</a:t>
            </a:r>
            <a:r>
              <a:rPr lang="en-US" dirty="0" smtClean="0"/>
              <a:t>V</a:t>
            </a:r>
            <a:r>
              <a:rPr lang="en-US" baseline="30000" dirty="0" smtClean="0"/>
              <a:t>-1</a:t>
            </a:r>
            <a:r>
              <a:rPr lang="en-US" dirty="0" smtClean="0"/>
              <a:t>P</a:t>
            </a:r>
            <a:r>
              <a:rPr lang="en-US" baseline="30000" dirty="0" smtClean="0"/>
              <a:t>-1</a:t>
            </a:r>
            <a:r>
              <a:rPr lang="en-US" dirty="0" smtClean="0"/>
              <a:t>m</a:t>
            </a:r>
            <a:endParaRPr lang="en-US" baseline="30000" dirty="0" smtClean="0"/>
          </a:p>
          <a:p>
            <a:r>
              <a:rPr lang="en-US" dirty="0" err="1" smtClean="0"/>
              <a:t>Unprojection</a:t>
            </a:r>
            <a:r>
              <a:rPr lang="en-US" dirty="0" smtClean="0"/>
              <a:t> enables us to create the ray which is needed for Ray picking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37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3: Ray </a:t>
            </a:r>
            <a:r>
              <a:rPr lang="en-US" dirty="0" smtClean="0"/>
              <a:t>picking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11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With Ray picking, it is difficult to pick a point, line or wireframe object</a:t>
            </a:r>
          </a:p>
          <a:p>
            <a:r>
              <a:rPr lang="en-US" dirty="0" smtClean="0"/>
              <a:t>Instead of a single line, we can use a cone and check if the point or line is inside the cone</a:t>
            </a:r>
            <a:endParaRPr lang="en-US" dirty="0"/>
          </a:p>
        </p:txBody>
      </p:sp>
      <p:pic>
        <p:nvPicPr>
          <p:cNvPr id="5" name="Picture 2" descr="http://www-evasion.imag.fr/~Francois.Faure/doc/inventorMentor/sgi_html/figures/9.6.pickingCon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547943"/>
            <a:ext cx="4860031" cy="329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1993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Picking in </a:t>
            </a:r>
            <a:r>
              <a:rPr lang="en-US" dirty="0" err="1"/>
              <a:t>Vizard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12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51840" cy="44958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object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viz.pick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 smtClean="0"/>
              <a:t>This will use ray picking to find the closest object under the mouse cursor</a:t>
            </a:r>
          </a:p>
          <a:p>
            <a:pPr lvl="1"/>
            <a:r>
              <a:rPr lang="en-US" dirty="0" smtClean="0"/>
              <a:t>Has some options:</a:t>
            </a:r>
          </a:p>
          <a:p>
            <a:pPr lvl="2"/>
            <a:r>
              <a:rPr lang="en-US" dirty="0" smtClean="0"/>
              <a:t>Can also return list of all objects hit by the ray</a:t>
            </a:r>
          </a:p>
          <a:p>
            <a:pPr lvl="2"/>
            <a:r>
              <a:rPr lang="en-US" dirty="0" smtClean="0"/>
              <a:t>Can ignore </a:t>
            </a:r>
            <a:r>
              <a:rPr lang="en-US" dirty="0" err="1" smtClean="0"/>
              <a:t>backfaces</a:t>
            </a:r>
            <a:endParaRPr lang="en-US" dirty="0" smtClean="0"/>
          </a:p>
          <a:p>
            <a:pPr lvl="2"/>
            <a:r>
              <a:rPr lang="en-US" dirty="0" smtClean="0"/>
              <a:t>Can return extra information in a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viz.Intersect</a:t>
            </a:r>
            <a:r>
              <a:rPr lang="en-US" dirty="0" smtClean="0"/>
              <a:t> object:</a:t>
            </a:r>
          </a:p>
          <a:p>
            <a:pPr lvl="3"/>
            <a:r>
              <a:rPr lang="en-US" dirty="0" smtClean="0"/>
              <a:t>Point of intersection, and its normal</a:t>
            </a:r>
          </a:p>
          <a:p>
            <a:pPr lvl="3"/>
            <a:r>
              <a:rPr lang="en-US" dirty="0" smtClean="0"/>
              <a:t>Name of the </a:t>
            </a:r>
            <a:r>
              <a:rPr lang="en-US" dirty="0" err="1" smtClean="0"/>
              <a:t>subnode</a:t>
            </a:r>
            <a:r>
              <a:rPr lang="en-US" dirty="0" smtClean="0"/>
              <a:t> that was intersected</a:t>
            </a:r>
          </a:p>
          <a:p>
            <a:pPr lvl="3"/>
            <a:r>
              <a:rPr lang="en-US" dirty="0" smtClean="0"/>
              <a:t>Path to the intersected object in scene graph as list of nodes, or list of names (only in </a:t>
            </a:r>
            <a:r>
              <a:rPr lang="en-US" dirty="0" err="1" smtClean="0"/>
              <a:t>Vizard</a:t>
            </a:r>
            <a:r>
              <a:rPr lang="en-US" dirty="0" smtClean="0"/>
              <a:t> 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41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Variants of picking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13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cs typeface="Courier New" panose="02070309020205020404" pitchFamily="49" charset="0"/>
              </a:rPr>
              <a:t>You can use any position, instead of mouse position</a:t>
            </a:r>
          </a:p>
          <a:p>
            <a:pPr lvl="1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object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viz.pick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lvl="2"/>
            <a:r>
              <a:rPr lang="en-US" dirty="0"/>
              <a:t>This will use ray picking to find the closest object under the specified pixel [</a:t>
            </a:r>
            <a:r>
              <a:rPr lang="en-US" dirty="0" err="1"/>
              <a:t>x,y</a:t>
            </a:r>
            <a:r>
              <a:rPr lang="en-US" dirty="0"/>
              <a:t>]</a:t>
            </a:r>
          </a:p>
          <a:p>
            <a:pPr lvl="2"/>
            <a:r>
              <a:rPr lang="en-US" dirty="0"/>
              <a:t>Useful if you have another device than the </a:t>
            </a:r>
            <a:r>
              <a:rPr lang="en-US" dirty="0" smtClean="0"/>
              <a:t>mouse</a:t>
            </a:r>
          </a:p>
          <a:p>
            <a:pPr lvl="1"/>
            <a:endParaRPr lang="en-US" dirty="0"/>
          </a:p>
          <a:p>
            <a:r>
              <a:rPr lang="en-US" dirty="0" smtClean="0"/>
              <a:t>You can use any line as a ray: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object =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viz.intersect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(p1,p2)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 smtClean="0"/>
              <a:t>This will use ray picking to find the first object on the line segment from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en-US" dirty="0" smtClean="0"/>
              <a:t>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p2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Acts like a kind of stick with which you can select </a:t>
            </a:r>
            <a:r>
              <a:rPr lang="en-US" dirty="0" smtClean="0">
                <a:cs typeface="Courier New" panose="02070309020205020404" pitchFamily="49" charset="0"/>
              </a:rPr>
              <a:t>objects</a:t>
            </a:r>
          </a:p>
          <a:p>
            <a:pPr lvl="2"/>
            <a:r>
              <a:rPr lang="en-US" dirty="0" smtClean="0">
                <a:cs typeface="Courier New" panose="02070309020205020404" pitchFamily="49" charset="0"/>
              </a:rPr>
              <a:t>Or if you fire a gun, you can see </a:t>
            </a:r>
            <a:r>
              <a:rPr lang="en-US" smtClean="0">
                <a:cs typeface="Courier New" panose="02070309020205020404" pitchFamily="49" charset="0"/>
              </a:rPr>
              <a:t>which object is hit</a:t>
            </a:r>
            <a:endParaRPr lang="en-US" dirty="0">
              <a:cs typeface="Courier New" panose="02070309020205020404" pitchFamily="49" charset="0"/>
            </a:endParaRPr>
          </a:p>
          <a:p>
            <a:pPr lvl="2"/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49731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screen into world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14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07824" cy="44958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line =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window.screenToWorld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lvl="1"/>
            <a:r>
              <a:rPr lang="en-US" dirty="0" smtClean="0"/>
              <a:t>Returns the line through the eye and pixel [</a:t>
            </a:r>
            <a:r>
              <a:rPr lang="en-US" dirty="0" err="1" smtClean="0"/>
              <a:t>x,y</a:t>
            </a:r>
            <a:r>
              <a:rPr lang="en-US" dirty="0" smtClean="0"/>
              <a:t>]</a:t>
            </a:r>
          </a:p>
          <a:p>
            <a:pPr lvl="1"/>
            <a:r>
              <a:rPr lang="en-US" dirty="0" smtClean="0"/>
              <a:t>This is the ray that is used in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viz.pick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endParaRPr lang="en-US" dirty="0" smtClean="0"/>
          </a:p>
          <a:p>
            <a:pPr lvl="1"/>
            <a:r>
              <a:rPr lang="en-US" dirty="0" smtClean="0">
                <a:cs typeface="Courier New" panose="02070309020205020404" pitchFamily="49" charset="0"/>
              </a:rPr>
              <a:t>Can be used to draw the ray</a:t>
            </a:r>
          </a:p>
          <a:p>
            <a:pPr lvl="1"/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862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Put an object on mouse position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15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Where to put the object in 3D space?</a:t>
            </a:r>
          </a:p>
          <a:p>
            <a:r>
              <a:rPr lang="en-US" dirty="0" smtClean="0"/>
              <a:t>Let’s say 10 meter from origin:</a:t>
            </a:r>
          </a:p>
          <a:p>
            <a:pPr lvl="1"/>
            <a:r>
              <a:rPr lang="en-US" dirty="0" smtClean="0"/>
              <a:t>Define vertical plane 10 meter from origin</a:t>
            </a:r>
          </a:p>
          <a:p>
            <a:pPr lvl="1"/>
            <a:r>
              <a:rPr lang="en-US" dirty="0" smtClean="0"/>
              <a:t>Find ray with </a:t>
            </a:r>
            <a:r>
              <a:rPr lang="en-US" dirty="0" err="1" smtClean="0"/>
              <a:t>screenToWorld</a:t>
            </a:r>
            <a:endParaRPr lang="en-US" dirty="0" smtClean="0"/>
          </a:p>
          <a:p>
            <a:pPr lvl="1"/>
            <a:r>
              <a:rPr lang="en-US" dirty="0" smtClean="0"/>
              <a:t>Find intersection between plane and ray</a:t>
            </a:r>
          </a:p>
          <a:p>
            <a:pPr lvl="1"/>
            <a:r>
              <a:rPr lang="en-US" dirty="0" smtClean="0"/>
              <a:t>Put object on that point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0616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3D point to screen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16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window.worldToScreen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x,y,z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lvl="1"/>
            <a:r>
              <a:rPr lang="en-US" dirty="0"/>
              <a:t>Creates a ray from the eye to [</a:t>
            </a:r>
            <a:r>
              <a:rPr lang="en-US" dirty="0" err="1"/>
              <a:t>x,y,z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Returns the pixel where that ray intersects the screen</a:t>
            </a:r>
          </a:p>
          <a:p>
            <a:pPr lvl="1"/>
            <a:r>
              <a:rPr lang="en-US" dirty="0"/>
              <a:t>Useful if you want to draw a 2D object (like a text) next to an object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738245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an">
  <a:themeElements>
    <a:clrScheme name="Media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FC173E217BAF4E80805EE817A2FB16" ma:contentTypeVersion="0" ma:contentTypeDescription="Create a new document." ma:contentTypeScope="" ma:versionID="5b1d31a4fab7e725f1c741106b634ad7">
  <xsd:schema xmlns:xsd="http://www.w3.org/2001/XMLSchema" xmlns:xs="http://www.w3.org/2001/XMLSchema" xmlns:p="http://schemas.microsoft.com/office/2006/metadata/properties" xmlns:ns2="252BDB0A-93DC-4662-B430-FE66A79436E9" targetNamespace="http://schemas.microsoft.com/office/2006/metadata/properties" ma:root="true" ma:fieldsID="44b0c62110821253a9df2be90f6d531b" ns2:_="">
    <xsd:import namespace="252BDB0A-93DC-4662-B430-FE66A79436E9"/>
    <xsd:element name="properties">
      <xsd:complexType>
        <xsd:sequence>
          <xsd:element name="documentManagement">
            <xsd:complexType>
              <xsd:all>
                <xsd:element ref="ns2:Categorie" minOccurs="0"/>
                <xsd:element ref="ns2:Va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BDB0A-93DC-4662-B430-FE66A79436E9" elementFormDefault="qualified">
    <xsd:import namespace="http://schemas.microsoft.com/office/2006/documentManagement/types"/>
    <xsd:import namespace="http://schemas.microsoft.com/office/infopath/2007/PartnerControls"/>
    <xsd:element name="Categorie" ma:index="8" nillable="true" ma:displayName="Categorie" ma:default="Periode1" ma:format="Dropdown" ma:internalName="Categorie">
      <xsd:simpleType>
        <xsd:restriction base="dms:Choice">
          <xsd:enumeration value="Periode1"/>
          <xsd:enumeration value="Periode2"/>
          <xsd:enumeration value="Algemeen"/>
          <xsd:enumeration value="Cursus UvT"/>
        </xsd:restriction>
      </xsd:simpleType>
    </xsd:element>
    <xsd:element name="Vak" ma:index="9" nillable="true" ma:displayName="Vak" ma:default="V3D1" ma:format="Dropdown" ma:internalName="Vak">
      <xsd:simpleType>
        <xsd:restriction base="dms:Choice">
          <xsd:enumeration value="V3D1"/>
          <xsd:enumeration value="VED1"/>
          <xsd:enumeration value="VCC1"/>
          <xsd:enumeration value="VPT1"/>
          <xsd:enumeration value="VIS2"/>
          <xsd:enumeration value="VPT2"/>
          <xsd:enumeration value="VRS2"/>
          <xsd:enumeration value="VEX2"/>
          <xsd:enumeration value="VUI2"/>
          <xsd:enumeration value="VUX2"/>
          <xsd:enumeration value="Cursu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Categorie xmlns="252BDB0A-93DC-4662-B430-FE66A79436E9">Periode1</Categorie>
    <Vak xmlns="252BDB0A-93DC-4662-B430-FE66A79436E9">V3D1</Vak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D13EDB-683D-418A-9385-3CE068FCA26B}"/>
</file>

<file path=customXml/itemProps2.xml><?xml version="1.0" encoding="utf-8"?>
<ds:datastoreItem xmlns:ds="http://schemas.openxmlformats.org/officeDocument/2006/customXml" ds:itemID="{785CA055-9259-452A-ACC5-B8524EF6FCA2}"/>
</file>

<file path=customXml/itemProps3.xml><?xml version="1.0" encoding="utf-8"?>
<ds:datastoreItem xmlns:ds="http://schemas.openxmlformats.org/officeDocument/2006/customXml" ds:itemID="{9F40A724-6F65-47CF-8C8A-9D9515DCC69B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26066</TotalTime>
  <Words>871</Words>
  <Application>Microsoft Office PowerPoint</Application>
  <PresentationFormat>On-screen Show (4:3)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Courier New</vt:lpstr>
      <vt:lpstr>Tw Cen MT</vt:lpstr>
      <vt:lpstr>Wingdings</vt:lpstr>
      <vt:lpstr>Wingdings 2</vt:lpstr>
      <vt:lpstr>Mediaan</vt:lpstr>
      <vt:lpstr>V3D1 WEEK 4a</vt:lpstr>
      <vt:lpstr>Object picking</vt:lpstr>
      <vt:lpstr>Method 1: Color coding</vt:lpstr>
      <vt:lpstr>Method 1: Color coding</vt:lpstr>
      <vt:lpstr>Method 1: Color coding</vt:lpstr>
      <vt:lpstr>Method 2: Name stack</vt:lpstr>
      <vt:lpstr>Method 2: Name stack</vt:lpstr>
      <vt:lpstr>Method 2: Name stack</vt:lpstr>
      <vt:lpstr>Method 3: Ray picking (ray casting)</vt:lpstr>
      <vt:lpstr>Method 3: Ray picking</vt:lpstr>
      <vt:lpstr>Method 3: Ray picking</vt:lpstr>
      <vt:lpstr>Picking in Vizard</vt:lpstr>
      <vt:lpstr>Variants of picking</vt:lpstr>
      <vt:lpstr>From screen into world</vt:lpstr>
      <vt:lpstr>Put an object on mouse position</vt:lpstr>
      <vt:lpstr>From 3D point to screen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V3D1, week 6a</dc:title>
  <dc:creator>Peter Boots</dc:creator>
  <cp:lastModifiedBy>Boots,Peter P.J.H.M.</cp:lastModifiedBy>
  <cp:revision>265</cp:revision>
  <dcterms:created xsi:type="dcterms:W3CDTF">2011-02-02T18:25:05Z</dcterms:created>
  <dcterms:modified xsi:type="dcterms:W3CDTF">2016-09-22T07:30:26Z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0x0101002BFC173E217BAF4E80805EE817A2FB16</vt:lpwstr>
  </property>
</Properties>
</file>