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26"/>
  </p:notesMasterIdLst>
  <p:sldIdLst>
    <p:sldId id="256" r:id="rId5"/>
    <p:sldId id="349" r:id="rId6"/>
    <p:sldId id="350" r:id="rId7"/>
    <p:sldId id="351" r:id="rId8"/>
    <p:sldId id="352" r:id="rId9"/>
    <p:sldId id="353" r:id="rId10"/>
    <p:sldId id="332" r:id="rId11"/>
    <p:sldId id="333" r:id="rId12"/>
    <p:sldId id="334" r:id="rId13"/>
    <p:sldId id="335" r:id="rId14"/>
    <p:sldId id="355" r:id="rId15"/>
    <p:sldId id="343" r:id="rId16"/>
    <p:sldId id="354" r:id="rId17"/>
    <p:sldId id="344" r:id="rId18"/>
    <p:sldId id="345" r:id="rId19"/>
    <p:sldId id="336" r:id="rId20"/>
    <p:sldId id="347" r:id="rId21"/>
    <p:sldId id="348" r:id="rId22"/>
    <p:sldId id="339" r:id="rId23"/>
    <p:sldId id="340" r:id="rId24"/>
    <p:sldId id="341" r:id="rId25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  <a:srgbClr val="804040"/>
    <a:srgbClr val="008080"/>
    <a:srgbClr val="408040"/>
    <a:srgbClr val="80008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620" autoAdjust="0"/>
    <p:restoredTop sz="66359" autoAdjust="0"/>
  </p:normalViewPr>
  <p:slideViewPr>
    <p:cSldViewPr>
      <p:cViewPr>
        <p:scale>
          <a:sx n="78" d="100"/>
          <a:sy n="78" d="100"/>
        </p:scale>
        <p:origin x="-2562" y="-8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8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1960E-D3BE-408B-B0C2-5D7777377BDC}" type="datetimeFigureOut">
              <a:rPr lang="nl-NL" smtClean="0"/>
              <a:t>30-9-2015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3FD26-CBD9-45AA-8FCB-49DFD000FEE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593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hoe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nl-NL" smtClean="0"/>
              <a:t>Klik om de ondertitelstijl van het model te bewerken</a:t>
            </a:r>
            <a:endParaRPr kumimoji="0" lang="en-US"/>
          </a:p>
        </p:txBody>
      </p:sp>
      <p:sp>
        <p:nvSpPr>
          <p:cNvPr id="28" name="Tijdelijke aanduiding voor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0A82CE0-FC82-422D-A526-C041C9D734FB}" type="datetime1">
              <a:rPr lang="nl-NL" smtClean="0"/>
              <a:t>30-9-2015</a:t>
            </a:fld>
            <a:endParaRPr lang="nl-NL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29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15C3-A80B-409C-8AA1-12DB6F1AA7A9}" type="datetime1">
              <a:rPr lang="nl-NL" smtClean="0"/>
              <a:t>30-9-2015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7" name="Rechthoe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4A342-9949-495F-AB79-38A9D9B304C4}" type="datetime1">
              <a:rPr lang="nl-NL" smtClean="0"/>
              <a:t>30-9-2015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0A052D0-9E9C-444D-824E-4C52E0D6E70D}" type="datetime1">
              <a:rPr lang="nl-NL" smtClean="0"/>
              <a:t>30-9-2015</a:t>
            </a:fld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3" name="Tijdelijke aanduiding voor inhoud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5CB1373-0BC9-4E79-A4D2-67CDCB7B38C7}" type="datetime1">
              <a:rPr lang="nl-NL" smtClean="0"/>
              <a:t>30-9-2015</a:t>
            </a:fld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15" name="Tijdelijke aanduiding voor teks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643E-C9C5-4396-8CB6-D1B97C80171A}" type="datetime1">
              <a:rPr lang="nl-NL" smtClean="0"/>
              <a:t>30-9-2015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8A2F2-6067-4831-9528-85291E9CD8F4}" type="datetime1">
              <a:rPr lang="nl-NL" smtClean="0"/>
              <a:t>30-9-2015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B00CE-114D-426A-8B13-16E29BF15F0E}" type="datetime1">
              <a:rPr lang="nl-NL" smtClean="0"/>
              <a:t>30-9-2015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8" name="Rechthoe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Rechthoe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3CE5A49-EF9D-47A6-B9FE-A93938630469}" type="datetime1">
              <a:rPr lang="nl-NL" smtClean="0"/>
              <a:t>30-9-2015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nl-NL" smtClean="0"/>
              <a:t>Klik op het pictogram als u een afbeelding wilt toevoegen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A5357-7E11-489F-9C1C-B03CF8D8E153}" type="datetime1">
              <a:rPr lang="nl-NL" smtClean="0"/>
              <a:t>30-9-2015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81934BA-C55D-4FD3-8FDD-C9893659B39E}" type="datetime1">
              <a:rPr lang="nl-NL" smtClean="0"/>
              <a:t>30-9-2015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itel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3" name="Tijdelijke aanduiding voor tekst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nl-NL" smtClean="0"/>
              <a:t>Klik om de modelstijlen te bewerken</a:t>
            </a:r>
          </a:p>
          <a:p>
            <a:pPr lvl="1" eaLnBrk="1" latinLnBrk="0" hangingPunct="1"/>
            <a:r>
              <a:rPr kumimoji="0" lang="nl-NL" smtClean="0"/>
              <a:t>Tweede niveau</a:t>
            </a:r>
          </a:p>
          <a:p>
            <a:pPr lvl="2" eaLnBrk="1" latinLnBrk="0" hangingPunct="1"/>
            <a:r>
              <a:rPr kumimoji="0" lang="nl-NL" smtClean="0"/>
              <a:t>Derde niveau</a:t>
            </a:r>
          </a:p>
          <a:p>
            <a:pPr lvl="3" eaLnBrk="1" latinLnBrk="0" hangingPunct="1"/>
            <a:r>
              <a:rPr kumimoji="0" lang="nl-NL" smtClean="0"/>
              <a:t>Vierde niveau</a:t>
            </a:r>
          </a:p>
          <a:p>
            <a:pPr lvl="4" eaLnBrk="1" latinLnBrk="0" hangingPunct="1"/>
            <a:r>
              <a:rPr kumimoji="0" lang="nl-NL" smtClean="0"/>
              <a:t>Vijfde niveau</a:t>
            </a:r>
            <a:endParaRPr kumimoji="0" lang="en-US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7778C63-F44D-4A21-8A03-C1ACDF745E07}" type="datetime1">
              <a:rPr lang="nl-NL" smtClean="0"/>
              <a:t>30-9-2015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ngl.org/registry/doc/GLSLangSpec.4.20.8.clean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ngl.org/registry/doc/GLSLangSpec.4.20.8.clean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ngl.org/registry/doc/GLSLangSpec.4.20.8.clean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ngl.org/registry/doc/GLSLangSpec.4.20.8.clean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smtClean="0"/>
              <a:t>V3D1</a:t>
            </a:r>
            <a:br>
              <a:rPr lang="en-US" noProof="0" dirty="0" smtClean="0"/>
            </a:br>
            <a:r>
              <a:rPr lang="en-US" dirty="0" smtClean="0"/>
              <a:t>WEEK 3a</a:t>
            </a:r>
            <a:endParaRPr lang="en-US" noProof="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Shaders</a:t>
            </a:r>
            <a:endParaRPr lang="en-US" noProof="0" dirty="0" smtClean="0"/>
          </a:p>
          <a:p>
            <a:r>
              <a:rPr lang="en-US" noProof="0" dirty="0" smtClean="0"/>
              <a:t>Transparency/Blending/Fog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69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Types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GLSL </a:t>
            </a:r>
            <a:r>
              <a:rPr lang="en-US" dirty="0"/>
              <a:t>has some </a:t>
            </a:r>
            <a:r>
              <a:rPr lang="en-US" u="sng" dirty="0"/>
              <a:t>built-in attributes</a:t>
            </a:r>
            <a:r>
              <a:rPr lang="en-US" dirty="0"/>
              <a:t> in a vertex </a:t>
            </a:r>
            <a:r>
              <a:rPr lang="en-US" dirty="0" err="1"/>
              <a:t>shader</a:t>
            </a:r>
            <a:r>
              <a:rPr lang="en-US" dirty="0"/>
              <a:t>: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gl_Vertex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4D </a:t>
            </a:r>
            <a:r>
              <a:rPr lang="en-US" dirty="0"/>
              <a:t>vector representing the vertex position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gl_Normal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3D </a:t>
            </a:r>
            <a:r>
              <a:rPr lang="en-US" dirty="0"/>
              <a:t>vector representing the vertex normal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gl_Color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4D </a:t>
            </a:r>
            <a:r>
              <a:rPr lang="en-US" dirty="0"/>
              <a:t>vector representing the vertex color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gl_MultiTexCoordX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4D </a:t>
            </a:r>
            <a:r>
              <a:rPr lang="en-US" dirty="0"/>
              <a:t>vector representing the texture coordinate of texture unit X</a:t>
            </a:r>
          </a:p>
          <a:p>
            <a:r>
              <a:rPr lang="en-US" dirty="0" smtClean="0"/>
              <a:t>See the </a:t>
            </a:r>
            <a:r>
              <a:rPr lang="en-US" dirty="0" smtClean="0">
                <a:hlinkClick r:id="rId2"/>
              </a:rPr>
              <a:t>GLSL specification </a:t>
            </a:r>
            <a:r>
              <a:rPr lang="en-US" dirty="0" smtClean="0"/>
              <a:t>for a full 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07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Types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3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GLSL </a:t>
            </a:r>
            <a:r>
              <a:rPr lang="en-US" dirty="0"/>
              <a:t>also has some built-in uniforms: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gl_ModelViewMatrix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4x4 </a:t>
            </a:r>
            <a:r>
              <a:rPr lang="en-US" dirty="0"/>
              <a:t>Matrix representing the model-view </a:t>
            </a:r>
            <a:r>
              <a:rPr lang="en-US" dirty="0" smtClean="0"/>
              <a:t>matrix</a:t>
            </a:r>
            <a:endParaRPr lang="en-US" dirty="0"/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gl_ModelViewProjectionMatrix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4x4 </a:t>
            </a:r>
            <a:r>
              <a:rPr lang="en-US" dirty="0"/>
              <a:t>Matrix representing the model-view-projection </a:t>
            </a:r>
            <a:r>
              <a:rPr lang="en-US" dirty="0" smtClean="0"/>
              <a:t>matrix</a:t>
            </a:r>
            <a:endParaRPr lang="en-US" dirty="0"/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gl_NormalMatrix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3x3 </a:t>
            </a:r>
            <a:r>
              <a:rPr lang="en-US" dirty="0"/>
              <a:t>Matrix representing the inverse transpose model-view </a:t>
            </a:r>
            <a:r>
              <a:rPr lang="en-US" dirty="0" smtClean="0"/>
              <a:t>matrix; this </a:t>
            </a:r>
            <a:r>
              <a:rPr lang="en-US" dirty="0"/>
              <a:t>matrix is used for </a:t>
            </a:r>
            <a:r>
              <a:rPr lang="en-US" dirty="0" smtClean="0"/>
              <a:t>transformation of </a:t>
            </a:r>
            <a:r>
              <a:rPr lang="en-US" dirty="0" err="1" smtClean="0"/>
              <a:t>normals</a:t>
            </a:r>
            <a:endParaRPr lang="en-US" dirty="0" smtClean="0"/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gl_LightSource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Array that contains information about all light sources</a:t>
            </a:r>
            <a:endParaRPr lang="en-US" dirty="0"/>
          </a:p>
          <a:p>
            <a:r>
              <a:rPr lang="en-US" dirty="0" smtClean="0"/>
              <a:t>See </a:t>
            </a:r>
            <a:r>
              <a:rPr lang="en-US" dirty="0"/>
              <a:t>the </a:t>
            </a:r>
            <a:r>
              <a:rPr lang="en-US" dirty="0">
                <a:hlinkClick r:id="rId2"/>
              </a:rPr>
              <a:t>GLSL specification </a:t>
            </a:r>
            <a:r>
              <a:rPr lang="en-US" dirty="0"/>
              <a:t>for a full </a:t>
            </a:r>
            <a:r>
              <a:rPr lang="en-US" dirty="0" smtClean="0"/>
              <a:t>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68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Types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4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GLSL </a:t>
            </a:r>
            <a:r>
              <a:rPr lang="en-US" dirty="0"/>
              <a:t>Built-In </a:t>
            </a:r>
            <a:r>
              <a:rPr lang="en-US" dirty="0" err="1"/>
              <a:t>Varyings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gl_FrontColor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4D </a:t>
            </a:r>
            <a:r>
              <a:rPr lang="en-US" dirty="0"/>
              <a:t>vector representing the primitives front color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gl_BackColor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4D </a:t>
            </a:r>
            <a:r>
              <a:rPr lang="en-US" dirty="0"/>
              <a:t>vector representing the primitives back color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gl_TexCoord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[X]</a:t>
            </a:r>
          </a:p>
          <a:p>
            <a:pPr lvl="2"/>
            <a:r>
              <a:rPr lang="en-US" dirty="0" smtClean="0"/>
              <a:t>4D </a:t>
            </a:r>
            <a:r>
              <a:rPr lang="en-US" dirty="0"/>
              <a:t>vector representing </a:t>
            </a:r>
            <a:r>
              <a:rPr lang="en-US" dirty="0" smtClean="0"/>
              <a:t>coordinates of the X</a:t>
            </a:r>
            <a:r>
              <a:rPr lang="en-US" baseline="30000" dirty="0" smtClean="0"/>
              <a:t>th</a:t>
            </a:r>
            <a:r>
              <a:rPr lang="en-US" dirty="0" smtClean="0"/>
              <a:t> texture</a:t>
            </a:r>
          </a:p>
          <a:p>
            <a:r>
              <a:rPr lang="en-US" dirty="0" smtClean="0"/>
              <a:t>See </a:t>
            </a:r>
            <a:r>
              <a:rPr lang="en-US" dirty="0"/>
              <a:t>the </a:t>
            </a:r>
            <a:r>
              <a:rPr lang="en-US" dirty="0">
                <a:hlinkClick r:id="rId2"/>
              </a:rPr>
              <a:t>GLSL specification </a:t>
            </a:r>
            <a:r>
              <a:rPr lang="en-US" dirty="0"/>
              <a:t>for a full list</a:t>
            </a:r>
          </a:p>
        </p:txBody>
      </p:sp>
    </p:spTree>
    <p:extLst>
      <p:ext uri="{BB962C8B-B14F-4D97-AF65-F5344CB8AC3E}">
        <p14:creationId xmlns:p14="http://schemas.microsoft.com/office/powerpoint/2010/main" val="264085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Types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5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Built-in types which </a:t>
            </a:r>
            <a:r>
              <a:rPr lang="en-US" dirty="0"/>
              <a:t>are used for </a:t>
            </a:r>
            <a:r>
              <a:rPr lang="en-US" dirty="0" err="1"/>
              <a:t>shader</a:t>
            </a:r>
            <a:r>
              <a:rPr lang="en-US" dirty="0"/>
              <a:t> output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gl_Position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4D </a:t>
            </a:r>
            <a:r>
              <a:rPr lang="en-US" dirty="0"/>
              <a:t>vector representing the final processed vertex position. </a:t>
            </a:r>
            <a:r>
              <a:rPr lang="en-US" dirty="0" smtClean="0"/>
              <a:t>Must be set in the vertex </a:t>
            </a:r>
            <a:r>
              <a:rPr lang="en-US" dirty="0" err="1" smtClean="0"/>
              <a:t>shader</a:t>
            </a:r>
            <a:endParaRPr lang="en-US" dirty="0"/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gl_FragColor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4D </a:t>
            </a:r>
            <a:r>
              <a:rPr lang="en-US" dirty="0"/>
              <a:t>vector representing the final color which is written in the </a:t>
            </a:r>
            <a:r>
              <a:rPr lang="en-US" dirty="0" smtClean="0"/>
              <a:t>frame buffer</a:t>
            </a:r>
            <a:r>
              <a:rPr lang="en-US" dirty="0"/>
              <a:t>. </a:t>
            </a:r>
            <a:r>
              <a:rPr lang="en-US" dirty="0" smtClean="0"/>
              <a:t>Must be set in the fragment </a:t>
            </a:r>
            <a:r>
              <a:rPr lang="en-US" dirty="0" err="1" smtClean="0"/>
              <a:t>shader</a:t>
            </a:r>
            <a:endParaRPr lang="en-US" dirty="0"/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gl_FragDepth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float </a:t>
            </a:r>
            <a:r>
              <a:rPr lang="en-US" dirty="0"/>
              <a:t>representing the depth which is written in the depth </a:t>
            </a:r>
            <a:r>
              <a:rPr lang="en-US" dirty="0" smtClean="0"/>
              <a:t>buffer. Should be set in the fragment </a:t>
            </a:r>
            <a:r>
              <a:rPr lang="en-US" dirty="0" err="1" smtClean="0"/>
              <a:t>shader</a:t>
            </a:r>
            <a:endParaRPr lang="en-US" dirty="0" smtClean="0"/>
          </a:p>
          <a:p>
            <a:r>
              <a:rPr lang="en-US" dirty="0"/>
              <a:t>See the </a:t>
            </a:r>
            <a:r>
              <a:rPr lang="en-US" dirty="0">
                <a:hlinkClick r:id="rId2"/>
              </a:rPr>
              <a:t>GLSL specification </a:t>
            </a:r>
            <a:r>
              <a:rPr lang="en-US" dirty="0"/>
              <a:t>for a full </a:t>
            </a:r>
            <a:r>
              <a:rPr lang="en-US" dirty="0" smtClean="0"/>
              <a:t>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98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Types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6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Built-in </a:t>
            </a:r>
            <a:r>
              <a:rPr lang="en-US" dirty="0"/>
              <a:t>types </a:t>
            </a:r>
            <a:r>
              <a:rPr lang="en-US" dirty="0" smtClean="0"/>
              <a:t>are </a:t>
            </a:r>
            <a:r>
              <a:rPr lang="en-US" dirty="0"/>
              <a:t>mapped to the </a:t>
            </a:r>
            <a:r>
              <a:rPr lang="en-US" dirty="0" smtClean="0"/>
              <a:t>things you do in </a:t>
            </a:r>
            <a:r>
              <a:rPr lang="en-US" dirty="0" err="1" smtClean="0"/>
              <a:t>Vizard</a:t>
            </a:r>
            <a:endParaRPr lang="en-US" dirty="0" smtClean="0"/>
          </a:p>
          <a:p>
            <a:r>
              <a:rPr lang="en-US" dirty="0" smtClean="0"/>
              <a:t>For example: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you </a:t>
            </a:r>
            <a:r>
              <a:rPr lang="en-US" dirty="0" smtClean="0"/>
              <a:t>do the following in </a:t>
            </a:r>
            <a:r>
              <a:rPr lang="en-US" dirty="0" err="1" smtClean="0"/>
              <a:t>Vizard</a:t>
            </a:r>
            <a:endParaRPr lang="en-US" dirty="0" smtClean="0"/>
          </a:p>
          <a:p>
            <a:pPr lvl="2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myLight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viz.addLight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myLight.setPosition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(…)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smtClean="0"/>
              <a:t>then this light position is </a:t>
            </a:r>
            <a:r>
              <a:rPr lang="en-US" dirty="0"/>
              <a:t>available in a vertex and/or a fragment </a:t>
            </a:r>
            <a:r>
              <a:rPr lang="en-US" dirty="0" err="1" smtClean="0"/>
              <a:t>shader</a:t>
            </a:r>
            <a:r>
              <a:rPr lang="en-US" dirty="0" smtClean="0"/>
              <a:t> as follows:</a:t>
            </a:r>
          </a:p>
          <a:p>
            <a:pPr lvl="2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gl_LightSource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[0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].position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81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1A743AD-CE09-4EA9-88E2-2218B50A48D5}" type="slidenum">
              <a:rPr lang="nl-NL"/>
              <a:pPr/>
              <a:t>7</a:t>
            </a:fld>
            <a:endParaRPr lang="nl-NL"/>
          </a:p>
        </p:txBody>
      </p:sp>
      <p:sp>
        <p:nvSpPr>
          <p:cNvPr id="19353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Transparency (1)</a:t>
            </a:r>
            <a:endParaRPr lang="en-US" dirty="0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Transparency means that we can (vaguely) see objects which are behind a transparent object</a:t>
            </a:r>
          </a:p>
          <a:p>
            <a:r>
              <a:rPr lang="en-US" dirty="0" smtClean="0"/>
              <a:t>Then, the color of a pixel is the combination of</a:t>
            </a:r>
          </a:p>
          <a:p>
            <a:pPr lvl="1"/>
            <a:r>
              <a:rPr lang="en-US" dirty="0" smtClean="0"/>
              <a:t>the transparent object in the front, and </a:t>
            </a:r>
          </a:p>
          <a:p>
            <a:pPr lvl="1"/>
            <a:r>
              <a:rPr lang="en-US" dirty="0" smtClean="0"/>
              <a:t>the object behind it</a:t>
            </a:r>
          </a:p>
          <a:p>
            <a:r>
              <a:rPr lang="en-US" dirty="0" smtClean="0"/>
              <a:t>In this combination the </a:t>
            </a:r>
            <a:r>
              <a:rPr lang="en-US" u="sng" dirty="0" smtClean="0"/>
              <a:t>alpha</a:t>
            </a:r>
            <a:r>
              <a:rPr lang="en-US" dirty="0" smtClean="0"/>
              <a:t>-value of the front object is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14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Transparency (2)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E0C5E8A-7BFC-4848-94E8-D0B8DD7DE776}" type="slidenum">
              <a:rPr lang="nl-NL"/>
              <a:pPr/>
              <a:t>8</a:t>
            </a:fld>
            <a:endParaRPr lang="nl-NL"/>
          </a:p>
        </p:txBody>
      </p:sp>
      <p:sp>
        <p:nvSpPr>
          <p:cNvPr id="1945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alpha is a value between 0 and 1 </a:t>
            </a:r>
          </a:p>
          <a:p>
            <a:pPr lvl="1"/>
            <a:r>
              <a:rPr lang="en-US" dirty="0" smtClean="0"/>
              <a:t>alpha=0: object is fully transparent (</a:t>
            </a:r>
            <a:r>
              <a:rPr lang="en-US" u="sng" dirty="0" smtClean="0"/>
              <a:t>translucent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alpha=1: object is fully non-transparent (</a:t>
            </a:r>
            <a:r>
              <a:rPr lang="en-US" u="sng" dirty="0" smtClean="0"/>
              <a:t>opaque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15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26B9478-81D9-4821-ADE4-6BC97AC5BD8B}" type="slidenum">
              <a:rPr lang="nl-NL"/>
              <a:pPr/>
              <a:t>9</a:t>
            </a:fld>
            <a:endParaRPr lang="nl-NL"/>
          </a:p>
        </p:txBody>
      </p:sp>
      <p:sp>
        <p:nvSpPr>
          <p:cNvPr id="19661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 without transparency</a:t>
            </a:r>
            <a:endParaRPr lang="en-US" dirty="0"/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1600200"/>
            <a:ext cx="8279832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When an image is rendered, the polygons are drawn one by one, not necessarily from back to front</a:t>
            </a:r>
          </a:p>
          <a:p>
            <a:r>
              <a:rPr lang="en-US" dirty="0" smtClean="0"/>
              <a:t>Without transparency, the depth buffer is used:</a:t>
            </a:r>
          </a:p>
          <a:p>
            <a:pPr lvl="1"/>
            <a:r>
              <a:rPr lang="en-US" dirty="0" smtClean="0"/>
              <a:t>For every new fragment, it is checked whether it is farther away or nearer than the already drawn fragment on the same pixel</a:t>
            </a:r>
          </a:p>
          <a:p>
            <a:pPr lvl="2"/>
            <a:r>
              <a:rPr lang="en-US" dirty="0" smtClean="0"/>
              <a:t>When the new fragment is farther away, it is not drawn</a:t>
            </a:r>
          </a:p>
          <a:p>
            <a:pPr lvl="2"/>
            <a:r>
              <a:rPr lang="en-US" dirty="0" smtClean="0"/>
              <a:t>When the new fragment is nearer, it replaces the old fragment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38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E77C579-62B9-43A8-9682-8342A231A938}" type="slidenum">
              <a:rPr lang="nl-NL"/>
              <a:pPr/>
              <a:t>10</a:t>
            </a:fld>
            <a:endParaRPr lang="nl-NL" dirty="0"/>
          </a:p>
        </p:txBody>
      </p:sp>
      <p:sp>
        <p:nvSpPr>
          <p:cNvPr id="20173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</a:t>
            </a:r>
            <a:r>
              <a:rPr lang="en-US" dirty="0" smtClean="0"/>
              <a:t>transparent objects only</a:t>
            </a: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With </a:t>
            </a:r>
            <a:r>
              <a:rPr lang="en-US" dirty="0"/>
              <a:t>transparency, it is much more complicated</a:t>
            </a:r>
          </a:p>
          <a:p>
            <a:r>
              <a:rPr lang="en-US" dirty="0" smtClean="0"/>
              <a:t>When a new fragment is closer than an already drawn fragment, it is drawn as follows:</a:t>
            </a:r>
          </a:p>
          <a:p>
            <a:pPr lvl="1"/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alpha*source + (1-alpha)*destination</a:t>
            </a:r>
          </a:p>
          <a:p>
            <a:pPr lvl="2"/>
            <a:r>
              <a:rPr lang="en-US" dirty="0">
                <a:latin typeface="Courier New" pitchFamily="49" charset="0"/>
                <a:cs typeface="Courier New" pitchFamily="49" charset="0"/>
              </a:rPr>
              <a:t>destination</a:t>
            </a:r>
            <a:r>
              <a:rPr lang="en-US" dirty="0"/>
              <a:t> is the color already in the </a:t>
            </a:r>
            <a:r>
              <a:rPr lang="en-US" dirty="0" err="1"/>
              <a:t>framebuffer</a:t>
            </a:r>
            <a:endParaRPr lang="en-US" dirty="0"/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source</a:t>
            </a:r>
            <a:r>
              <a:rPr lang="en-US" dirty="0" smtClean="0"/>
              <a:t> is the color of the new fragment</a:t>
            </a:r>
          </a:p>
          <a:p>
            <a:pPr lvl="2"/>
            <a:r>
              <a:rPr lang="en-US" dirty="0" smtClean="0">
                <a:latin typeface="Courier New" pitchFamily="49" charset="0"/>
                <a:cs typeface="Courier New" pitchFamily="49" charset="0"/>
              </a:rPr>
              <a:t>alpha</a:t>
            </a:r>
            <a:r>
              <a:rPr lang="en-US" dirty="0" smtClean="0"/>
              <a:t> is the alpha component of the new fragment</a:t>
            </a:r>
          </a:p>
          <a:p>
            <a:r>
              <a:rPr lang="en-US" dirty="0" smtClean="0"/>
              <a:t>To do this right, transparent fragments must be drawn from </a:t>
            </a:r>
            <a:r>
              <a:rPr lang="en-US" u="sng" dirty="0" smtClean="0"/>
              <a:t>far to near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70403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Rendering order is important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11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Suppose we have 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>
                <a:solidFill>
                  <a:srgbClr val="00FF00"/>
                </a:solidFill>
              </a:rPr>
              <a:t>green</a:t>
            </a:r>
            <a:r>
              <a:rPr lang="en-US" dirty="0" smtClean="0"/>
              <a:t> transparent object, alpha = ½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>
                <a:solidFill>
                  <a:srgbClr val="FF0000"/>
                </a:solidFill>
              </a:rPr>
              <a:t>red</a:t>
            </a:r>
            <a:r>
              <a:rPr lang="en-US" dirty="0" smtClean="0"/>
              <a:t> transparent object, alpha = ½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>
                <a:solidFill>
                  <a:srgbClr val="0000FF"/>
                </a:solidFill>
              </a:rPr>
              <a:t>blue</a:t>
            </a:r>
            <a:r>
              <a:rPr lang="en-US" dirty="0" smtClean="0"/>
              <a:t> background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Red</a:t>
            </a:r>
            <a:r>
              <a:rPr lang="en-US" dirty="0" smtClean="0"/>
              <a:t> behind </a:t>
            </a:r>
            <a:r>
              <a:rPr lang="en-US" b="1" dirty="0" smtClean="0">
                <a:solidFill>
                  <a:srgbClr val="00FF00"/>
                </a:solidFill>
              </a:rPr>
              <a:t>green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first </a:t>
            </a:r>
            <a:r>
              <a:rPr lang="en-US" b="1" dirty="0" smtClean="0">
                <a:solidFill>
                  <a:srgbClr val="FF0000"/>
                </a:solidFill>
              </a:rPr>
              <a:t>red</a:t>
            </a:r>
            <a:r>
              <a:rPr lang="en-US" dirty="0" smtClean="0"/>
              <a:t> object is drawn on </a:t>
            </a:r>
            <a:r>
              <a:rPr lang="en-US" b="1" dirty="0" smtClean="0">
                <a:solidFill>
                  <a:srgbClr val="0000FF"/>
                </a:solidFill>
              </a:rPr>
              <a:t>blue</a:t>
            </a:r>
            <a:r>
              <a:rPr lang="en-US" dirty="0" smtClean="0"/>
              <a:t> background</a:t>
            </a:r>
          </a:p>
          <a:p>
            <a:pPr lvl="2"/>
            <a:r>
              <a:rPr lang="en-US" dirty="0" smtClean="0"/>
              <a:t>½*</a:t>
            </a:r>
            <a:r>
              <a:rPr lang="en-US" b="1" dirty="0" smtClean="0">
                <a:solidFill>
                  <a:srgbClr val="FF0000"/>
                </a:solidFill>
              </a:rPr>
              <a:t>(1,0,0)</a:t>
            </a:r>
            <a:r>
              <a:rPr lang="en-US" dirty="0" smtClean="0"/>
              <a:t> + ½*</a:t>
            </a:r>
            <a:r>
              <a:rPr lang="en-US" b="1" dirty="0" smtClean="0">
                <a:solidFill>
                  <a:srgbClr val="0000FF"/>
                </a:solidFill>
              </a:rPr>
              <a:t>(0,0,1)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800080"/>
                </a:solidFill>
              </a:rPr>
              <a:t>(½,0, ½)</a:t>
            </a:r>
          </a:p>
          <a:p>
            <a:pPr lvl="1"/>
            <a:r>
              <a:rPr lang="en-US" dirty="0" smtClean="0"/>
              <a:t>then </a:t>
            </a:r>
            <a:r>
              <a:rPr lang="en-US" b="1" dirty="0" smtClean="0">
                <a:solidFill>
                  <a:srgbClr val="00FF00"/>
                </a:solidFill>
              </a:rPr>
              <a:t>green</a:t>
            </a:r>
            <a:r>
              <a:rPr lang="en-US" dirty="0" smtClean="0"/>
              <a:t> object is drawn:</a:t>
            </a:r>
          </a:p>
          <a:p>
            <a:pPr lvl="2"/>
            <a:r>
              <a:rPr lang="en-US" dirty="0" smtClean="0"/>
              <a:t>½*</a:t>
            </a:r>
            <a:r>
              <a:rPr lang="en-US" b="1" dirty="0" smtClean="0">
                <a:solidFill>
                  <a:srgbClr val="00FF00"/>
                </a:solidFill>
              </a:rPr>
              <a:t>(0,1,0)</a:t>
            </a:r>
            <a:r>
              <a:rPr lang="en-US" dirty="0" smtClean="0"/>
              <a:t> + ½*</a:t>
            </a:r>
            <a:r>
              <a:rPr lang="en-US" b="1" dirty="0" smtClean="0">
                <a:solidFill>
                  <a:srgbClr val="800080"/>
                </a:solidFill>
              </a:rPr>
              <a:t>( ½,0,½)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408040"/>
                </a:solidFill>
              </a:rPr>
              <a:t>(¼,½,¼) (more greenish)</a:t>
            </a:r>
          </a:p>
          <a:p>
            <a:r>
              <a:rPr lang="en-US" b="1" dirty="0" smtClean="0">
                <a:solidFill>
                  <a:srgbClr val="00FF00"/>
                </a:solidFill>
              </a:rPr>
              <a:t>Green</a:t>
            </a:r>
            <a:r>
              <a:rPr lang="en-US" dirty="0" smtClean="0"/>
              <a:t> behind </a:t>
            </a:r>
            <a:r>
              <a:rPr lang="en-US" b="1" dirty="0" smtClean="0">
                <a:solidFill>
                  <a:srgbClr val="FF0000"/>
                </a:solidFill>
              </a:rPr>
              <a:t>red</a:t>
            </a:r>
            <a:r>
              <a:rPr lang="en-US" dirty="0" smtClean="0"/>
              <a:t> would result in:</a:t>
            </a:r>
          </a:p>
          <a:p>
            <a:pPr lvl="2"/>
            <a:r>
              <a:rPr lang="en-US" dirty="0" smtClean="0"/>
              <a:t>½*</a:t>
            </a:r>
            <a:r>
              <a:rPr lang="en-US" b="1" dirty="0" smtClean="0">
                <a:solidFill>
                  <a:srgbClr val="FF0000"/>
                </a:solidFill>
              </a:rPr>
              <a:t>(1,0,0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 + ½*</a:t>
            </a:r>
            <a:r>
              <a:rPr lang="en-US" b="1" dirty="0">
                <a:solidFill>
                  <a:srgbClr val="008080"/>
                </a:solidFill>
              </a:rPr>
              <a:t>( </a:t>
            </a:r>
            <a:r>
              <a:rPr lang="en-US" b="1" dirty="0" smtClean="0">
                <a:solidFill>
                  <a:srgbClr val="008080"/>
                </a:solidFill>
              </a:rPr>
              <a:t>0,½,½)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b="1" dirty="0" smtClean="0">
                <a:solidFill>
                  <a:srgbClr val="804040"/>
                </a:solidFill>
              </a:rPr>
              <a:t>(</a:t>
            </a:r>
            <a:r>
              <a:rPr lang="en-US" b="1" dirty="0">
                <a:solidFill>
                  <a:srgbClr val="804040"/>
                </a:solidFill>
              </a:rPr>
              <a:t>½,</a:t>
            </a:r>
            <a:r>
              <a:rPr lang="en-US" b="1" dirty="0" smtClean="0">
                <a:solidFill>
                  <a:srgbClr val="804040"/>
                </a:solidFill>
              </a:rPr>
              <a:t>¼, ¼) (more reddish)</a:t>
            </a:r>
            <a:endParaRPr lang="en-US" b="1" dirty="0">
              <a:solidFill>
                <a:srgbClr val="804040"/>
              </a:solidFill>
            </a:endParaRP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24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612648" y="116632"/>
            <a:ext cx="8153400" cy="1102568"/>
          </a:xfrm>
        </p:spPr>
        <p:txBody>
          <a:bodyPr>
            <a:noAutofit/>
          </a:bodyPr>
          <a:lstStyle/>
          <a:p>
            <a:r>
              <a:rPr lang="en-US" dirty="0" smtClean="0"/>
              <a:t>Rendering transparent and opaque objects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A0FB35-B9ED-47CD-B824-4AF148DA3820}" type="slidenum">
              <a:rPr lang="nl-NL"/>
              <a:pPr/>
              <a:t>12</a:t>
            </a:fld>
            <a:endParaRPr lang="nl-NL" dirty="0"/>
          </a:p>
        </p:txBody>
      </p:sp>
      <p:sp>
        <p:nvSpPr>
          <p:cNvPr id="2037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General approach when there are both transparent and opaque objects:</a:t>
            </a:r>
          </a:p>
          <a:p>
            <a:pPr lvl="2"/>
            <a:r>
              <a:rPr lang="en-US" dirty="0" smtClean="0"/>
              <a:t>First all opaque fragments are drawn </a:t>
            </a:r>
            <a:r>
              <a:rPr lang="en-US" dirty="0"/>
              <a:t>in </a:t>
            </a:r>
            <a:r>
              <a:rPr lang="en-US" dirty="0" smtClean="0"/>
              <a:t>the normal way, using the depth buffer</a:t>
            </a:r>
          </a:p>
          <a:p>
            <a:pPr lvl="2"/>
            <a:r>
              <a:rPr lang="en-US" dirty="0" smtClean="0"/>
              <a:t>Then, the depth buffer is made </a:t>
            </a:r>
            <a:r>
              <a:rPr lang="en-US" u="sng" dirty="0" smtClean="0"/>
              <a:t>read-only</a:t>
            </a:r>
          </a:p>
          <a:p>
            <a:pPr lvl="3"/>
            <a:r>
              <a:rPr lang="en-US" dirty="0" smtClean="0"/>
              <a:t>Note: </a:t>
            </a:r>
            <a:r>
              <a:rPr lang="en-US" dirty="0" err="1" smtClean="0"/>
              <a:t>Vizard</a:t>
            </a:r>
            <a:r>
              <a:rPr lang="en-US" dirty="0" smtClean="0"/>
              <a:t> does </a:t>
            </a:r>
            <a:r>
              <a:rPr lang="en-US" u="sng" dirty="0" smtClean="0"/>
              <a:t>not</a:t>
            </a:r>
            <a:r>
              <a:rPr lang="en-US" dirty="0" smtClean="0"/>
              <a:t> do this automatically</a:t>
            </a:r>
          </a:p>
          <a:p>
            <a:pPr lvl="2"/>
            <a:r>
              <a:rPr lang="en-US" dirty="0" smtClean="0"/>
              <a:t>All transparent fragments are drawn, </a:t>
            </a:r>
            <a:r>
              <a:rPr lang="en-US" u="sng" dirty="0" smtClean="0"/>
              <a:t>from far to near</a:t>
            </a:r>
          </a:p>
          <a:p>
            <a:pPr lvl="3"/>
            <a:r>
              <a:rPr lang="en-US" dirty="0" smtClean="0"/>
              <a:t>Depth buffer is used only to check whether a transparent object is behind an opaque object</a:t>
            </a:r>
          </a:p>
          <a:p>
            <a:pPr lvl="3"/>
            <a:r>
              <a:rPr lang="en-US" dirty="0" smtClean="0"/>
              <a:t>Depth buffer is not changed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08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 order bins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13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Vizard</a:t>
            </a:r>
            <a:r>
              <a:rPr lang="en-US" dirty="0" smtClean="0"/>
              <a:t> uses 2 so called ‘bins’ to store objects</a:t>
            </a:r>
          </a:p>
          <a:p>
            <a:pPr lvl="1"/>
            <a:r>
              <a:rPr lang="nl-NL" dirty="0" err="1">
                <a:latin typeface="Courier New" pitchFamily="49" charset="0"/>
                <a:cs typeface="Courier New" pitchFamily="49" charset="0"/>
              </a:rPr>
              <a:t>viz.BIN_OPAQUE</a:t>
            </a:r>
            <a:endParaRPr lang="nl-NL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Bin for the opaque objects, which contains the objects in a non-sorted order</a:t>
            </a:r>
          </a:p>
          <a:p>
            <a:pPr lvl="1"/>
            <a:r>
              <a:rPr lang="nl-NL" dirty="0" err="1">
                <a:latin typeface="Courier New" pitchFamily="49" charset="0"/>
                <a:cs typeface="Courier New" pitchFamily="49" charset="0"/>
              </a:rPr>
              <a:t>viz.BIN_TRANSPARENT</a:t>
            </a:r>
            <a:endParaRPr lang="nl-NL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smtClean="0"/>
              <a:t>Bin for the transparent objects, which are automatically </a:t>
            </a:r>
            <a:r>
              <a:rPr lang="en-US" u="sng" dirty="0" smtClean="0"/>
              <a:t>depth-sorted</a:t>
            </a:r>
            <a:r>
              <a:rPr lang="en-US" dirty="0" smtClean="0"/>
              <a:t> to ensure </a:t>
            </a:r>
            <a:r>
              <a:rPr lang="en-US" dirty="0"/>
              <a:t>correct </a:t>
            </a:r>
            <a:r>
              <a:rPr lang="en-US" dirty="0" smtClean="0"/>
              <a:t>rendering</a:t>
            </a:r>
          </a:p>
          <a:p>
            <a:r>
              <a:rPr lang="en-US" dirty="0" smtClean="0"/>
              <a:t>When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alpha</a:t>
            </a:r>
            <a:r>
              <a:rPr lang="en-US" dirty="0" smtClean="0"/>
              <a:t> of an object is changed, </a:t>
            </a:r>
            <a:r>
              <a:rPr lang="en-US" dirty="0" err="1" smtClean="0"/>
              <a:t>Vizard</a:t>
            </a:r>
            <a:r>
              <a:rPr lang="en-US" dirty="0" smtClean="0"/>
              <a:t> will enable blending for that object and put that object in the Transparent Bin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385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Transparency problem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14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How can fragments be ordered from far to near?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Transparent objects B and C</a:t>
            </a:r>
          </a:p>
          <a:p>
            <a:pPr lvl="1"/>
            <a:r>
              <a:rPr lang="en-US" dirty="0" smtClean="0"/>
              <a:t>A is the Point Of View</a:t>
            </a:r>
          </a:p>
          <a:p>
            <a:pPr lvl="1"/>
            <a:r>
              <a:rPr lang="en-US" dirty="0" smtClean="0"/>
              <a:t>How to decide that C is in </a:t>
            </a:r>
            <a:br>
              <a:rPr lang="en-US" dirty="0" smtClean="0"/>
            </a:br>
            <a:r>
              <a:rPr lang="en-US" dirty="0" smtClean="0"/>
              <a:t>front of B?</a:t>
            </a:r>
          </a:p>
          <a:p>
            <a:pPr lvl="2"/>
            <a:r>
              <a:rPr lang="en-US" dirty="0" smtClean="0"/>
              <a:t>Compare the center points of B and C?</a:t>
            </a:r>
          </a:p>
          <a:p>
            <a:pPr lvl="2"/>
            <a:r>
              <a:rPr lang="en-US" dirty="0" smtClean="0"/>
              <a:t>Compare the nearest points of B and C?</a:t>
            </a:r>
          </a:p>
          <a:p>
            <a:pPr lvl="2"/>
            <a:r>
              <a:rPr lang="en-US" dirty="0" smtClean="0"/>
              <a:t>Compare the farthest points of B and C?</a:t>
            </a:r>
          </a:p>
          <a:p>
            <a:pPr lvl="1"/>
            <a:r>
              <a:rPr lang="en-US" dirty="0" smtClean="0"/>
              <a:t>None of these work well!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632" y="2060848"/>
            <a:ext cx="3807032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4803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</a:t>
            </a:r>
            <a:r>
              <a:rPr lang="en-US" dirty="0" err="1" smtClean="0"/>
              <a:t>arounds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15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Possible solutions to the drawing order problem:</a:t>
            </a:r>
          </a:p>
          <a:p>
            <a:pPr lvl="1"/>
            <a:r>
              <a:rPr lang="en-US" dirty="0" smtClean="0"/>
              <a:t>Accept that it is sometimes not correct</a:t>
            </a:r>
            <a:br>
              <a:rPr lang="en-US" dirty="0" smtClean="0"/>
            </a:br>
            <a:r>
              <a:rPr lang="en-US" dirty="0" smtClean="0"/>
              <a:t>or</a:t>
            </a:r>
          </a:p>
          <a:p>
            <a:pPr lvl="1"/>
            <a:r>
              <a:rPr lang="en-US" dirty="0" smtClean="0"/>
              <a:t>Make sure that there are no overlapping transparent objects in the scene</a:t>
            </a:r>
            <a:br>
              <a:rPr lang="en-US" dirty="0" smtClean="0"/>
            </a:br>
            <a:r>
              <a:rPr lang="en-US" dirty="0" smtClean="0"/>
              <a:t>or</a:t>
            </a:r>
          </a:p>
          <a:p>
            <a:pPr lvl="1"/>
            <a:r>
              <a:rPr lang="en-US" dirty="0" smtClean="0"/>
              <a:t>Let the programmer define the order in which to draw transparent objects (use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drawOrder</a:t>
            </a:r>
            <a:r>
              <a:rPr lang="en-US" dirty="0" smtClean="0"/>
              <a:t>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56301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8B9622D-E3E8-473D-A5FE-18DBBCE67834}" type="slidenum">
              <a:rPr lang="nl-NL"/>
              <a:pPr/>
              <a:t>16</a:t>
            </a:fld>
            <a:endParaRPr lang="nl-NL" dirty="0"/>
          </a:p>
        </p:txBody>
      </p:sp>
      <p:sp>
        <p:nvSpPr>
          <p:cNvPr id="19763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Blending</a:t>
            </a:r>
            <a:endParaRPr lang="en-US" dirty="0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Transparency is one application of a more general technique called </a:t>
            </a:r>
            <a:r>
              <a:rPr lang="en-US" u="sng" dirty="0" smtClean="0"/>
              <a:t>blending</a:t>
            </a:r>
          </a:p>
          <a:p>
            <a:r>
              <a:rPr lang="en-US" dirty="0" smtClean="0"/>
              <a:t>Therefore, transparency is also called </a:t>
            </a:r>
            <a:r>
              <a:rPr lang="en-US" u="sng" dirty="0" smtClean="0"/>
              <a:t>alpha blending</a:t>
            </a:r>
          </a:p>
          <a:p>
            <a:r>
              <a:rPr lang="en-US" dirty="0" smtClean="0"/>
              <a:t>In general the term blending during the rendering process means: </a:t>
            </a:r>
          </a:p>
          <a:p>
            <a:pPr lvl="1"/>
            <a:r>
              <a:rPr lang="en-US" dirty="0" smtClean="0"/>
              <a:t>The color of an existing pixel in the frame buffer is mixed with another color (in this case with the color of a transparent fragment)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94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Blending</a:t>
            </a:r>
            <a:r>
              <a:rPr lang="nl-NL" dirty="0" smtClean="0"/>
              <a:t> </a:t>
            </a:r>
            <a:r>
              <a:rPr lang="nl-NL" dirty="0" err="1" smtClean="0"/>
              <a:t>function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17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51840" cy="4495800"/>
          </a:xfrm>
        </p:spPr>
        <p:txBody>
          <a:bodyPr>
            <a:noAutofit/>
          </a:bodyPr>
          <a:lstStyle/>
          <a:p>
            <a:r>
              <a:rPr lang="en-US" dirty="0"/>
              <a:t>Blending combines </a:t>
            </a:r>
            <a:r>
              <a:rPr lang="en-US" dirty="0" smtClean="0"/>
              <a:t>color/alpha of source (new fragment) with color/alpha of destination (already stored </a:t>
            </a:r>
            <a:r>
              <a:rPr lang="en-US" dirty="0"/>
              <a:t>in </a:t>
            </a:r>
            <a:r>
              <a:rPr lang="en-US" dirty="0" err="1" smtClean="0"/>
              <a:t>framebuffer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Standard function is </a:t>
            </a:r>
          </a:p>
          <a:p>
            <a:pPr lvl="1"/>
            <a:r>
              <a:rPr lang="nl-NL" u="sng" dirty="0" err="1" smtClean="0"/>
              <a:t>alpha</a:t>
            </a:r>
            <a:r>
              <a:rPr lang="nl-NL" dirty="0" smtClean="0"/>
              <a:t> * source   +   </a:t>
            </a:r>
            <a:r>
              <a:rPr lang="nl-NL" u="sng" dirty="0"/>
              <a:t>(1-alpha</a:t>
            </a:r>
            <a:r>
              <a:rPr lang="nl-NL" u="sng" dirty="0" smtClean="0"/>
              <a:t>)</a:t>
            </a:r>
            <a:r>
              <a:rPr lang="nl-NL" dirty="0" smtClean="0"/>
              <a:t> * </a:t>
            </a:r>
            <a:r>
              <a:rPr lang="nl-NL" dirty="0" err="1" smtClean="0"/>
              <a:t>destination</a:t>
            </a:r>
            <a:endParaRPr lang="nl-NL" dirty="0"/>
          </a:p>
          <a:p>
            <a:r>
              <a:rPr lang="nl-NL" dirty="0" err="1" smtClean="0"/>
              <a:t>Instead</a:t>
            </a:r>
            <a:r>
              <a:rPr lang="nl-NL" dirty="0" smtClean="0"/>
              <a:t> of </a:t>
            </a:r>
            <a:r>
              <a:rPr lang="nl-NL" dirty="0" err="1" smtClean="0"/>
              <a:t>alpha</a:t>
            </a:r>
            <a:r>
              <a:rPr lang="nl-NL" dirty="0" smtClean="0"/>
              <a:t> </a:t>
            </a:r>
            <a:r>
              <a:rPr lang="nl-NL" dirty="0" err="1" smtClean="0"/>
              <a:t>and</a:t>
            </a:r>
            <a:r>
              <a:rPr lang="nl-NL" dirty="0" smtClean="0"/>
              <a:t> (1-alpha), </a:t>
            </a:r>
            <a:r>
              <a:rPr lang="nl-NL" dirty="0" err="1" smtClean="0"/>
              <a:t>also</a:t>
            </a:r>
            <a:r>
              <a:rPr lang="nl-NL" dirty="0" smtClean="0"/>
              <a:t> </a:t>
            </a:r>
            <a:r>
              <a:rPr lang="nl-NL" dirty="0" err="1" smtClean="0"/>
              <a:t>other</a:t>
            </a:r>
            <a:r>
              <a:rPr lang="nl-NL" dirty="0" smtClean="0"/>
              <a:t> factors C</a:t>
            </a:r>
            <a:r>
              <a:rPr lang="nl-NL" baseline="-25000" dirty="0" smtClean="0"/>
              <a:t>s</a:t>
            </a:r>
            <a:r>
              <a:rPr lang="nl-NL" dirty="0" smtClean="0"/>
              <a:t> </a:t>
            </a:r>
            <a:r>
              <a:rPr lang="nl-NL" dirty="0" err="1" smtClean="0"/>
              <a:t>and</a:t>
            </a:r>
            <a:r>
              <a:rPr lang="nl-NL" dirty="0" smtClean="0"/>
              <a:t> C</a:t>
            </a:r>
            <a:r>
              <a:rPr lang="nl-NL" baseline="-25000" dirty="0" smtClean="0"/>
              <a:t>d</a:t>
            </a:r>
            <a:r>
              <a:rPr lang="nl-NL" dirty="0" smtClean="0"/>
              <a:t> </a:t>
            </a:r>
            <a:r>
              <a:rPr lang="nl-NL" dirty="0" err="1" smtClean="0"/>
              <a:t>can</a:t>
            </a:r>
            <a:r>
              <a:rPr lang="nl-NL" dirty="0" smtClean="0"/>
              <a:t> </a:t>
            </a:r>
            <a:r>
              <a:rPr lang="nl-NL" dirty="0" err="1" smtClean="0"/>
              <a:t>be</a:t>
            </a:r>
            <a:r>
              <a:rPr lang="nl-NL" dirty="0" smtClean="0"/>
              <a:t> </a:t>
            </a:r>
            <a:r>
              <a:rPr lang="nl-NL" dirty="0" err="1" smtClean="0"/>
              <a:t>defined</a:t>
            </a:r>
            <a:endParaRPr lang="nl-NL" dirty="0" smtClean="0"/>
          </a:p>
          <a:p>
            <a:pPr lvl="1"/>
            <a:r>
              <a:rPr lang="nl-NL" dirty="0" smtClean="0"/>
              <a:t>In </a:t>
            </a:r>
            <a:r>
              <a:rPr lang="nl-NL" dirty="0" err="1" smtClean="0"/>
              <a:t>general</a:t>
            </a:r>
            <a:r>
              <a:rPr lang="nl-NL" dirty="0" smtClean="0"/>
              <a:t>: C</a:t>
            </a:r>
            <a:r>
              <a:rPr lang="nl-NL" baseline="-25000" dirty="0" smtClean="0"/>
              <a:t>s</a:t>
            </a:r>
            <a:r>
              <a:rPr lang="nl-NL" dirty="0" smtClean="0"/>
              <a:t> * source   +   C</a:t>
            </a:r>
            <a:r>
              <a:rPr lang="nl-NL" baseline="-25000" dirty="0" smtClean="0"/>
              <a:t>d</a:t>
            </a:r>
            <a:r>
              <a:rPr lang="nl-NL" dirty="0" smtClean="0"/>
              <a:t> * </a:t>
            </a:r>
            <a:r>
              <a:rPr lang="nl-NL" dirty="0" err="1" smtClean="0"/>
              <a:t>destination</a:t>
            </a:r>
            <a:endParaRPr lang="nl-NL" dirty="0" smtClean="0"/>
          </a:p>
          <a:p>
            <a:pPr lvl="1"/>
            <a:r>
              <a:rPr lang="nl-NL" dirty="0" err="1" smtClean="0"/>
              <a:t>This</a:t>
            </a:r>
            <a:r>
              <a:rPr lang="nl-NL" dirty="0" smtClean="0"/>
              <a:t> is </a:t>
            </a:r>
            <a:r>
              <a:rPr lang="nl-NL" dirty="0" err="1" smtClean="0"/>
              <a:t>called</a:t>
            </a:r>
            <a:r>
              <a:rPr lang="nl-NL" dirty="0" smtClean="0"/>
              <a:t> </a:t>
            </a:r>
            <a:r>
              <a:rPr lang="nl-NL" dirty="0" err="1" smtClean="0"/>
              <a:t>blending</a:t>
            </a:r>
            <a:r>
              <a:rPr lang="nl-NL" dirty="0" smtClean="0"/>
              <a:t> </a:t>
            </a:r>
            <a:r>
              <a:rPr lang="nl-NL" dirty="0" err="1" smtClean="0"/>
              <a:t>function</a:t>
            </a:r>
            <a:r>
              <a:rPr lang="nl-NL" dirty="0" smtClean="0"/>
              <a:t> (in </a:t>
            </a:r>
            <a:r>
              <a:rPr lang="nl-NL" dirty="0" err="1" smtClean="0"/>
              <a:t>Vizard</a:t>
            </a:r>
            <a:r>
              <a:rPr lang="nl-NL" dirty="0" smtClean="0"/>
              <a:t>: </a:t>
            </a:r>
            <a:r>
              <a:rPr lang="nl-NL" u="sng" dirty="0" err="1" smtClean="0">
                <a:latin typeface="Courier New" pitchFamily="49" charset="0"/>
                <a:cs typeface="Courier New" pitchFamily="49" charset="0"/>
              </a:rPr>
              <a:t>blendFunc</a:t>
            </a:r>
            <a:r>
              <a:rPr lang="nl-NL" dirty="0" smtClean="0"/>
              <a:t>)</a:t>
            </a:r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9193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 smtClean="0"/>
              <a:t>Possible</a:t>
            </a:r>
            <a:r>
              <a:rPr lang="nl-NL" dirty="0" smtClean="0"/>
              <a:t> </a:t>
            </a:r>
            <a:r>
              <a:rPr lang="nl-NL" dirty="0" err="1" smtClean="0"/>
              <a:t>values</a:t>
            </a:r>
            <a:r>
              <a:rPr lang="nl-NL" dirty="0" smtClean="0"/>
              <a:t> </a:t>
            </a:r>
            <a:r>
              <a:rPr lang="nl-NL" dirty="0" err="1" smtClean="0"/>
              <a:t>for</a:t>
            </a:r>
            <a:r>
              <a:rPr lang="nl-NL" dirty="0" smtClean="0"/>
              <a:t> C</a:t>
            </a:r>
            <a:r>
              <a:rPr lang="nl-NL" baseline="-25000" dirty="0" smtClean="0"/>
              <a:t>s</a:t>
            </a:r>
            <a:r>
              <a:rPr lang="nl-NL" dirty="0" smtClean="0"/>
              <a:t> </a:t>
            </a:r>
            <a:r>
              <a:rPr lang="nl-NL" dirty="0" err="1" smtClean="0"/>
              <a:t>and</a:t>
            </a:r>
            <a:r>
              <a:rPr lang="nl-NL" dirty="0" smtClean="0"/>
              <a:t> C</a:t>
            </a:r>
            <a:r>
              <a:rPr lang="nl-NL" baseline="-25000" dirty="0" smtClean="0"/>
              <a:t>d</a:t>
            </a:r>
            <a:r>
              <a:rPr lang="nl-NL" dirty="0" smtClean="0"/>
              <a:t>: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18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1560" y="1484784"/>
            <a:ext cx="8153400" cy="4495800"/>
          </a:xfrm>
        </p:spPr>
        <p:txBody>
          <a:bodyPr>
            <a:noAutofit/>
          </a:bodyPr>
          <a:lstStyle/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viz.GL_ZERO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viz.GL_ONE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viz.GL_SRC_COLOR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viz.GL_ONE_MINUS_SRC_COLOR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viz.GL_SRC_ALPHA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viz.GL_ONE_MINUS_SRC_ALPHA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viz.GL_DST_COLOR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viz.GL_ONE_MINUS_DST_COLOR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viz.GL_DST_ALPHA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viz.GL_ONE_MINUS_DST_ALPHA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viz.GL_SRC_ALPHA_SATURATE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viz.GL_CONSTANT_COLOR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viz.GL_ONE_MINUS_CONSTANT_COLOR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viz.GL_CONSTANT_ALPHA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l-NL" sz="1600" dirty="0" err="1">
                <a:latin typeface="Courier New" pitchFamily="49" charset="0"/>
                <a:cs typeface="Courier New" pitchFamily="49" charset="0"/>
              </a:rPr>
              <a:t>viz.GL_ONE_MINUS_CONSTANT_ALPHA</a:t>
            </a:r>
            <a:endParaRPr lang="nl-NL" sz="1600" dirty="0">
              <a:latin typeface="Courier New" pitchFamily="49" charset="0"/>
              <a:cs typeface="Courier New" pitchFamily="49" charset="0"/>
            </a:endParaRP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366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9EAB16E-A499-48F1-B53B-BD6F93BB0A9A}" type="slidenum">
              <a:rPr lang="nl-NL"/>
              <a:pPr/>
              <a:t>19</a:t>
            </a:fld>
            <a:endParaRPr lang="nl-NL"/>
          </a:p>
        </p:txBody>
      </p:sp>
      <p:sp>
        <p:nvSpPr>
          <p:cNvPr id="19865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Fog</a:t>
            </a:r>
            <a:endParaRPr lang="en-US" dirty="0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Another </a:t>
            </a:r>
            <a:r>
              <a:rPr lang="en-US" dirty="0"/>
              <a:t>application of blending is fog</a:t>
            </a:r>
          </a:p>
          <a:p>
            <a:pPr lvl="1"/>
            <a:r>
              <a:rPr lang="en-US" dirty="0" smtClean="0"/>
              <a:t>Object becomes ‘vaguer’ when it is farther away</a:t>
            </a:r>
          </a:p>
          <a:p>
            <a:endParaRPr lang="en-US" dirty="0" smtClean="0"/>
          </a:p>
          <a:p>
            <a:r>
              <a:rPr lang="en-US" dirty="0" smtClean="0"/>
              <a:t>This is also a form of blending: </a:t>
            </a:r>
          </a:p>
          <a:p>
            <a:pPr lvl="1"/>
            <a:r>
              <a:rPr lang="en-US" dirty="0" smtClean="0"/>
              <a:t>pixel-color is mixed with </a:t>
            </a:r>
            <a:r>
              <a:rPr lang="en-US" dirty="0"/>
              <a:t>fog-color</a:t>
            </a:r>
          </a:p>
          <a:p>
            <a:pPr lvl="1"/>
            <a:r>
              <a:rPr lang="en-US" dirty="0" smtClean="0"/>
              <a:t>C</a:t>
            </a:r>
            <a:r>
              <a:rPr lang="en-US" baseline="-25000" dirty="0" smtClean="0"/>
              <a:t>f</a:t>
            </a:r>
            <a:r>
              <a:rPr lang="en-US" dirty="0" smtClean="0"/>
              <a:t> </a:t>
            </a:r>
            <a:r>
              <a:rPr lang="en-US" dirty="0"/>
              <a:t>* (pixel-color) + (1 - </a:t>
            </a:r>
            <a:r>
              <a:rPr lang="en-US" dirty="0" smtClean="0"/>
              <a:t>C</a:t>
            </a:r>
            <a:r>
              <a:rPr lang="en-US" baseline="-25000" dirty="0" smtClean="0"/>
              <a:t>f</a:t>
            </a:r>
            <a:r>
              <a:rPr lang="en-US" dirty="0" smtClean="0"/>
              <a:t> </a:t>
            </a:r>
            <a:r>
              <a:rPr lang="en-US" dirty="0"/>
              <a:t>) * (fog-color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Value of C</a:t>
            </a:r>
            <a:r>
              <a:rPr lang="en-US" baseline="-25000" dirty="0" smtClean="0"/>
              <a:t>f</a:t>
            </a:r>
            <a:r>
              <a:rPr lang="en-US" dirty="0" smtClean="0"/>
              <a:t> depends on the distance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11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CC0D54-28D7-4237-9FF8-230BE7F823BF}" type="slidenum">
              <a:rPr lang="nl-NL"/>
              <a:pPr/>
              <a:t>20</a:t>
            </a:fld>
            <a:endParaRPr lang="nl-NL"/>
          </a:p>
        </p:txBody>
      </p:sp>
      <p:sp>
        <p:nvSpPr>
          <p:cNvPr id="19558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Fog modes (1)</a:t>
            </a:r>
            <a:endParaRPr lang="en-US" dirty="0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There are 3 standard modes for fog (relation between distance and </a:t>
            </a:r>
            <a:r>
              <a:rPr lang="en-US" dirty="0"/>
              <a:t>C</a:t>
            </a:r>
            <a:r>
              <a:rPr lang="en-US" baseline="-25000" dirty="0"/>
              <a:t>f</a:t>
            </a:r>
            <a:r>
              <a:rPr lang="en-US" dirty="0" smtClean="0"/>
              <a:t>):</a:t>
            </a:r>
          </a:p>
          <a:p>
            <a:pPr lvl="1"/>
            <a:r>
              <a:rPr lang="en-US" dirty="0"/>
              <a:t>Linear:</a:t>
            </a:r>
          </a:p>
          <a:p>
            <a:pPr lvl="2"/>
            <a:r>
              <a:rPr lang="en-US" dirty="0"/>
              <a:t>C</a:t>
            </a:r>
            <a:r>
              <a:rPr lang="en-US" baseline="-25000" dirty="0"/>
              <a:t>f</a:t>
            </a:r>
            <a:r>
              <a:rPr lang="en-US" dirty="0" smtClean="0"/>
              <a:t> </a:t>
            </a:r>
            <a:r>
              <a:rPr lang="en-US" dirty="0"/>
              <a:t>= (end-z)/(end-start)</a:t>
            </a:r>
          </a:p>
          <a:p>
            <a:pPr lvl="1"/>
            <a:r>
              <a:rPr lang="en-US" dirty="0" smtClean="0"/>
              <a:t>Exponential (EXP):</a:t>
            </a:r>
          </a:p>
          <a:p>
            <a:pPr lvl="2"/>
            <a:r>
              <a:rPr lang="en-US" dirty="0"/>
              <a:t>C</a:t>
            </a:r>
            <a:r>
              <a:rPr lang="en-US" baseline="-25000" dirty="0"/>
              <a:t>f</a:t>
            </a:r>
            <a:r>
              <a:rPr lang="en-US" dirty="0" smtClean="0"/>
              <a:t> = e</a:t>
            </a:r>
            <a:r>
              <a:rPr lang="en-US" baseline="30000" dirty="0" smtClean="0"/>
              <a:t>{-density*z}</a:t>
            </a:r>
          </a:p>
          <a:p>
            <a:pPr lvl="1"/>
            <a:r>
              <a:rPr lang="en-US" dirty="0" smtClean="0"/>
              <a:t>Square exponential (EXP2, not in </a:t>
            </a:r>
            <a:r>
              <a:rPr lang="en-US" dirty="0" err="1" smtClean="0"/>
              <a:t>Vizard</a:t>
            </a:r>
            <a:r>
              <a:rPr lang="en-US" dirty="0" smtClean="0"/>
              <a:t>)):</a:t>
            </a:r>
            <a:endParaRPr lang="en-US" dirty="0"/>
          </a:p>
          <a:p>
            <a:pPr lvl="2"/>
            <a:r>
              <a:rPr lang="en-US" dirty="0"/>
              <a:t>C</a:t>
            </a:r>
            <a:r>
              <a:rPr lang="en-US" baseline="-25000" dirty="0"/>
              <a:t>f </a:t>
            </a:r>
            <a:r>
              <a:rPr lang="en-US" dirty="0" smtClean="0"/>
              <a:t>= e</a:t>
            </a:r>
            <a:r>
              <a:rPr lang="en-US" baseline="30000" dirty="0" smtClean="0"/>
              <a:t>-{density*z}</a:t>
            </a:r>
            <a:r>
              <a:rPr lang="en-US" baseline="46000" dirty="0" smtClean="0"/>
              <a:t>2</a:t>
            </a:r>
          </a:p>
          <a:p>
            <a:endParaRPr lang="en-US" dirty="0" smtClean="0"/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viz.fog</a:t>
            </a:r>
            <a:r>
              <a:rPr lang="en-US" dirty="0" smtClean="0"/>
              <a:t> is used to set fog mode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5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EDD6E8A-708E-48CA-A79C-29AE6B690938}" type="slidenum">
              <a:rPr lang="nl-NL"/>
              <a:pPr/>
              <a:t>21</a:t>
            </a:fld>
            <a:endParaRPr lang="nl-NL"/>
          </a:p>
        </p:txBody>
      </p:sp>
      <p:sp>
        <p:nvSpPr>
          <p:cNvPr id="20070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Fog modes (2)</a:t>
            </a:r>
            <a:endParaRPr lang="en-US" dirty="0"/>
          </a:p>
        </p:txBody>
      </p:sp>
      <p:pic>
        <p:nvPicPr>
          <p:cNvPr id="200708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5175" y="1905000"/>
            <a:ext cx="7612063" cy="4191000"/>
          </a:xfrm>
          <a:noFill/>
          <a:ln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354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an">
  <a:themeElements>
    <a:clrScheme name="Media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C173E217BAF4E80805EE817A2FB16" ma:contentTypeVersion="0" ma:contentTypeDescription="Create a new document." ma:contentTypeScope="" ma:versionID="5b1d31a4fab7e725f1c741106b634ad7">
  <xsd:schema xmlns:xsd="http://www.w3.org/2001/XMLSchema" xmlns:xs="http://www.w3.org/2001/XMLSchema" xmlns:p="http://schemas.microsoft.com/office/2006/metadata/properties" xmlns:ns2="252BDB0A-93DC-4662-B430-FE66A79436E9" targetNamespace="http://schemas.microsoft.com/office/2006/metadata/properties" ma:root="true" ma:fieldsID="44b0c62110821253a9df2be90f6d531b" ns2:_="">
    <xsd:import namespace="252BDB0A-93DC-4662-B430-FE66A79436E9"/>
    <xsd:element name="properties">
      <xsd:complexType>
        <xsd:sequence>
          <xsd:element name="documentManagement">
            <xsd:complexType>
              <xsd:all>
                <xsd:element ref="ns2:Categorie" minOccurs="0"/>
                <xsd:element ref="ns2:Va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DB0A-93DC-4662-B430-FE66A79436E9" elementFormDefault="qualified">
    <xsd:import namespace="http://schemas.microsoft.com/office/2006/documentManagement/types"/>
    <xsd:import namespace="http://schemas.microsoft.com/office/infopath/2007/PartnerControls"/>
    <xsd:element name="Categorie" ma:index="8" nillable="true" ma:displayName="Categorie" ma:default="Periode1" ma:format="Dropdown" ma:internalName="Categorie">
      <xsd:simpleType>
        <xsd:restriction base="dms:Choice">
          <xsd:enumeration value="Periode1"/>
          <xsd:enumeration value="Periode2"/>
          <xsd:enumeration value="Algemeen"/>
          <xsd:enumeration value="Cursus UvT"/>
        </xsd:restriction>
      </xsd:simpleType>
    </xsd:element>
    <xsd:element name="Vak" ma:index="9" nillable="true" ma:displayName="Vak" ma:default="V3D1" ma:format="Dropdown" ma:internalName="Vak">
      <xsd:simpleType>
        <xsd:restriction base="dms:Choice">
          <xsd:enumeration value="V3D1"/>
          <xsd:enumeration value="VED1"/>
          <xsd:enumeration value="VCC1"/>
          <xsd:enumeration value="VPT1"/>
          <xsd:enumeration value="VIS2"/>
          <xsd:enumeration value="VPT2"/>
          <xsd:enumeration value="VRS2"/>
          <xsd:enumeration value="VEX2"/>
          <xsd:enumeration value="VUI2"/>
          <xsd:enumeration value="VUX2"/>
          <xsd:enumeration value="Cursu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Categorie xmlns="252BDB0A-93DC-4662-B430-FE66A79436E9">Periode1</Categorie>
    <Vak xmlns="252BDB0A-93DC-4662-B430-FE66A79436E9">V3D1</Va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DE3C0C-04E3-49F5-A687-781D7C9769BB}"/>
</file>

<file path=customXml/itemProps2.xml><?xml version="1.0" encoding="utf-8"?>
<ds:datastoreItem xmlns:ds="http://schemas.openxmlformats.org/officeDocument/2006/customXml" ds:itemID="{785CA055-9259-452A-ACC5-B8524EF6FCA2}"/>
</file>

<file path=customXml/itemProps3.xml><?xml version="1.0" encoding="utf-8"?>
<ds:datastoreItem xmlns:ds="http://schemas.openxmlformats.org/officeDocument/2006/customXml" ds:itemID="{9F40A724-6F65-47CF-8C8A-9D9515DCC69B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15700</TotalTime>
  <Words>1069</Words>
  <Application>Microsoft Office PowerPoint</Application>
  <PresentationFormat>On-screen Show (4:3)</PresentationFormat>
  <Paragraphs>186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Mediaan</vt:lpstr>
      <vt:lpstr>V3D1 WEEK 3a</vt:lpstr>
      <vt:lpstr>Built-In Types</vt:lpstr>
      <vt:lpstr>Built-In Types</vt:lpstr>
      <vt:lpstr>Built-In Types</vt:lpstr>
      <vt:lpstr>Built-In Types</vt:lpstr>
      <vt:lpstr>Built-In Types</vt:lpstr>
      <vt:lpstr>Transparency (1)</vt:lpstr>
      <vt:lpstr>Transparency (2)</vt:lpstr>
      <vt:lpstr>Rendering without transparency</vt:lpstr>
      <vt:lpstr>Rendering transparent objects only</vt:lpstr>
      <vt:lpstr>Rendering order is important</vt:lpstr>
      <vt:lpstr>Rendering transparent and opaque objects</vt:lpstr>
      <vt:lpstr>Draw order bins</vt:lpstr>
      <vt:lpstr>Transparency problem</vt:lpstr>
      <vt:lpstr>Work arounds</vt:lpstr>
      <vt:lpstr>Blending</vt:lpstr>
      <vt:lpstr>Blending function</vt:lpstr>
      <vt:lpstr>Possible values for Cs and Cd:</vt:lpstr>
      <vt:lpstr>Fog</vt:lpstr>
      <vt:lpstr>Fog modes (1)</vt:lpstr>
      <vt:lpstr>Fog modes (2)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V3D1, week 3a</dc:title>
  <dc:creator>Peter Boots</dc:creator>
  <cp:lastModifiedBy>Boots,Peter P.J.H.M.</cp:lastModifiedBy>
  <cp:revision>123</cp:revision>
  <dcterms:created xsi:type="dcterms:W3CDTF">2011-02-02T18:25:05Z</dcterms:created>
  <dcterms:modified xsi:type="dcterms:W3CDTF">2015-10-01T18:59:53Z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0x0101002BFC173E217BAF4E80805EE817A2FB16</vt:lpwstr>
  </property>
</Properties>
</file>