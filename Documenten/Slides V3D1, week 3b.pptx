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23"/>
  </p:notesMasterIdLst>
  <p:sldIdLst>
    <p:sldId id="256" r:id="rId5"/>
    <p:sldId id="391" r:id="rId6"/>
    <p:sldId id="395" r:id="rId7"/>
    <p:sldId id="404" r:id="rId8"/>
    <p:sldId id="403" r:id="rId9"/>
    <p:sldId id="401" r:id="rId10"/>
    <p:sldId id="392" r:id="rId11"/>
    <p:sldId id="396" r:id="rId12"/>
    <p:sldId id="405" r:id="rId13"/>
    <p:sldId id="397" r:id="rId14"/>
    <p:sldId id="402" r:id="rId15"/>
    <p:sldId id="394" r:id="rId16"/>
    <p:sldId id="399" r:id="rId17"/>
    <p:sldId id="400" r:id="rId18"/>
    <p:sldId id="408" r:id="rId19"/>
    <p:sldId id="407" r:id="rId20"/>
    <p:sldId id="409" r:id="rId21"/>
    <p:sldId id="406" r:id="rId2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FF"/>
    <a:srgbClr val="800080"/>
    <a:srgbClr val="80F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2" autoAdjust="0"/>
    <p:restoredTop sz="66359" autoAdjust="0"/>
  </p:normalViewPr>
  <p:slideViewPr>
    <p:cSldViewPr>
      <p:cViewPr>
        <p:scale>
          <a:sx n="110" d="100"/>
          <a:sy n="110" d="100"/>
        </p:scale>
        <p:origin x="-1632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71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1960E-D3BE-408B-B0C2-5D7777377BDC}" type="datetimeFigureOut">
              <a:rPr lang="nl-NL" smtClean="0"/>
              <a:t>15-9-2016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3FD26-CBD9-45AA-8FCB-49DFD000FE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93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hoe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nl-NL" smtClean="0"/>
              <a:t>Klik om de ondertitelstijl van het model te bewerken</a:t>
            </a:r>
            <a:endParaRPr kumimoji="0" lang="en-US"/>
          </a:p>
        </p:txBody>
      </p:sp>
      <p:sp>
        <p:nvSpPr>
          <p:cNvPr id="28" name="Tijdelijke aanduiding voor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47D1BA6-4911-4D21-8A8A-D049947BDEE5}" type="datetime1">
              <a:rPr lang="nl-NL" smtClean="0"/>
              <a:t>15-9-2016</a:t>
            </a:fld>
            <a:endParaRPr lang="nl-NL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29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F47C-A15E-4E67-ADFB-9D8440CD4D5A}" type="datetime1">
              <a:rPr lang="nl-NL" smtClean="0"/>
              <a:t>15-9-2016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7" name="Rechthoe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A80FB-A740-44BE-9C85-6BF6B55EEC31}" type="datetime1">
              <a:rPr lang="nl-NL" smtClean="0"/>
              <a:t>15-9-2016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E292474-E6E9-4629-882B-ED30518F0E8F}" type="datetime1">
              <a:rPr lang="nl-NL" smtClean="0"/>
              <a:t>15-9-2016</a:t>
            </a:fld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2DAD537-AD64-400C-91DC-195CDE28DC41}" type="datetime1">
              <a:rPr lang="nl-NL" smtClean="0"/>
              <a:t>15-9-2016</a:t>
            </a:fld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7A9-DC7A-4165-A8A6-E1CF078ACCA0}" type="datetime1">
              <a:rPr lang="nl-NL" smtClean="0"/>
              <a:t>15-9-2016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0717-F8EA-44E2-AE72-41FB2BB1D446}" type="datetime1">
              <a:rPr lang="nl-NL" smtClean="0"/>
              <a:t>15-9-2016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F223-B842-450F-9A74-6C0FB4F8082F}" type="datetime1">
              <a:rPr lang="nl-NL" smtClean="0"/>
              <a:t>15-9-2016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8" name="Rechthoe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Rechthoe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9CD317E-DF94-4B7F-A9D5-6F34C108AA9D}" type="datetime1">
              <a:rPr lang="nl-NL" smtClean="0"/>
              <a:t>15-9-2016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nl-NL" smtClean="0"/>
              <a:t>Klik op het pictogram als u een afbeelding wilt toevoegen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9FA5-7E47-4C7A-9DB6-39F72C07352F}" type="datetime1">
              <a:rPr lang="nl-NL" smtClean="0"/>
              <a:t>15-9-2016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442DEBE-2A51-4598-93F2-CCE23073CB84}" type="datetime1">
              <a:rPr lang="nl-NL" smtClean="0"/>
              <a:t>15-9-2016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itel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3" name="Tijdelijke aanduiding voor teks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NL" smtClean="0"/>
              <a:t>Klik om de modelstijlen te bewerken</a:t>
            </a:r>
          </a:p>
          <a:p>
            <a:pPr lvl="1" eaLnBrk="1" latinLnBrk="0" hangingPunct="1"/>
            <a:r>
              <a:rPr kumimoji="0" lang="nl-NL" smtClean="0"/>
              <a:t>Tweede niveau</a:t>
            </a:r>
          </a:p>
          <a:p>
            <a:pPr lvl="2" eaLnBrk="1" latinLnBrk="0" hangingPunct="1"/>
            <a:r>
              <a:rPr kumimoji="0" lang="nl-NL" smtClean="0"/>
              <a:t>Derde niveau</a:t>
            </a:r>
          </a:p>
          <a:p>
            <a:pPr lvl="3" eaLnBrk="1" latinLnBrk="0" hangingPunct="1"/>
            <a:r>
              <a:rPr kumimoji="0" lang="nl-NL" smtClean="0"/>
              <a:t>Vierde niveau</a:t>
            </a:r>
          </a:p>
          <a:p>
            <a:pPr lvl="4" eaLnBrk="1" latinLnBrk="0" hangingPunct="1"/>
            <a:r>
              <a:rPr kumimoji="0" lang="nl-NL" smtClean="0"/>
              <a:t>Vijfde niveau</a:t>
            </a:r>
            <a:endParaRPr kumimoji="0"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7810130-DBB6-4179-85A8-B40CF45D4910}" type="datetime1">
              <a:rPr lang="nl-NL" smtClean="0"/>
              <a:t>15-9-2016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4XP7H6T169w" TargetMode="External"/><Relationship Id="rId2" Type="http://schemas.openxmlformats.org/officeDocument/2006/relationships/hyperlink" Target="http://www.youtube.com/watch?v=DLq4weHfKK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flintparticles.org/examples/fire-and-smoke-3d" TargetMode="External"/><Relationship Id="rId2" Type="http://schemas.openxmlformats.org/officeDocument/2006/relationships/hyperlink" Target="http://flintparticles.org/examples/fire-and-smok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flintparticles.org/examples/explode-image-3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flintparticles.org/examples/pachinko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flintparticles.org/examples/flocking-3d" TargetMode="External"/><Relationship Id="rId2" Type="http://schemas.openxmlformats.org/officeDocument/2006/relationships/hyperlink" Target="http://flintparticles.org/examples/mutual-gravity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flintparticles.org/examples/gra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flintparticles.org/blog/documentation" TargetMode="External"/><Relationship Id="rId2" Type="http://schemas.openxmlformats.org/officeDocument/2006/relationships/hyperlink" Target="http://flintparticles.org/examp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ourceforge.net/projects/delta3d/files/delta3d/2.5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smtClean="0"/>
              <a:t>V3D1</a:t>
            </a:r>
            <a:br>
              <a:rPr lang="en-US" noProof="0" dirty="0" smtClean="0"/>
            </a:br>
            <a:r>
              <a:rPr lang="en-US" dirty="0" smtClean="0"/>
              <a:t>WEEK </a:t>
            </a:r>
            <a:r>
              <a:rPr lang="en-US" dirty="0" smtClean="0"/>
              <a:t>3B</a:t>
            </a:r>
            <a:endParaRPr lang="en-US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 smtClean="0"/>
              <a:t>Billboards</a:t>
            </a:r>
          </a:p>
          <a:p>
            <a:r>
              <a:rPr lang="en-US" dirty="0" smtClean="0"/>
              <a:t>Particle Systems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69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Billboards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A billboard is an object (usually flat), which is always facing the camera</a:t>
            </a:r>
          </a:p>
          <a:p>
            <a:pPr lvl="1"/>
            <a:r>
              <a:rPr lang="en-US" dirty="0" smtClean="0"/>
              <a:t>always has a rotation towards the camera</a:t>
            </a:r>
          </a:p>
          <a:p>
            <a:r>
              <a:rPr lang="en-US" dirty="0" smtClean="0"/>
              <a:t>Can be used to reduce the number of polygons needed in a scene</a:t>
            </a:r>
          </a:p>
          <a:p>
            <a:pPr lvl="1"/>
            <a:r>
              <a:rPr lang="en-US" dirty="0" smtClean="0"/>
              <a:t>Example: creating a tree</a:t>
            </a:r>
          </a:p>
          <a:p>
            <a:pPr lvl="2"/>
            <a:r>
              <a:rPr lang="en-US" dirty="0" smtClean="0"/>
              <a:t>If a tree is modeled as a complete 3D object, it takes a lot of polygons (hence computations)</a:t>
            </a:r>
          </a:p>
          <a:p>
            <a:pPr lvl="2"/>
            <a:r>
              <a:rPr lang="en-US" dirty="0" smtClean="0"/>
              <a:t>If a tree is modeled as a billboard, it is just 1 or 2 polygons with a texture</a:t>
            </a:r>
          </a:p>
          <a:p>
            <a:r>
              <a:rPr lang="en-US" dirty="0" smtClean="0"/>
              <a:t>Examples: </a:t>
            </a:r>
            <a:r>
              <a:rPr lang="en-US" dirty="0" err="1" smtClean="0">
                <a:hlinkClick r:id="rId2"/>
              </a:rPr>
              <a:t>Wodka</a:t>
            </a:r>
            <a:r>
              <a:rPr lang="en-US" dirty="0" smtClean="0">
                <a:hlinkClick r:id="rId2"/>
              </a:rPr>
              <a:t> bottles</a:t>
            </a:r>
            <a:r>
              <a:rPr lang="en-US" dirty="0" smtClean="0"/>
              <a:t>, </a:t>
            </a:r>
            <a:r>
              <a:rPr lang="en-US" dirty="0" smtClean="0">
                <a:hlinkClick r:id="rId3"/>
              </a:rPr>
              <a:t>Trees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82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Fuzzy phenomena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3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Up to now, we created objects with a static shape: cubes, spheres, cars,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We also want to create more ‘fuzzy’ phenomena</a:t>
            </a:r>
          </a:p>
          <a:p>
            <a:pPr lvl="1"/>
            <a:r>
              <a:rPr lang="en-US" dirty="0" smtClean="0"/>
              <a:t>Fire</a:t>
            </a:r>
            <a:r>
              <a:rPr lang="en-US" dirty="0"/>
              <a:t>, explosions, smoke</a:t>
            </a:r>
            <a:r>
              <a:rPr lang="en-US" dirty="0" smtClean="0"/>
              <a:t>, </a:t>
            </a:r>
            <a:r>
              <a:rPr lang="en-US" dirty="0"/>
              <a:t>sparks, falling leaves, clouds, fog, snow, dust, meteor tails,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This can be done using Particle Systems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30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Particle Systems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4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Features that are common for these phenomena:</a:t>
            </a:r>
          </a:p>
          <a:p>
            <a:pPr lvl="1"/>
            <a:r>
              <a:rPr lang="en-US" dirty="0" smtClean="0"/>
              <a:t>They consist of a number of small polygons (</a:t>
            </a:r>
            <a:r>
              <a:rPr lang="en-US" u="sng" dirty="0" smtClean="0"/>
              <a:t>particles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Particles don’t have a fixed connection to each other</a:t>
            </a:r>
          </a:p>
          <a:p>
            <a:pPr lvl="1"/>
            <a:r>
              <a:rPr lang="en-US" dirty="0" smtClean="0"/>
              <a:t>Particles are moving in a random way</a:t>
            </a:r>
          </a:p>
          <a:p>
            <a:pPr lvl="1"/>
            <a:r>
              <a:rPr lang="en-US" dirty="0" smtClean="0"/>
              <a:t>New particles are created during the process (like in smoke)</a:t>
            </a:r>
          </a:p>
          <a:p>
            <a:pPr lvl="1"/>
            <a:r>
              <a:rPr lang="en-US" dirty="0" smtClean="0"/>
              <a:t>Particles have a limited lifetime (like in rain)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37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2 dimensional or 3 dimensional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5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Particles are created in 2 ways:</a:t>
            </a:r>
          </a:p>
          <a:p>
            <a:pPr lvl="1"/>
            <a:r>
              <a:rPr lang="en-US" dirty="0" smtClean="0"/>
              <a:t>2 dimensional</a:t>
            </a:r>
          </a:p>
          <a:p>
            <a:pPr lvl="2"/>
            <a:r>
              <a:rPr lang="en-US" dirty="0" smtClean="0"/>
              <a:t>particles are polygons in 2D in camera coordinates</a:t>
            </a:r>
          </a:p>
          <a:p>
            <a:pPr lvl="3"/>
            <a:r>
              <a:rPr lang="en-US" dirty="0" smtClean="0"/>
              <a:t>when the camera moves, the particles move with it</a:t>
            </a:r>
          </a:p>
          <a:p>
            <a:pPr lvl="3"/>
            <a:r>
              <a:rPr lang="en-US" dirty="0" smtClean="0"/>
              <a:t>you can not move around them</a:t>
            </a:r>
          </a:p>
          <a:p>
            <a:pPr lvl="3"/>
            <a:r>
              <a:rPr lang="en-US" dirty="0" smtClean="0"/>
              <a:t>good for rain, snow, smoke, …</a:t>
            </a:r>
          </a:p>
          <a:p>
            <a:pPr lvl="1"/>
            <a:r>
              <a:rPr lang="en-US" dirty="0" smtClean="0"/>
              <a:t>3 dimensional</a:t>
            </a:r>
          </a:p>
          <a:p>
            <a:pPr lvl="2"/>
            <a:r>
              <a:rPr lang="en-US" dirty="0" smtClean="0"/>
              <a:t>particles are polygons, moving in 3D space</a:t>
            </a:r>
          </a:p>
          <a:p>
            <a:pPr lvl="2"/>
            <a:r>
              <a:rPr lang="en-US" dirty="0" smtClean="0"/>
              <a:t>usually particles are billboards</a:t>
            </a:r>
          </a:p>
          <a:p>
            <a:pPr lvl="3"/>
            <a:r>
              <a:rPr lang="en-US" dirty="0" smtClean="0"/>
              <a:t>Each particle is always facing the camera</a:t>
            </a:r>
          </a:p>
          <a:p>
            <a:pPr lvl="3"/>
            <a:r>
              <a:rPr lang="en-US" dirty="0" smtClean="0"/>
              <a:t>Especially if it is seen head-on or very far away</a:t>
            </a:r>
          </a:p>
          <a:p>
            <a:r>
              <a:rPr lang="en-US" dirty="0" smtClean="0"/>
              <a:t>Examples</a:t>
            </a:r>
            <a:r>
              <a:rPr lang="en-US" dirty="0"/>
              <a:t>: </a:t>
            </a:r>
            <a:r>
              <a:rPr lang="en-US" dirty="0" smtClean="0">
                <a:hlinkClick r:id="rId2"/>
              </a:rPr>
              <a:t>2D smoke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>
                <a:hlinkClick r:id="rId3"/>
              </a:rPr>
              <a:t>3D smoke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4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Particles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6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mtClean="0"/>
              <a:t>Each particle has certain attributes, like:</a:t>
            </a:r>
          </a:p>
          <a:p>
            <a:pPr lvl="1"/>
            <a:r>
              <a:rPr lang="en-US" smtClean="0"/>
              <a:t>Previous position</a:t>
            </a:r>
          </a:p>
          <a:p>
            <a:pPr lvl="1"/>
            <a:r>
              <a:rPr lang="en-US" smtClean="0"/>
              <a:t>Current position</a:t>
            </a:r>
          </a:p>
          <a:p>
            <a:pPr lvl="1"/>
            <a:r>
              <a:rPr lang="en-US" smtClean="0"/>
              <a:t>Direction</a:t>
            </a:r>
          </a:p>
          <a:p>
            <a:pPr lvl="1"/>
            <a:r>
              <a:rPr lang="en-US" smtClean="0"/>
              <a:t>Speed</a:t>
            </a:r>
          </a:p>
          <a:p>
            <a:pPr lvl="1"/>
            <a:r>
              <a:rPr lang="en-US" smtClean="0"/>
              <a:t>Color, Delta color</a:t>
            </a:r>
          </a:p>
          <a:p>
            <a:pPr lvl="1"/>
            <a:r>
              <a:rPr lang="en-US" smtClean="0"/>
              <a:t>Alpha, Delta alpha</a:t>
            </a:r>
          </a:p>
          <a:p>
            <a:pPr lvl="1"/>
            <a:r>
              <a:rPr lang="en-US" smtClean="0"/>
              <a:t>Size, Delta size</a:t>
            </a:r>
          </a:p>
          <a:p>
            <a:pPr lvl="1"/>
            <a:r>
              <a:rPr lang="en-US" smtClean="0"/>
              <a:t>Age</a:t>
            </a:r>
          </a:p>
          <a:p>
            <a:pPr lvl="1"/>
            <a:r>
              <a:rPr lang="en-US" smtClean="0"/>
              <a:t>Lifetime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14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Emitters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7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We need </a:t>
            </a:r>
            <a:r>
              <a:rPr lang="en-US" u="sng" dirty="0"/>
              <a:t>Emitter</a:t>
            </a:r>
            <a:r>
              <a:rPr lang="en-US" dirty="0"/>
              <a:t> (</a:t>
            </a:r>
            <a:r>
              <a:rPr lang="en-US" dirty="0" smtClean="0"/>
              <a:t>Shooter) that </a:t>
            </a:r>
          </a:p>
          <a:p>
            <a:pPr lvl="1"/>
            <a:r>
              <a:rPr lang="en-US" dirty="0" smtClean="0"/>
              <a:t>creates particles and </a:t>
            </a:r>
          </a:p>
          <a:p>
            <a:pPr lvl="1"/>
            <a:r>
              <a:rPr lang="en-US" dirty="0" smtClean="0"/>
              <a:t>gives them initial attributes</a:t>
            </a:r>
          </a:p>
          <a:p>
            <a:r>
              <a:rPr lang="en-US" dirty="0" smtClean="0"/>
              <a:t>Types of emitters:</a:t>
            </a:r>
          </a:p>
          <a:p>
            <a:pPr lvl="1"/>
            <a:r>
              <a:rPr lang="en-US" u="sng" dirty="0" smtClean="0"/>
              <a:t>Point emitters</a:t>
            </a:r>
            <a:r>
              <a:rPr lang="en-US" dirty="0" smtClean="0"/>
              <a:t> emit particles from a single point </a:t>
            </a:r>
          </a:p>
          <a:p>
            <a:pPr lvl="2"/>
            <a:r>
              <a:rPr lang="en-US" dirty="0" smtClean="0"/>
              <a:t>Gun shot, or dust trail from a wheel</a:t>
            </a:r>
          </a:p>
          <a:p>
            <a:pPr lvl="1"/>
            <a:r>
              <a:rPr lang="en-US" u="sng" dirty="0" smtClean="0"/>
              <a:t>Area emitters</a:t>
            </a:r>
            <a:r>
              <a:rPr lang="en-US" dirty="0" smtClean="0"/>
              <a:t> emit particles over a specified area.</a:t>
            </a:r>
          </a:p>
          <a:p>
            <a:pPr lvl="2"/>
            <a:r>
              <a:rPr lang="en-US" dirty="0" smtClean="0"/>
              <a:t>Like snow, or waterfalls</a:t>
            </a:r>
          </a:p>
          <a:p>
            <a:pPr lvl="1"/>
            <a:r>
              <a:rPr lang="en-US" u="sng" dirty="0" smtClean="0"/>
              <a:t>Surface emitter</a:t>
            </a:r>
            <a:r>
              <a:rPr lang="en-US" dirty="0" smtClean="0"/>
              <a:t>, which emits particles from any surface</a:t>
            </a:r>
          </a:p>
          <a:p>
            <a:pPr lvl="2"/>
            <a:r>
              <a:rPr lang="en-US" dirty="0" smtClean="0"/>
              <a:t>Exploding objects, or dust lifted off of a surface</a:t>
            </a:r>
          </a:p>
          <a:p>
            <a:pPr lvl="2"/>
            <a:r>
              <a:rPr lang="en-US" dirty="0"/>
              <a:t>Example: </a:t>
            </a:r>
            <a:r>
              <a:rPr lang="en-US" dirty="0" smtClean="0">
                <a:hlinkClick r:id="rId2"/>
              </a:rPr>
              <a:t>Explosion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831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Emitters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8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An emitter has a set of parameters:</a:t>
            </a:r>
          </a:p>
          <a:p>
            <a:pPr lvl="1"/>
            <a:r>
              <a:rPr lang="en-US" dirty="0" smtClean="0"/>
              <a:t>spawning rate</a:t>
            </a:r>
          </a:p>
          <a:p>
            <a:pPr lvl="2"/>
            <a:r>
              <a:rPr lang="en-US" dirty="0" smtClean="0"/>
              <a:t>how many particles are generated per unit of time </a:t>
            </a:r>
          </a:p>
          <a:p>
            <a:pPr lvl="1"/>
            <a:r>
              <a:rPr lang="en-US" dirty="0" smtClean="0"/>
              <a:t>initial velocity vector</a:t>
            </a:r>
          </a:p>
          <a:p>
            <a:pPr lvl="2"/>
            <a:r>
              <a:rPr lang="en-US" dirty="0" smtClean="0"/>
              <a:t>the direction of particles upon creation; often the normal </a:t>
            </a:r>
          </a:p>
          <a:p>
            <a:pPr lvl="1"/>
            <a:r>
              <a:rPr lang="en-US" dirty="0" smtClean="0"/>
              <a:t>particle lifetime</a:t>
            </a:r>
          </a:p>
          <a:p>
            <a:pPr lvl="2"/>
            <a:r>
              <a:rPr lang="en-US" dirty="0" smtClean="0"/>
              <a:t>the length of time each individual particle exists </a:t>
            </a:r>
          </a:p>
          <a:p>
            <a:pPr lvl="1"/>
            <a:r>
              <a:rPr lang="en-US" dirty="0" smtClean="0"/>
              <a:t>particle color </a:t>
            </a:r>
          </a:p>
          <a:p>
            <a:pPr lvl="1"/>
            <a:r>
              <a:rPr lang="en-US" dirty="0" smtClean="0"/>
              <a:t>and many more </a:t>
            </a:r>
          </a:p>
          <a:p>
            <a:r>
              <a:rPr lang="en-US" dirty="0" smtClean="0"/>
              <a:t>Most of these parameters are "fuzzy" </a:t>
            </a:r>
          </a:p>
          <a:p>
            <a:pPr lvl="1"/>
            <a:r>
              <a:rPr lang="en-US" dirty="0" smtClean="0"/>
              <a:t>central value, range, and degree of randomness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Emitters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9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If new </a:t>
            </a:r>
            <a:r>
              <a:rPr lang="en-US" dirty="0"/>
              <a:t>particles </a:t>
            </a:r>
            <a:r>
              <a:rPr lang="en-US" dirty="0" smtClean="0"/>
              <a:t>must </a:t>
            </a:r>
            <a:r>
              <a:rPr lang="en-US" dirty="0"/>
              <a:t>be </a:t>
            </a:r>
            <a:r>
              <a:rPr lang="en-US" dirty="0" smtClean="0"/>
              <a:t>created</a:t>
            </a:r>
          </a:p>
          <a:p>
            <a:pPr lvl="1"/>
            <a:r>
              <a:rPr lang="en-US" dirty="0" smtClean="0"/>
              <a:t>The number of them is based </a:t>
            </a:r>
            <a:r>
              <a:rPr lang="en-US" dirty="0"/>
              <a:t>on spawning rates and the interval between </a:t>
            </a:r>
            <a:r>
              <a:rPr lang="en-US" dirty="0" smtClean="0"/>
              <a:t>updates</a:t>
            </a:r>
          </a:p>
          <a:p>
            <a:pPr lvl="1"/>
            <a:r>
              <a:rPr lang="en-US" dirty="0" smtClean="0"/>
              <a:t>the position is based </a:t>
            </a:r>
            <a:r>
              <a:rPr lang="en-US" dirty="0"/>
              <a:t>on the emitter's position and the spawning area </a:t>
            </a:r>
            <a:r>
              <a:rPr lang="en-US" dirty="0" smtClean="0"/>
              <a:t>specified </a:t>
            </a:r>
          </a:p>
          <a:p>
            <a:r>
              <a:rPr lang="en-US" dirty="0" smtClean="0"/>
              <a:t>Each </a:t>
            </a:r>
            <a:r>
              <a:rPr lang="en-US" dirty="0"/>
              <a:t>of the particle's parameters </a:t>
            </a:r>
            <a:r>
              <a:rPr lang="en-US" dirty="0" smtClean="0"/>
              <a:t>is </a:t>
            </a:r>
            <a:r>
              <a:rPr lang="en-US" dirty="0"/>
              <a:t>initialized according to the emitter's </a:t>
            </a:r>
            <a:r>
              <a:rPr lang="en-US" dirty="0" smtClean="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91148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Update loop 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10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The Update Loop is performed for each frame</a:t>
            </a:r>
          </a:p>
          <a:p>
            <a:r>
              <a:rPr lang="en-US" dirty="0" smtClean="0"/>
              <a:t>Usually separated into two stages:</a:t>
            </a:r>
          </a:p>
          <a:p>
            <a:pPr lvl="1"/>
            <a:r>
              <a:rPr lang="en-US" dirty="0" smtClean="0"/>
              <a:t>Parameter update stage</a:t>
            </a:r>
          </a:p>
          <a:p>
            <a:pPr lvl="2"/>
            <a:r>
              <a:rPr lang="en-US" dirty="0" smtClean="0"/>
              <a:t>For each particle, the attributes are updated</a:t>
            </a:r>
          </a:p>
          <a:p>
            <a:pPr lvl="2"/>
            <a:r>
              <a:rPr lang="en-US" dirty="0" smtClean="0"/>
              <a:t>According to a certain algorithm, typical for the effect required </a:t>
            </a:r>
          </a:p>
          <a:p>
            <a:pPr lvl="1"/>
            <a:r>
              <a:rPr lang="en-US" dirty="0" smtClean="0"/>
              <a:t>Rendering stage</a:t>
            </a:r>
          </a:p>
          <a:p>
            <a:pPr lvl="2"/>
            <a:r>
              <a:rPr lang="en-US" dirty="0" smtClean="0"/>
              <a:t>The particles are actually drawn</a:t>
            </a:r>
          </a:p>
          <a:p>
            <a:r>
              <a:rPr lang="en-US" dirty="0" smtClean="0"/>
              <a:t>If a particle has exceeded its lifetime, it is removed from the 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2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Parameter update stage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11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Position, </a:t>
            </a:r>
            <a:r>
              <a:rPr lang="en-US" dirty="0" err="1" smtClean="0"/>
              <a:t>etc</a:t>
            </a:r>
            <a:r>
              <a:rPr lang="en-US" dirty="0" smtClean="0"/>
              <a:t> are advanced </a:t>
            </a:r>
          </a:p>
          <a:p>
            <a:pPr lvl="1"/>
            <a:r>
              <a:rPr lang="en-US" dirty="0" smtClean="0"/>
              <a:t>Just translating the current position, or </a:t>
            </a:r>
          </a:p>
          <a:p>
            <a:pPr lvl="1"/>
            <a:r>
              <a:rPr lang="en-US" dirty="0" smtClean="0"/>
              <a:t>Performing physically accurate trajectory calculations </a:t>
            </a:r>
          </a:p>
          <a:p>
            <a:r>
              <a:rPr lang="en-US" dirty="0" smtClean="0"/>
              <a:t>Collision detection between particles and specified 3D objects in the scene</a:t>
            </a:r>
          </a:p>
          <a:p>
            <a:pPr lvl="1"/>
            <a:r>
              <a:rPr lang="en-US" dirty="0" smtClean="0"/>
              <a:t>Collisions between particles are rarely used</a:t>
            </a:r>
          </a:p>
          <a:p>
            <a:pPr lvl="2"/>
            <a:r>
              <a:rPr lang="en-US" dirty="0" smtClean="0"/>
              <a:t>Computationally expensive and often not really useful</a:t>
            </a:r>
          </a:p>
          <a:p>
            <a:pPr lvl="2"/>
            <a:r>
              <a:rPr lang="en-US" dirty="0" smtClean="0"/>
              <a:t>Sometimes they are useful: </a:t>
            </a:r>
            <a:r>
              <a:rPr lang="en-US" dirty="0" smtClean="0">
                <a:hlinkClick r:id="rId2"/>
              </a:rPr>
              <a:t>Balls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4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Particle Effectors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12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Special influences that affect every single particle</a:t>
            </a:r>
          </a:p>
          <a:p>
            <a:pPr lvl="1"/>
            <a:r>
              <a:rPr lang="en-US" dirty="0" smtClean="0"/>
              <a:t>“forces” in 3ds max or “fields” in Maya</a:t>
            </a:r>
          </a:p>
          <a:p>
            <a:r>
              <a:rPr lang="en-US" dirty="0" smtClean="0"/>
              <a:t>To simulate real-world constraints</a:t>
            </a:r>
          </a:p>
          <a:p>
            <a:pPr lvl="1"/>
            <a:r>
              <a:rPr lang="en-US" dirty="0"/>
              <a:t>gravity: </a:t>
            </a:r>
            <a:r>
              <a:rPr lang="en-US" dirty="0" smtClean="0">
                <a:hlinkClick r:id="rId2"/>
              </a:rPr>
              <a:t>Mutual gravity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wind</a:t>
            </a:r>
          </a:p>
          <a:p>
            <a:pPr lvl="1"/>
            <a:r>
              <a:rPr lang="en-US" dirty="0" smtClean="0"/>
              <a:t>deflectors (change the course of particles)</a:t>
            </a:r>
          </a:p>
          <a:p>
            <a:pPr lvl="2"/>
            <a:r>
              <a:rPr lang="en-US" dirty="0" smtClean="0"/>
              <a:t>Like birds in a flock that never touch each other</a:t>
            </a:r>
          </a:p>
          <a:p>
            <a:pPr lvl="1"/>
            <a:r>
              <a:rPr lang="en-US" dirty="0" smtClean="0"/>
              <a:t>attractors (attract particles)</a:t>
            </a:r>
          </a:p>
          <a:p>
            <a:pPr lvl="2"/>
            <a:r>
              <a:rPr lang="en-US" dirty="0" smtClean="0"/>
              <a:t>Like birds in a flock that stay very close to each other</a:t>
            </a:r>
          </a:p>
          <a:p>
            <a:r>
              <a:rPr lang="en-US" dirty="0"/>
              <a:t>Example: </a:t>
            </a:r>
            <a:r>
              <a:rPr lang="en-US" dirty="0" smtClean="0">
                <a:hlinkClick r:id="rId3"/>
              </a:rPr>
              <a:t>Birds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72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Rendering stage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13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After the update </a:t>
            </a:r>
            <a:r>
              <a:rPr lang="en-US" dirty="0" smtClean="0"/>
              <a:t>stage, </a:t>
            </a:r>
            <a:r>
              <a:rPr lang="en-US" dirty="0"/>
              <a:t>each particle is </a:t>
            </a:r>
            <a:r>
              <a:rPr lang="en-US" dirty="0" smtClean="0"/>
              <a:t>rendered</a:t>
            </a:r>
          </a:p>
          <a:p>
            <a:r>
              <a:rPr lang="en-US" dirty="0" smtClean="0"/>
              <a:t>Usually </a:t>
            </a:r>
            <a:r>
              <a:rPr lang="en-US" dirty="0"/>
              <a:t>in the form of a textured </a:t>
            </a:r>
            <a:r>
              <a:rPr lang="en-US" dirty="0" smtClean="0"/>
              <a:t>billboard </a:t>
            </a:r>
          </a:p>
          <a:p>
            <a:r>
              <a:rPr lang="en-US" dirty="0" smtClean="0"/>
              <a:t>A particle </a:t>
            </a:r>
            <a:r>
              <a:rPr lang="en-US" dirty="0"/>
              <a:t>may </a:t>
            </a:r>
            <a:r>
              <a:rPr lang="en-US" dirty="0" smtClean="0"/>
              <a:t>also be </a:t>
            </a:r>
            <a:r>
              <a:rPr lang="en-US" dirty="0"/>
              <a:t>rendered as a single pixel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small resolution/limited processing power </a:t>
            </a:r>
            <a:r>
              <a:rPr lang="en-US" dirty="0" smtClean="0"/>
              <a:t>environments</a:t>
            </a:r>
          </a:p>
        </p:txBody>
      </p:sp>
    </p:spTree>
    <p:extLst>
      <p:ext uri="{BB962C8B-B14F-4D97-AF65-F5344CB8AC3E}">
        <p14:creationId xmlns:p14="http://schemas.microsoft.com/office/powerpoint/2010/main" val="426886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Animated or static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14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Particle systems can be either animated or static</a:t>
            </a:r>
          </a:p>
          <a:p>
            <a:pPr lvl="1"/>
            <a:r>
              <a:rPr lang="en-US" dirty="0" smtClean="0"/>
              <a:t>The lifetime of each particle can either be distributed over time or rendered all at once</a:t>
            </a:r>
          </a:p>
          <a:p>
            <a:pPr lvl="1"/>
            <a:r>
              <a:rPr lang="en-US" dirty="0" smtClean="0"/>
              <a:t>The consequence of this distinction is the difference between the appearance of "snow" and the appearance of "hair“</a:t>
            </a:r>
          </a:p>
          <a:p>
            <a:r>
              <a:rPr lang="en-US" dirty="0"/>
              <a:t>Example: </a:t>
            </a:r>
            <a:r>
              <a:rPr lang="en-US" dirty="0" smtClean="0">
                <a:hlinkClick r:id="rId2"/>
              </a:rPr>
              <a:t>Grass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6" name="Picture 2" descr="http://upload.wikimedia.org/wikipedia/en/1/1c/Particle_Emit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198876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upload.wikimedia.org/wikipedia/en/4/44/Strand_Emitt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297" y="4178878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63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531352" cy="990600"/>
          </a:xfrm>
        </p:spPr>
        <p:txBody>
          <a:bodyPr>
            <a:normAutofit/>
          </a:bodyPr>
          <a:lstStyle/>
          <a:p>
            <a:r>
              <a:rPr lang="en-US" dirty="0"/>
              <a:t>Particles in </a:t>
            </a:r>
            <a:r>
              <a:rPr lang="en-US" dirty="0" err="1"/>
              <a:t>Vizard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OSG particles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15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Particle: the basic unit of a particle system </a:t>
            </a:r>
          </a:p>
          <a:p>
            <a:pPr lvl="1"/>
            <a:r>
              <a:rPr lang="en-US" dirty="0"/>
              <a:t>Shapes: </a:t>
            </a:r>
          </a:p>
          <a:p>
            <a:pPr lvl="2"/>
            <a:r>
              <a:rPr lang="en-US" dirty="0"/>
              <a:t>POINT</a:t>
            </a:r>
          </a:p>
          <a:p>
            <a:pPr lvl="2"/>
            <a:r>
              <a:rPr lang="en-US" dirty="0"/>
              <a:t>QUAD</a:t>
            </a:r>
          </a:p>
          <a:p>
            <a:pPr lvl="2"/>
            <a:r>
              <a:rPr lang="en-US" dirty="0"/>
              <a:t>QUAD_TRIPSTRIP</a:t>
            </a:r>
          </a:p>
          <a:p>
            <a:pPr lvl="2"/>
            <a:r>
              <a:rPr lang="en-US" dirty="0"/>
              <a:t>HEXAGON</a:t>
            </a:r>
          </a:p>
          <a:p>
            <a:pPr lvl="2"/>
            <a:r>
              <a:rPr lang="en-US" dirty="0"/>
              <a:t>LINE. </a:t>
            </a:r>
          </a:p>
          <a:p>
            <a:pPr lvl="1"/>
            <a:r>
              <a:rPr lang="en-US" dirty="0"/>
              <a:t>Life span (number of seconds each particle will exist; negative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will exist indefinitely)</a:t>
            </a:r>
          </a:p>
          <a:p>
            <a:pPr lvl="1"/>
            <a:r>
              <a:rPr lang="en-US" dirty="0"/>
              <a:t>SIZE, ALPHA, and COLOR (linear interpolation from min to max based on ratio of elapsed time to life span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Material</a:t>
            </a:r>
          </a:p>
          <a:p>
            <a:pPr lvl="1"/>
            <a:r>
              <a:rPr lang="en-US" dirty="0" err="1" smtClean="0"/>
              <a:t>Blendfunction</a:t>
            </a:r>
            <a:endParaRPr lang="en-US" dirty="0" smtClean="0"/>
          </a:p>
          <a:p>
            <a:pPr lvl="1"/>
            <a:r>
              <a:rPr lang="en-US" dirty="0" smtClean="0"/>
              <a:t>Textures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9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531352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Particles in </a:t>
            </a:r>
            <a:r>
              <a:rPr lang="en-US" dirty="0" err="1" smtClean="0"/>
              <a:t>Vizard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OSG particles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16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Placer: initial </a:t>
            </a:r>
            <a:r>
              <a:rPr lang="en-US" dirty="0"/>
              <a:t>position of </a:t>
            </a:r>
            <a:r>
              <a:rPr lang="en-US" dirty="0" smtClean="0"/>
              <a:t>particles</a:t>
            </a:r>
          </a:p>
          <a:p>
            <a:pPr lvl="1"/>
            <a:r>
              <a:rPr lang="en-US" dirty="0" err="1" smtClean="0"/>
              <a:t>PointPlacer</a:t>
            </a:r>
            <a:r>
              <a:rPr lang="en-US" dirty="0" smtClean="0"/>
              <a:t> </a:t>
            </a:r>
            <a:r>
              <a:rPr lang="en-US" dirty="0"/>
              <a:t>(all particles originate from the same point) </a:t>
            </a:r>
            <a:endParaRPr lang="en-US" dirty="0" smtClean="0"/>
          </a:p>
          <a:p>
            <a:pPr lvl="1"/>
            <a:r>
              <a:rPr lang="en-US" dirty="0" err="1" smtClean="0"/>
              <a:t>SectorPlacer</a:t>
            </a:r>
            <a:r>
              <a:rPr lang="en-US" dirty="0" smtClean="0"/>
              <a:t> (center </a:t>
            </a:r>
            <a:r>
              <a:rPr lang="en-US" dirty="0"/>
              <a:t>point, radius range and range of </a:t>
            </a:r>
            <a:r>
              <a:rPr lang="en-US" dirty="0" smtClean="0"/>
              <a:t>angles; all </a:t>
            </a:r>
            <a:r>
              <a:rPr lang="en-US" dirty="0"/>
              <a:t>particles originate from this </a:t>
            </a:r>
            <a:r>
              <a:rPr lang="en-US" dirty="0" smtClean="0"/>
              <a:t>sector)</a:t>
            </a:r>
          </a:p>
          <a:p>
            <a:pPr lvl="1"/>
            <a:r>
              <a:rPr lang="en-US" dirty="0" err="1" smtClean="0"/>
              <a:t>MultiSegmentPlacer</a:t>
            </a:r>
            <a:r>
              <a:rPr lang="en-US" dirty="0" smtClean="0"/>
              <a:t> (list </a:t>
            </a:r>
            <a:r>
              <a:rPr lang="en-US" dirty="0"/>
              <a:t>of vertices; particles originate along the line segments these vertices </a:t>
            </a:r>
            <a:r>
              <a:rPr lang="en-US" dirty="0" smtClean="0"/>
              <a:t>describe)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Shooter: initial </a:t>
            </a:r>
            <a:r>
              <a:rPr lang="en-US" dirty="0"/>
              <a:t>velocity </a:t>
            </a:r>
            <a:r>
              <a:rPr lang="en-US" dirty="0" smtClean="0"/>
              <a:t>of particles </a:t>
            </a:r>
          </a:p>
          <a:p>
            <a:pPr lvl="1"/>
            <a:r>
              <a:rPr lang="en-US" dirty="0" err="1" smtClean="0"/>
              <a:t>RadialShooter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velocity </a:t>
            </a:r>
            <a:r>
              <a:rPr lang="en-US" dirty="0"/>
              <a:t>range in meters per </a:t>
            </a:r>
            <a:r>
              <a:rPr lang="en-US" dirty="0" smtClean="0"/>
              <a:t>second</a:t>
            </a:r>
          </a:p>
          <a:p>
            <a:pPr lvl="2"/>
            <a:r>
              <a:rPr lang="en-US" dirty="0" smtClean="0"/>
              <a:t>direction </a:t>
            </a:r>
            <a:r>
              <a:rPr lang="en-US" dirty="0"/>
              <a:t>in radians</a:t>
            </a:r>
            <a:r>
              <a:rPr lang="en-US" dirty="0" smtClean="0"/>
              <a:t>.</a:t>
            </a:r>
          </a:p>
          <a:p>
            <a:pPr lvl="3"/>
            <a:r>
              <a:rPr lang="en-US" dirty="0" smtClean="0"/>
              <a:t>theta </a:t>
            </a:r>
            <a:r>
              <a:rPr lang="en-US" dirty="0"/>
              <a:t>- relative to the Z </a:t>
            </a:r>
            <a:r>
              <a:rPr lang="en-US" dirty="0" smtClean="0"/>
              <a:t>axis</a:t>
            </a:r>
          </a:p>
          <a:p>
            <a:pPr lvl="3"/>
            <a:r>
              <a:rPr lang="en-US" dirty="0" smtClean="0"/>
              <a:t>phi </a:t>
            </a:r>
            <a:r>
              <a:rPr lang="en-US" dirty="0"/>
              <a:t>- relative to the XY </a:t>
            </a:r>
            <a:r>
              <a:rPr lang="en-US" dirty="0" smtClean="0"/>
              <a:t>plane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Counter: how </a:t>
            </a:r>
            <a:r>
              <a:rPr lang="en-US" dirty="0"/>
              <a:t>many particles </a:t>
            </a:r>
            <a:r>
              <a:rPr lang="en-US" dirty="0" smtClean="0"/>
              <a:t>created </a:t>
            </a:r>
            <a:r>
              <a:rPr lang="en-US" dirty="0"/>
              <a:t>each </a:t>
            </a:r>
            <a:r>
              <a:rPr lang="en-US" dirty="0" smtClean="0"/>
              <a:t>frame</a:t>
            </a:r>
          </a:p>
          <a:p>
            <a:pPr lvl="1"/>
            <a:r>
              <a:rPr lang="en-US" dirty="0" err="1" smtClean="0"/>
              <a:t>RandomRateCounter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minimum </a:t>
            </a:r>
            <a:r>
              <a:rPr lang="en-US" dirty="0"/>
              <a:t>and maximum number of particles that should be created each </a:t>
            </a:r>
            <a:r>
              <a:rPr lang="en-US" dirty="0" smtClean="0"/>
              <a:t>frame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6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Particles in </a:t>
            </a:r>
            <a:r>
              <a:rPr lang="en-US" dirty="0" err="1"/>
              <a:t>Vizard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home made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17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2 classes:</a:t>
            </a:r>
          </a:p>
          <a:p>
            <a:pPr lvl="1"/>
            <a:r>
              <a:rPr lang="en-US" dirty="0" smtClean="0"/>
              <a:t>Particle</a:t>
            </a:r>
          </a:p>
          <a:p>
            <a:pPr lvl="2"/>
            <a:r>
              <a:rPr lang="en-US" dirty="0" smtClean="0"/>
              <a:t>Reset</a:t>
            </a:r>
          </a:p>
          <a:p>
            <a:pPr lvl="3"/>
            <a:r>
              <a:rPr lang="en-US" dirty="0" smtClean="0"/>
              <a:t>Set initial values for all attributes</a:t>
            </a:r>
            <a:endParaRPr lang="en-US" dirty="0"/>
          </a:p>
          <a:p>
            <a:pPr lvl="2"/>
            <a:r>
              <a:rPr lang="en-US" dirty="0" smtClean="0"/>
              <a:t>Update</a:t>
            </a:r>
          </a:p>
          <a:p>
            <a:pPr lvl="3"/>
            <a:r>
              <a:rPr lang="en-US" dirty="0" smtClean="0"/>
              <a:t>Update changing attributes (position,  lifetime, …)</a:t>
            </a:r>
          </a:p>
          <a:p>
            <a:pPr lvl="2"/>
            <a:r>
              <a:rPr lang="en-US" dirty="0" smtClean="0"/>
              <a:t>Constructor</a:t>
            </a:r>
          </a:p>
          <a:p>
            <a:pPr lvl="1"/>
            <a:r>
              <a:rPr lang="en-US" dirty="0" smtClean="0"/>
              <a:t>Emitter</a:t>
            </a:r>
          </a:p>
          <a:p>
            <a:pPr lvl="2"/>
            <a:r>
              <a:rPr lang="en-US" dirty="0" smtClean="0"/>
              <a:t>Reset</a:t>
            </a:r>
          </a:p>
          <a:p>
            <a:pPr lvl="3"/>
            <a:r>
              <a:rPr lang="en-US" dirty="0" smtClean="0"/>
              <a:t>Create and Reset all Particles</a:t>
            </a:r>
          </a:p>
          <a:p>
            <a:pPr lvl="3"/>
            <a:r>
              <a:rPr lang="en-US" dirty="0" smtClean="0"/>
              <a:t>Start the timer</a:t>
            </a:r>
          </a:p>
          <a:p>
            <a:pPr lvl="2"/>
            <a:r>
              <a:rPr lang="en-US" dirty="0" smtClean="0"/>
              <a:t>Update</a:t>
            </a:r>
          </a:p>
          <a:p>
            <a:pPr lvl="3"/>
            <a:r>
              <a:rPr lang="en-US" dirty="0" smtClean="0"/>
              <a:t>Update all Particles</a:t>
            </a:r>
          </a:p>
          <a:p>
            <a:pPr lvl="3"/>
            <a:r>
              <a:rPr lang="en-US" dirty="0" smtClean="0"/>
              <a:t>Reset those Particles that are past their lifetime</a:t>
            </a:r>
          </a:p>
          <a:p>
            <a:pPr lvl="2"/>
            <a:r>
              <a:rPr lang="en-US" dirty="0" err="1" smtClean="0"/>
              <a:t>TimerHandler</a:t>
            </a:r>
            <a:endParaRPr lang="en-US" dirty="0" smtClean="0"/>
          </a:p>
          <a:p>
            <a:pPr lvl="3"/>
            <a:r>
              <a:rPr lang="en-US" dirty="0" smtClean="0"/>
              <a:t>Update Emitter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1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Examples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18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http://</a:t>
            </a:r>
            <a:r>
              <a:rPr lang="nl-NL" dirty="0" smtClean="0">
                <a:hlinkClick r:id="rId2"/>
              </a:rPr>
              <a:t>flintparticles.org/examples</a:t>
            </a:r>
            <a:endParaRPr lang="nl-NL" dirty="0" smtClean="0"/>
          </a:p>
          <a:p>
            <a:r>
              <a:rPr lang="nl-NL" dirty="0">
                <a:hlinkClick r:id="rId3"/>
              </a:rPr>
              <a:t>http://</a:t>
            </a:r>
            <a:r>
              <a:rPr lang="nl-NL" dirty="0" smtClean="0">
                <a:hlinkClick r:id="rId3"/>
              </a:rPr>
              <a:t>flintparticles.org/blog/documentation</a:t>
            </a:r>
            <a:endParaRPr lang="nl-NL" dirty="0" smtClean="0"/>
          </a:p>
          <a:p>
            <a:endParaRPr lang="nl-NL" dirty="0" smtClean="0"/>
          </a:p>
          <a:p>
            <a:r>
              <a:rPr lang="nl-NL" dirty="0" err="1" smtClean="0"/>
              <a:t>Particle</a:t>
            </a:r>
            <a:r>
              <a:rPr lang="nl-NL" dirty="0" smtClean="0"/>
              <a:t> Editor:</a:t>
            </a:r>
          </a:p>
          <a:p>
            <a:pPr lvl="1"/>
            <a:r>
              <a:rPr lang="nl-NL" dirty="0">
                <a:hlinkClick r:id="rId4"/>
              </a:rPr>
              <a:t>http://sourceforge.net/projects/delta3d/files/delta3d/2.5.0</a:t>
            </a:r>
            <a:r>
              <a:rPr lang="nl-NL" dirty="0" smtClean="0">
                <a:hlinkClick r:id="rId4"/>
              </a:rPr>
              <a:t>/</a:t>
            </a:r>
            <a:endParaRPr lang="nl-NL" dirty="0" smtClean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1165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an">
  <a:themeElements>
    <a:clrScheme name="Media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C173E217BAF4E80805EE817A2FB16" ma:contentTypeVersion="0" ma:contentTypeDescription="Create a new document." ma:contentTypeScope="" ma:versionID="5b1d31a4fab7e725f1c741106b634ad7">
  <xsd:schema xmlns:xsd="http://www.w3.org/2001/XMLSchema" xmlns:xs="http://www.w3.org/2001/XMLSchema" xmlns:p="http://schemas.microsoft.com/office/2006/metadata/properties" xmlns:ns2="252BDB0A-93DC-4662-B430-FE66A79436E9" targetNamespace="http://schemas.microsoft.com/office/2006/metadata/properties" ma:root="true" ma:fieldsID="44b0c62110821253a9df2be90f6d531b" ns2:_="">
    <xsd:import namespace="252BDB0A-93DC-4662-B430-FE66A79436E9"/>
    <xsd:element name="properties">
      <xsd:complexType>
        <xsd:sequence>
          <xsd:element name="documentManagement">
            <xsd:complexType>
              <xsd:all>
                <xsd:element ref="ns2:Categorie" minOccurs="0"/>
                <xsd:element ref="ns2:Va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DB0A-93DC-4662-B430-FE66A79436E9" elementFormDefault="qualified">
    <xsd:import namespace="http://schemas.microsoft.com/office/2006/documentManagement/types"/>
    <xsd:import namespace="http://schemas.microsoft.com/office/infopath/2007/PartnerControls"/>
    <xsd:element name="Categorie" ma:index="8" nillable="true" ma:displayName="Categorie" ma:default="Periode1" ma:format="Dropdown" ma:internalName="Categorie">
      <xsd:simpleType>
        <xsd:restriction base="dms:Choice">
          <xsd:enumeration value="Periode1"/>
          <xsd:enumeration value="Periode2"/>
          <xsd:enumeration value="Algemeen"/>
          <xsd:enumeration value="Cursus UvT"/>
        </xsd:restriction>
      </xsd:simpleType>
    </xsd:element>
    <xsd:element name="Vak" ma:index="9" nillable="true" ma:displayName="Vak" ma:default="V3D1" ma:format="Dropdown" ma:internalName="Vak">
      <xsd:simpleType>
        <xsd:restriction base="dms:Choice">
          <xsd:enumeration value="V3D1"/>
          <xsd:enumeration value="VED1"/>
          <xsd:enumeration value="VCC1"/>
          <xsd:enumeration value="VPT1"/>
          <xsd:enumeration value="VIS2"/>
          <xsd:enumeration value="VPT2"/>
          <xsd:enumeration value="VRS2"/>
          <xsd:enumeration value="VEX2"/>
          <xsd:enumeration value="VUI2"/>
          <xsd:enumeration value="VUX2"/>
          <xsd:enumeration value="Cursu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Categorie xmlns="252BDB0A-93DC-4662-B430-FE66A79436E9">Periode1</Categorie>
    <Vak xmlns="252BDB0A-93DC-4662-B430-FE66A79436E9">V3D1</Va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3F97F8-9892-4BAE-A00E-6FC6E946E674}"/>
</file>

<file path=customXml/itemProps2.xml><?xml version="1.0" encoding="utf-8"?>
<ds:datastoreItem xmlns:ds="http://schemas.openxmlformats.org/officeDocument/2006/customXml" ds:itemID="{785CA055-9259-452A-ACC5-B8524EF6FCA2}"/>
</file>

<file path=customXml/itemProps3.xml><?xml version="1.0" encoding="utf-8"?>
<ds:datastoreItem xmlns:ds="http://schemas.openxmlformats.org/officeDocument/2006/customXml" ds:itemID="{9F40A724-6F65-47CF-8C8A-9D9515DCC69B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28223</TotalTime>
  <Words>1031</Words>
  <Application>Microsoft Office PowerPoint</Application>
  <PresentationFormat>On-screen Show (4:3)</PresentationFormat>
  <Paragraphs>184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Mediaan</vt:lpstr>
      <vt:lpstr>V3D1 WEEK 3B</vt:lpstr>
      <vt:lpstr>Billboards</vt:lpstr>
      <vt:lpstr>Fuzzy phenomena</vt:lpstr>
      <vt:lpstr>Particle Systems</vt:lpstr>
      <vt:lpstr>2 dimensional or 3 dimensional</vt:lpstr>
      <vt:lpstr>Particles</vt:lpstr>
      <vt:lpstr>Emitters</vt:lpstr>
      <vt:lpstr>Emitters</vt:lpstr>
      <vt:lpstr>Emitters</vt:lpstr>
      <vt:lpstr>Update loop </vt:lpstr>
      <vt:lpstr>Parameter update stage</vt:lpstr>
      <vt:lpstr>Particle Effectors</vt:lpstr>
      <vt:lpstr>Rendering stage</vt:lpstr>
      <vt:lpstr>Animated or static</vt:lpstr>
      <vt:lpstr>Particles in Vizard  OSG particles</vt:lpstr>
      <vt:lpstr>Particles in Vizard  OSG particles</vt:lpstr>
      <vt:lpstr>Particles in Vizard  home made</vt:lpstr>
      <vt:lpstr>Examples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V3D1, week 5a</dc:title>
  <dc:creator>Peter Boots</dc:creator>
  <cp:lastModifiedBy>Boots,Peter P.J.H.M.</cp:lastModifiedBy>
  <cp:revision>232</cp:revision>
  <dcterms:created xsi:type="dcterms:W3CDTF">2011-02-02T18:25:05Z</dcterms:created>
  <dcterms:modified xsi:type="dcterms:W3CDTF">2016-09-15T21:53:35Z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0x0101002BFC173E217BAF4E80805EE817A2FB16</vt:lpwstr>
  </property>
</Properties>
</file>